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stacked"/>
        <c:ser>
          <c:idx val="0"/>
          <c:order val="0"/>
          <c:tx>
            <c:strRef>
              <c:f>Sheet1!$B$1</c:f>
              <c:strCache>
                <c:ptCount val="1"/>
                <c:pt idx="0">
                  <c:v>ACE</c:v>
                </c:pt>
              </c:strCache>
            </c:strRef>
          </c:tx>
          <c:spPr>
            <a:solidFill>
              <a:srgbClr val="D1495B"/>
            </a:solidFill>
          </c:spPr>
          <c:cat>
            <c:strRef>
              <c:f>Sheet1!$A$2:$A$11</c:f>
              <c:strCache>
                <c:ptCount val="10"/>
                <c:pt idx="0">
                  <c:v>Online ACE · GT ✓</c:v>
                </c:pt>
                <c:pt idx="1">
                  <c:v>Offline ACE · GT ✓</c:v>
                </c:pt>
                <c:pt idx="2">
                  <c:v>Offline GEPA · GT ✓</c:v>
                </c:pt>
                <c:pt idx="3">
                  <c:v>Offline ACE · GT ✗</c:v>
                </c:pt>
                <c:pt idx="4">
                  <c:v>Online ACE · GT ✗</c:v>
                </c:pt>
                <c:pt idx="5">
                  <c:v>Offline MIPROv2 · GT ✓</c:v>
                </c:pt>
                <c:pt idx="6">
                  <c:v>Base (zero-shot)</c:v>
                </c:pt>
                <c:pt idx="7">
                  <c:v>Offline ICL · GT ✓</c:v>
                </c:pt>
                <c:pt idx="8">
                  <c:v>Online DC · GT ✓</c:v>
                </c:pt>
                <c:pt idx="9">
                  <c:v>Online DC · GT ✗</c:v>
                </c:pt>
              </c:strCache>
            </c:strRef>
          </c:cat>
          <c:val>
            <c:numRef>
              <c:f>Sheet1!$B$2:$B$11</c:f>
              <c:numCache>
                <c:formatCode>General</c:formatCode>
                <c:ptCount val="10"/>
                <c:pt idx="0">
                  <c:v>80.0</c:v>
                </c:pt>
                <c:pt idx="1">
                  <c:v>79.67</c:v>
                </c:pt>
                <c:pt idx="2">
                  <c:v>0</c:v>
                </c:pt>
                <c:pt idx="3">
                  <c:v>76.0</c:v>
                </c:pt>
                <c:pt idx="4">
                  <c:v>75.67</c:v>
                </c:pt>
                <c:pt idx="5">
                  <c:v>0</c:v>
                </c:pt>
                <c:pt idx="6">
                  <c:v>0</c:v>
                </c:pt>
                <c:pt idx="7">
                  <c:v>0</c:v>
                </c:pt>
                <c:pt idx="8">
                  <c:v>0</c:v>
                </c:pt>
                <c:pt idx="9">
                  <c:v>0</c:v>
                </c:pt>
              </c:numCache>
            </c:numRef>
          </c:val>
        </c:ser>
        <c:ser>
          <c:idx val="1"/>
          <c:order val="1"/>
          <c:tx>
            <c:strRef>
              <c:f>Sheet1!$C$1</c:f>
              <c:strCache>
                <c:ptCount val="1"/>
                <c:pt idx="0">
                  <c:v>Other methods</c:v>
                </c:pt>
              </c:strCache>
            </c:strRef>
          </c:tx>
          <c:spPr>
            <a:solidFill>
              <a:srgbClr val="7D8F98"/>
            </a:solidFill>
          </c:spPr>
          <c:cat>
            <c:strRef>
              <c:f>Sheet1!$A$2:$A$11</c:f>
              <c:strCache>
                <c:ptCount val="10"/>
                <c:pt idx="0">
                  <c:v>Online ACE · GT ✓</c:v>
                </c:pt>
                <c:pt idx="1">
                  <c:v>Offline ACE · GT ✓</c:v>
                </c:pt>
                <c:pt idx="2">
                  <c:v>Offline GEPA · GT ✓</c:v>
                </c:pt>
                <c:pt idx="3">
                  <c:v>Offline ACE · GT ✗</c:v>
                </c:pt>
                <c:pt idx="4">
                  <c:v>Online ACE · GT ✗</c:v>
                </c:pt>
                <c:pt idx="5">
                  <c:v>Offline MIPROv2 · GT ✓</c:v>
                </c:pt>
                <c:pt idx="6">
                  <c:v>Base (zero-shot)</c:v>
                </c:pt>
                <c:pt idx="7">
                  <c:v>Offline ICL · GT ✓</c:v>
                </c:pt>
                <c:pt idx="8">
                  <c:v>Online DC · GT ✓</c:v>
                </c:pt>
                <c:pt idx="9">
                  <c:v>Online DC · GT ✗</c:v>
                </c:pt>
              </c:strCache>
            </c:strRef>
          </c:cat>
          <c:val>
            <c:numRef>
              <c:f>Sheet1!$C$2:$C$11</c:f>
              <c:numCache>
                <c:formatCode>General</c:formatCode>
                <c:ptCount val="10"/>
                <c:pt idx="0">
                  <c:v>0</c:v>
                </c:pt>
                <c:pt idx="1">
                  <c:v>0</c:v>
                </c:pt>
                <c:pt idx="2">
                  <c:v>78.33</c:v>
                </c:pt>
                <c:pt idx="3">
                  <c:v>0</c:v>
                </c:pt>
                <c:pt idx="4">
                  <c:v>0</c:v>
                </c:pt>
                <c:pt idx="5">
                  <c:v>70.0</c:v>
                </c:pt>
                <c:pt idx="6">
                  <c:v>68.67</c:v>
                </c:pt>
                <c:pt idx="7">
                  <c:v>66.33</c:v>
                </c:pt>
                <c:pt idx="8">
                  <c:v>63.67</c:v>
                </c:pt>
                <c:pt idx="9">
                  <c:v>62.33</c:v>
                </c:pt>
              </c:numCache>
            </c:numRef>
          </c:val>
        </c:ser>
        <c:dLbls>
          <c:numFmt formatCode="0.0;;;" sourceLinked="0"/>
          <c:txPr>
            <a:bodyPr/>
            <a:lstStyle/>
            <a:p>
              <a:pPr>
                <a:defRPr sz="1200" b="1">
                  <a:solidFill>
                    <a:srgbClr val="FFFFFF"/>
                  </a:solidFill>
                  <a:latin typeface="Calibri"/>
                </a:defRPr>
              </a:pPr>
            </a:p>
          </c:txPr>
          <c:dLblPos val="inEnd"/>
          <c:showLegendKey val="0"/>
          <c:showVal val="1"/>
          <c:showCatName val="0"/>
          <c:showSerName val="0"/>
          <c:showPercent val="0"/>
          <c:showBubbleSize val="0"/>
          <c:showLeaderLines val="1"/>
        </c:dLbls>
        <c:gapWidth val="45"/>
        <c:overlap val="100"/>
        <c:axId val="-2068027336"/>
        <c:axId val="-2113994440"/>
      </c:barChart>
      <c:catAx>
        <c:axId val="-2068027336"/>
        <c:scaling>
          <c:orientation val="maxMin"/>
        </c:scaling>
        <c:delete val="0"/>
        <c:axPos val="l"/>
        <c:majorTickMark val="out"/>
        <c:minorTickMark val="none"/>
        <c:tickLblPos val="nextTo"/>
        <c:spPr>
          <a:ln>
            <a:solidFill>
              <a:srgbClr val="DDE3E6"/>
            </a:solidFill>
          </a:ln>
        </c:spPr>
        <c:txPr>
          <a:bodyPr/>
          <a:lstStyle/>
          <a:p>
            <a:pPr>
              <a:defRPr sz="1200">
                <a:solidFill>
                  <a:srgbClr val="1B2A33"/>
                </a:solidFill>
                <a:latin typeface="Calibri"/>
              </a:defRPr>
            </a:pPr>
          </a:p>
        </c:txPr>
        <c:crossAx val="-2113994440"/>
        <c:crosses val="autoZero"/>
        <c:auto val="1"/>
        <c:lblAlgn val="ctr"/>
        <c:lblOffset val="100"/>
        <c:noMultiLvlLbl val="0"/>
      </c:catAx>
      <c:valAx>
        <c:axId val="-2113994440"/>
        <c:scaling>
          <c:max val="100.0"/>
          <c:min val="0.0"/>
        </c:scaling>
        <c:delete val="0"/>
        <c:axPos val="b"/>
        <c:majorGridlines>
          <c:spPr>
            <a:ln w="6350">
              <a:solidFill>
                <a:srgbClr val="DDE3E6"/>
              </a:solidFill>
            </a:ln>
          </c:spPr>
        </c:majorGridlines>
        <c:majorTickMark val="out"/>
        <c:minorTickMark val="none"/>
        <c:tickLblPos val="nextTo"/>
        <c:spPr>
          <a:ln>
            <a:noFill/>
          </a:ln>
        </c:spPr>
        <c:txPr>
          <a:bodyPr/>
          <a:lstStyle/>
          <a:p>
            <a:pPr>
              <a:defRPr sz="1000">
                <a:solidFill>
                  <a:srgbClr val="5C6B73"/>
                </a:solidFill>
              </a:defRPr>
            </a:pPr>
          </a:p>
        </c:txPr>
        <c:crossAx val="-2068027336"/>
        <c:crosses val="autoZero"/>
        <c:majorUnit val="20.0"/>
      </c:valAx>
    </c:plotArea>
    <c:legend>
      <c:legendPos val="b"/>
      <c:overlay val="0"/>
      <c:txPr>
        <a:bodyPr/>
        <a:lstStyle/>
        <a:p>
          <a:pPr>
            <a:defRPr sz="1100">
              <a:solidFill>
                <a:srgbClr val="1B2A33"/>
              </a:solidFill>
            </a:defRPr>
          </a:pPr>
        </a:p>
      </c:txPr>
    </c:legend>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Storage/v5_results.md (Dreaddit main table). Each bar is the mean of three seeds over the same 100 test posts; seeds differ in evaluation order and optimizer randomness, so the spread is run variation, not 300 independent samples. Accuracy counts invalid outputs as incorrect.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Macro-F1 for Base seed 43 and ICL seed 42 (runs with invalid outputs) uses the validated all-attempt derivation: an invalid output predicts no label, adding a false negative and no false positive. That derivation reproduces the stage F1 exactly on all 54 runs without invalid outputs. Offline ACE GT-yes Conformability by seed: 42 = 90, 43 = 54, 44 = 84.</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Counts computed from the final seed-42 playbooks in stages/adaptation_r3 (offline: frozen_playbook.json; online: memory after update 100). The seven section headers come from the ACE playbook template; Qwen3-8B used FORMULAS &amp; CALCULATIONS for 198 of 200 bullets across the four playbooks.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text of the bullets shown:</a:t>
            </a:r>
          </a:p>
          <a:p>
            <a:r>
              <a:t>[calc-00001] helpful=26 harmful=0 :: Stress Level Calculation: Stress Level = (Uncertainty Score + Seeking Advice Score + Decision Complexity Score) / 3. If the result is ≤ 1.5, classify as 0 (no stress); if ≥ 2.5, classify as 1 (stress).</a:t>
            </a:r>
          </a:p>
          <a:p>
            <a:r>
              <a:t>[calc-00007] helpful=11 harmful=0 :: Stress Level = (Uncertainty Score + Seeking Advice Score + Decision Complexity Score + Emotional Language Intensity Score + Contextual Stress Indicator Score) / 5. If the result is ≤ 1.5, classify as 0 (no stress); if ≥ 2.5, classify as 1 (stress). Emotional Language Intensity Score: 1 if the text contains strong emotional expressions (e.g., “…”, “…”), 0 otherwise. Contextual Stress Indicator Score: 1 if the text reflects on personal expression, potential conflict, or financial strain, 0 otherwise.</a:t>
            </a:r>
          </a:p>
          <a:p>
            <a:r>
              <a:t>[calc-00013] helpful=5 harmful=0 :: Stress Level = (Uncertainty Score + Seeking Advice Score + Decision Complexity Score + Emotional Language Intensity Score + Contextual Stress Indicator Score) / 5. If the result is ≤ 1.5, classify as 0 (no stress); if ≥ 2.5, classify as 1 (stress). This formula ensures a structured and precise classification by requiring the explicit calculation of the stress score based on all contributing factors, with a clear threshold for stress classification.</a:t>
            </a:r>
          </a:p>
          <a:p>
            <a:r>
              <a:t>[calc-00024] helpful=4 harmful=0 :: Stress Level = (Uncertainty Score + Seeking Advice Score + Decision Complexity Score + Emotional Language Intensity Score + Contextual Stress Indicator Score) / 5. If the result is ≤ 1.5, classify as 0 (no stress); if ≥ 2.5, classify as 1 (stress). Emotional Language Intensity Score: 1 if the text contains strong emotional expressions (e.g., “…”, “…”, “…”), 0 otherwise. Contextual Stress Indicator Score: 1 if the text reflects on personal expression, potential conflict, or emotional distress, 0 otherwise.</a:t>
            </a:r>
          </a:p>
          <a:p>
            <a:r>
              <a:t>[ctx-00002] helpful=8 harmful=10 :: Identify stress through emotional language and contextual cues, such as phrases like “…” or “…”, which indicate emotional distress and anxiety.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text of the bullets shown:</a:t>
            </a:r>
          </a:p>
          <a:p>
            <a:r>
              <a:t>[calc-00001] helpful=37 harmful=0 :: Identify indirect signs of stress such as uncertainty, indecision, and seeking advice. These can be strong indicators of stress even if the author does not explicitly state it.</a:t>
            </a:r>
          </a:p>
          <a:p>
            <a:r>
              <a:t>[calc-00016] helpful=20 harmful=0 :: When the author explicitly expresses self-blame and self-hatred, prioritize these as the strongest indicators of stress, as they directly reflect emotional distress and align with the playbook's guidance to focus on the most direct and emotionally charged quotes.</a:t>
            </a:r>
          </a:p>
          <a:p>
            <a:r>
              <a:t>[calc-00017] helpful=20 harmful=0 :: When the author explicitly expresses emotional distress (e.g., self-criticism, pain, crying in pain), prioritize these as the strongest indicators of stress, as they directly reflect the author's emotional state and align with the playbook's guidance to focus on the most direct and emotionally charged quotes.</a:t>
            </a:r>
          </a:p>
          <a:p>
            <a:r>
              <a:t>[calc-00002] helpful=3 harmful=6 :: Consider both direct and indirect signs of stress, and evaluate the context of the text more thoroughly. Be aware that the presence of indirect signs may not be sufficient to label the text as stress without further contextual analysis.</a:t>
            </a:r>
          </a:p>
          <a:p>
            <a:r>
              <a:t>Without labels the bullets describe cues (indirect signs, self-blame, distress) rather than scoring rules; the one bullet that asks for caution collects harmful votes.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text of the bullets shown:</a:t>
            </a:r>
          </a:p>
          <a:p>
            <a:r>
              <a:t>[calc-00015] helpful=22 harmful=3 :: Use a binary classification system where the presence of any explicit stress indicators, including events that 'blindsided' the author or indicate lack of preparedness, is sufficient to classify the text as 'stress'. This approach prioritizes the presence of stress-inducing events over the absence of explicit emotional indicators.</a:t>
            </a:r>
          </a:p>
          <a:p>
            <a:r>
              <a:t>[calc-00001] helpful=17 harmful=0 :: Use a weighted scoring system where emotional indicators such as frustration, anger, and sensory overload are assigned higher weights (e.g., 3 points each) compared to other indicators (e.g., 1 point). Sum the scores and classify as stress if the total is above a threshold (e.g., 5).</a:t>
            </a:r>
          </a:p>
          <a:p>
            <a:r>
              <a:t>[calc-00019] helpful=8 harmful=11 :: Use a binary classification system where the presence of any explicit stress indicators such as frustration, fatigue, anger, or sensory overload is sufficient to classify the text as 'stress'. The absence of these indicators, even if other emotional states are present, classifies the text as 'no stress'.</a:t>
            </a:r>
          </a:p>
          <a:p>
            <a:r>
              <a:t>[calc-00019] helpful=25 harmful=0 :: Ensure that the final label always matches the reasoning and that the evidence supports the label. If multiple stress indicators are present, classify as 'stress' (label 1) regardless of the author's denial or minimization.</a:t>
            </a:r>
          </a:p>
          <a:p>
            <a:r>
              <a:t>[ctx-00001] helpful=15 harmful=0 :: Always reference playbook bullets when available to ensure that the reasoning is aligned with the expected framework and to improve the accuracy of the answer.</a:t>
            </a:r>
          </a:p>
          <a:p>
            <a:r>
              <a:t>[calc-00014] helpful=9 harmful=0 :: Prioritize the presence of multiple stress indicators over any denial or minimization by the author. If multiple stress indicators are present, classify as 'stress' (label 1) regardless of the author's denial.</a:t>
            </a:r>
          </a:p>
          <a:p>
            <a:r>
              <a:t>With labels, a binary any-indicator rule gathers both helpful and harmful votes (calc-00019: 8 / 11). Without labels, the top bullets enforce label-evidence consistency and override the author’s denial.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94415" cy="685800"/>
          </a:xfrm>
          <a:prstGeom prst="rect">
            <a:avLst/>
          </a:prstGeom>
          <a:noFill/>
        </p:spPr>
        <p:txBody>
          <a:bodyPr wrap="square" anchor="t" lIns="0" rIns="0" tIns="0" bIns="0">
            <a:spAutoFit/>
          </a:bodyPr>
          <a:lstStyle/>
          <a:p>
            <a:pPr algn="l"/>
            <a:r>
              <a:rPr sz="2800" b="1" i="0">
                <a:solidFill>
                  <a:srgbClr val="1B2A33"/>
                </a:solidFill>
                <a:latin typeface="Cambria"/>
              </a:rPr>
              <a:t>Dreaddit: ACE and GEPA beat the base model by 7–11 points</a:t>
            </a:r>
          </a:p>
        </p:txBody>
      </p:sp>
      <p:sp>
        <p:nvSpPr>
          <p:cNvPr id="3" name="TextBox 2"/>
          <p:cNvSpPr txBox="1"/>
          <p:nvPr/>
        </p:nvSpPr>
        <p:spPr>
          <a:xfrm>
            <a:off x="548640" y="1024128"/>
            <a:ext cx="11094415" cy="320040"/>
          </a:xfrm>
          <a:prstGeom prst="rect">
            <a:avLst/>
          </a:prstGeom>
          <a:noFill/>
        </p:spPr>
        <p:txBody>
          <a:bodyPr wrap="square" anchor="t" lIns="0" rIns="0" tIns="0" bIns="0">
            <a:spAutoFit/>
          </a:bodyPr>
          <a:lstStyle/>
          <a:p>
            <a:pPr algn="l"/>
            <a:r>
              <a:rPr sz="1300" b="0" i="0">
                <a:solidFill>
                  <a:srgbClr val="5C6B73"/>
                </a:solidFill>
                <a:latin typeface="Calibri"/>
              </a:rPr>
              <a:t>Qwen3-8B (Q4_K_M) · 100 test posts · mean over seeds 42, 43, 44 · binary stress accuracy (%)</a:t>
            </a:r>
          </a:p>
        </p:txBody>
      </p:sp>
      <p:graphicFrame>
        <p:nvGraphicFramePr>
          <p:cNvPr id="4" name="Chart 3"/>
          <p:cNvGraphicFramePr>
            <a:graphicFrameLocks noGrp="1"/>
          </p:cNvGraphicFramePr>
          <p:nvPr/>
        </p:nvGraphicFramePr>
        <p:xfrm>
          <a:off x="457200" y="1508760"/>
          <a:ext cx="7406640" cy="4709160"/>
        </p:xfrm>
        <a:graphic>
          <a:graphicData uri="http://schemas.openxmlformats.org/drawingml/2006/chart">
            <c:chart xmlns:c="http://schemas.openxmlformats.org/drawingml/2006/chart" r:id="rId2"/>
          </a:graphicData>
        </a:graphic>
      </p:graphicFrame>
      <p:sp>
        <p:nvSpPr>
          <p:cNvPr id="5" name="Rounded Rectangle 4"/>
          <p:cNvSpPr/>
          <p:nvPr/>
        </p:nvSpPr>
        <p:spPr>
          <a:xfrm>
            <a:off x="8229600" y="1600200"/>
            <a:ext cx="3429000" cy="1188720"/>
          </a:xfrm>
          <a:prstGeom prst="roundRect">
            <a:avLst>
              <a:gd name="adj" fmla="val 6153"/>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58200" y="1709928"/>
            <a:ext cx="3017520" cy="566928"/>
          </a:xfrm>
          <a:prstGeom prst="rect">
            <a:avLst/>
          </a:prstGeom>
          <a:noFill/>
        </p:spPr>
        <p:txBody>
          <a:bodyPr wrap="square" anchor="t" lIns="0" rIns="0" tIns="0" bIns="0">
            <a:spAutoFit/>
          </a:bodyPr>
          <a:lstStyle/>
          <a:p>
            <a:pPr algn="l"/>
            <a:r>
              <a:rPr sz="3200" b="1" i="0">
                <a:solidFill>
                  <a:srgbClr val="1B2A33"/>
                </a:solidFill>
                <a:latin typeface="Cambria"/>
              </a:rPr>
              <a:t>+11.3 pp</a:t>
            </a:r>
          </a:p>
        </p:txBody>
      </p:sp>
      <p:sp>
        <p:nvSpPr>
          <p:cNvPr id="7" name="TextBox 6"/>
          <p:cNvSpPr txBox="1"/>
          <p:nvPr/>
        </p:nvSpPr>
        <p:spPr>
          <a:xfrm>
            <a:off x="8458200" y="2276856"/>
            <a:ext cx="3017520" cy="457200"/>
          </a:xfrm>
          <a:prstGeom prst="rect">
            <a:avLst/>
          </a:prstGeom>
          <a:noFill/>
        </p:spPr>
        <p:txBody>
          <a:bodyPr wrap="square" anchor="t" lIns="0" rIns="0" tIns="0" bIns="0">
            <a:spAutoFit/>
          </a:bodyPr>
          <a:lstStyle/>
          <a:p>
            <a:pPr algn="l"/>
            <a:r>
              <a:rPr sz="1200" b="1" i="0">
                <a:solidFill>
                  <a:srgbClr val="1B2A33"/>
                </a:solidFill>
                <a:latin typeface="Calibri"/>
              </a:rPr>
              <a:t>Online ACE, GT ✓</a:t>
            </a:r>
          </a:p>
          <a:p>
            <a:pPr algn="l"/>
            <a:r>
              <a:rPr sz="1200" b="0" i="0">
                <a:solidFill>
                  <a:srgbClr val="5C6B73"/>
                </a:solidFill>
                <a:latin typeface="Calibri"/>
              </a:rPr>
              <a:t>80.0 vs. Base 68.7</a:t>
            </a:r>
          </a:p>
        </p:txBody>
      </p:sp>
      <p:sp>
        <p:nvSpPr>
          <p:cNvPr id="8" name="Rounded Rectangle 7"/>
          <p:cNvSpPr/>
          <p:nvPr/>
        </p:nvSpPr>
        <p:spPr>
          <a:xfrm>
            <a:off x="8229600" y="2971800"/>
            <a:ext cx="3429000" cy="1188720"/>
          </a:xfrm>
          <a:prstGeom prst="roundRect">
            <a:avLst>
              <a:gd name="adj" fmla="val 6153"/>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58200" y="3081528"/>
            <a:ext cx="3017520" cy="566928"/>
          </a:xfrm>
          <a:prstGeom prst="rect">
            <a:avLst/>
          </a:prstGeom>
          <a:noFill/>
        </p:spPr>
        <p:txBody>
          <a:bodyPr wrap="square" anchor="t" lIns="0" rIns="0" tIns="0" bIns="0">
            <a:spAutoFit/>
          </a:bodyPr>
          <a:lstStyle/>
          <a:p>
            <a:pPr algn="l"/>
            <a:r>
              <a:rPr sz="3200" b="1" i="0">
                <a:solidFill>
                  <a:srgbClr val="1B2A33"/>
                </a:solidFill>
                <a:latin typeface="Cambria"/>
              </a:rPr>
              <a:t>+9.7 pp</a:t>
            </a:r>
          </a:p>
        </p:txBody>
      </p:sp>
      <p:sp>
        <p:nvSpPr>
          <p:cNvPr id="10" name="TextBox 9"/>
          <p:cNvSpPr txBox="1"/>
          <p:nvPr/>
        </p:nvSpPr>
        <p:spPr>
          <a:xfrm>
            <a:off x="8458200" y="3648456"/>
            <a:ext cx="3017520" cy="457200"/>
          </a:xfrm>
          <a:prstGeom prst="rect">
            <a:avLst/>
          </a:prstGeom>
          <a:noFill/>
        </p:spPr>
        <p:txBody>
          <a:bodyPr wrap="square" anchor="t" lIns="0" rIns="0" tIns="0" bIns="0">
            <a:spAutoFit/>
          </a:bodyPr>
          <a:lstStyle/>
          <a:p>
            <a:pPr algn="l"/>
            <a:r>
              <a:rPr sz="1200" b="1" i="0">
                <a:solidFill>
                  <a:srgbClr val="1B2A33"/>
                </a:solidFill>
                <a:latin typeface="Calibri"/>
              </a:rPr>
              <a:t>Offline GEPA, GT ✓</a:t>
            </a:r>
          </a:p>
          <a:p>
            <a:pPr algn="l"/>
            <a:r>
              <a:rPr sz="1200" b="0" i="0">
                <a:solidFill>
                  <a:srgbClr val="5C6B73"/>
                </a:solidFill>
                <a:latin typeface="Calibri"/>
              </a:rPr>
              <a:t>78.3, the best prompt optimizer</a:t>
            </a:r>
          </a:p>
        </p:txBody>
      </p:sp>
      <p:sp>
        <p:nvSpPr>
          <p:cNvPr id="11" name="Rounded Rectangle 10"/>
          <p:cNvSpPr/>
          <p:nvPr/>
        </p:nvSpPr>
        <p:spPr>
          <a:xfrm>
            <a:off x="8229600" y="4343400"/>
            <a:ext cx="3429000" cy="1188720"/>
          </a:xfrm>
          <a:prstGeom prst="roundRect">
            <a:avLst>
              <a:gd name="adj" fmla="val 6153"/>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58200" y="4453128"/>
            <a:ext cx="3017520" cy="566928"/>
          </a:xfrm>
          <a:prstGeom prst="rect">
            <a:avLst/>
          </a:prstGeom>
          <a:noFill/>
        </p:spPr>
        <p:txBody>
          <a:bodyPr wrap="square" anchor="t" lIns="0" rIns="0" tIns="0" bIns="0">
            <a:spAutoFit/>
          </a:bodyPr>
          <a:lstStyle/>
          <a:p>
            <a:pPr algn="l"/>
            <a:r>
              <a:rPr sz="3200" b="1" i="0">
                <a:solidFill>
                  <a:srgbClr val="1B2A33"/>
                </a:solidFill>
                <a:latin typeface="Cambria"/>
              </a:rPr>
              <a:t>−6.3 pp</a:t>
            </a:r>
          </a:p>
        </p:txBody>
      </p:sp>
      <p:sp>
        <p:nvSpPr>
          <p:cNvPr id="13" name="TextBox 12"/>
          <p:cNvSpPr txBox="1"/>
          <p:nvPr/>
        </p:nvSpPr>
        <p:spPr>
          <a:xfrm>
            <a:off x="8458200" y="5020056"/>
            <a:ext cx="3017520" cy="457200"/>
          </a:xfrm>
          <a:prstGeom prst="rect">
            <a:avLst/>
          </a:prstGeom>
          <a:noFill/>
        </p:spPr>
        <p:txBody>
          <a:bodyPr wrap="square" anchor="t" lIns="0" rIns="0" tIns="0" bIns="0">
            <a:spAutoFit/>
          </a:bodyPr>
          <a:lstStyle/>
          <a:p>
            <a:pPr algn="l"/>
            <a:r>
              <a:rPr sz="1200" b="1" i="0">
                <a:solidFill>
                  <a:srgbClr val="1B2A33"/>
                </a:solidFill>
                <a:latin typeface="Calibri"/>
              </a:rPr>
              <a:t>Online DC, GT ✗</a:t>
            </a:r>
          </a:p>
          <a:p>
            <a:pPr algn="l"/>
            <a:r>
              <a:rPr sz="1200" b="0" i="0">
                <a:solidFill>
                  <a:srgbClr val="5C6B73"/>
                </a:solidFill>
                <a:latin typeface="Calibri"/>
              </a:rPr>
              <a:t>62.3, the lowest condition</a:t>
            </a:r>
          </a:p>
        </p:txBody>
      </p:sp>
      <p:sp>
        <p:nvSpPr>
          <p:cNvPr id="14" name="TextBox 13"/>
          <p:cNvSpPr txBox="1"/>
          <p:nvPr/>
        </p:nvSpPr>
        <p:spPr>
          <a:xfrm>
            <a:off x="548640" y="6355080"/>
            <a:ext cx="11094415" cy="320040"/>
          </a:xfrm>
          <a:prstGeom prst="rect">
            <a:avLst/>
          </a:prstGeom>
          <a:noFill/>
        </p:spPr>
        <p:txBody>
          <a:bodyPr wrap="square" anchor="t" lIns="0" rIns="0" tIns="0" bIns="0">
            <a:spAutoFit/>
          </a:bodyPr>
          <a:lstStyle/>
          <a:p>
            <a:pPr algn="l"/>
            <a:r>
              <a:rPr sz="1000" b="0" i="0">
                <a:solidFill>
                  <a:srgbClr val="5C6B73"/>
                </a:solidFill>
                <a:latin typeface="Calibri"/>
              </a:rPr>
              <a:t>pp = percentage points against the matched Base mean. Internal working results from the v5 server panel; not manuscript evidence.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94415" cy="685800"/>
          </a:xfrm>
          <a:prstGeom prst="rect">
            <a:avLst/>
          </a:prstGeom>
          <a:noFill/>
        </p:spPr>
        <p:txBody>
          <a:bodyPr wrap="square" anchor="t" lIns="0" rIns="0" tIns="0" bIns="0">
            <a:spAutoFit/>
          </a:bodyPr>
          <a:lstStyle/>
          <a:p>
            <a:pPr algn="l"/>
            <a:r>
              <a:rPr sz="2800" b="1" i="0">
                <a:solidFill>
                  <a:srgbClr val="1B2A33"/>
                </a:solidFill>
                <a:latin typeface="Cambria"/>
              </a:rPr>
              <a:t>Dreaddit: full panel and what to keep in mind</a:t>
            </a:r>
          </a:p>
        </p:txBody>
      </p:sp>
      <p:sp>
        <p:nvSpPr>
          <p:cNvPr id="3" name="TextBox 2"/>
          <p:cNvSpPr txBox="1"/>
          <p:nvPr/>
        </p:nvSpPr>
        <p:spPr>
          <a:xfrm>
            <a:off x="548640" y="1024128"/>
            <a:ext cx="11094415" cy="320040"/>
          </a:xfrm>
          <a:prstGeom prst="rect">
            <a:avLst/>
          </a:prstGeom>
          <a:noFill/>
        </p:spPr>
        <p:txBody>
          <a:bodyPr wrap="square" anchor="t" lIns="0" rIns="0" tIns="0" bIns="0">
            <a:spAutoFit/>
          </a:bodyPr>
          <a:lstStyle/>
          <a:p>
            <a:pPr algn="l"/>
            <a:r>
              <a:rPr sz="1300" b="0" i="0">
                <a:solidFill>
                  <a:srgbClr val="5C6B73"/>
                </a:solidFill>
                <a:latin typeface="Calibri"/>
              </a:rPr>
              <a:t>Mean ± sample SD over three seeds; Δ Acc against the matched Base mean</a:t>
            </a:r>
          </a:p>
        </p:txBody>
      </p:sp>
      <p:graphicFrame>
        <p:nvGraphicFramePr>
          <p:cNvPr id="4" name="Table 3"/>
          <p:cNvGraphicFramePr>
            <a:graphicFrameLocks noGrp="1"/>
          </p:cNvGraphicFramePr>
          <p:nvPr/>
        </p:nvGraphicFramePr>
        <p:xfrm>
          <a:off x="548640" y="1508760"/>
          <a:ext cx="7269480" cy="4023360"/>
        </p:xfrm>
        <a:graphic>
          <a:graphicData uri="http://schemas.openxmlformats.org/drawingml/2006/table">
            <a:tbl>
              <a:tblPr firstRow="1" bandRow="1">
                <a:tableStyleId>{5C22544A-7EE6-4342-B048-85BDC9FD1C3A}</a:tableStyleId>
              </a:tblPr>
              <a:tblGrid>
                <a:gridCol w="1965960"/>
                <a:gridCol w="502920"/>
                <a:gridCol w="1234440"/>
                <a:gridCol w="1234440"/>
                <a:gridCol w="1463040"/>
                <a:gridCol w="868680"/>
              </a:tblGrid>
              <a:tr h="365760">
                <a:tc>
                  <a:txBody>
                    <a:bodyPr/>
                    <a:lstStyle/>
                    <a:p>
                      <a:pPr algn="l"/>
                      <a:r>
                        <a:rPr sz="1200" b="1" i="0">
                          <a:solidFill>
                            <a:srgbClr val="FFFFFF"/>
                          </a:solidFill>
                          <a:latin typeface="Calibri"/>
                        </a:rPr>
                        <a:t>Condition</a:t>
                      </a:r>
                    </a:p>
                  </a:txBody>
                  <a:tcPr marL="73152" marR="73152" marT="0" marB="0" anchor="ctr">
                    <a:solidFill>
                      <a:srgbClr val="1B2A33"/>
                    </a:solidFill>
                  </a:tcPr>
                </a:tc>
                <a:tc>
                  <a:txBody>
                    <a:bodyPr/>
                    <a:lstStyle/>
                    <a:p>
                      <a:pPr algn="ctr"/>
                      <a:r>
                        <a:rPr sz="1200" b="1" i="0">
                          <a:solidFill>
                            <a:srgbClr val="FFFFFF"/>
                          </a:solidFill>
                          <a:latin typeface="Calibri"/>
                        </a:rPr>
                        <a:t>GT</a:t>
                      </a:r>
                    </a:p>
                  </a:txBody>
                  <a:tcPr marL="73152" marR="73152" marT="0" marB="0" anchor="ctr">
                    <a:solidFill>
                      <a:srgbClr val="1B2A33"/>
                    </a:solidFill>
                  </a:tcPr>
                </a:tc>
                <a:tc>
                  <a:txBody>
                    <a:bodyPr/>
                    <a:lstStyle/>
                    <a:p>
                      <a:pPr algn="r"/>
                      <a:r>
                        <a:rPr sz="1200" b="1" i="0">
                          <a:solidFill>
                            <a:srgbClr val="FFFFFF"/>
                          </a:solidFill>
                          <a:latin typeface="Calibri"/>
                        </a:rPr>
                        <a:t>Acc %</a:t>
                      </a:r>
                    </a:p>
                  </a:txBody>
                  <a:tcPr marL="73152" marR="73152" marT="0" marB="0" anchor="ctr">
                    <a:solidFill>
                      <a:srgbClr val="1B2A33"/>
                    </a:solidFill>
                  </a:tcPr>
                </a:tc>
                <a:tc>
                  <a:txBody>
                    <a:bodyPr/>
                    <a:lstStyle/>
                    <a:p>
                      <a:pPr algn="r"/>
                      <a:r>
                        <a:rPr sz="1200" b="1" i="0">
                          <a:solidFill>
                            <a:srgbClr val="FFFFFF"/>
                          </a:solidFill>
                          <a:latin typeface="Calibri"/>
                        </a:rPr>
                        <a:t>Macro-F1 %</a:t>
                      </a:r>
                    </a:p>
                  </a:txBody>
                  <a:tcPr marL="73152" marR="73152" marT="0" marB="0" anchor="ctr">
                    <a:solidFill>
                      <a:srgbClr val="1B2A33"/>
                    </a:solidFill>
                  </a:tcPr>
                </a:tc>
                <a:tc>
                  <a:txBody>
                    <a:bodyPr/>
                    <a:lstStyle/>
                    <a:p>
                      <a:pPr algn="r"/>
                      <a:r>
                        <a:rPr sz="1200" b="1" i="0">
                          <a:solidFill>
                            <a:srgbClr val="FFFFFF"/>
                          </a:solidFill>
                          <a:latin typeface="Calibri"/>
                        </a:rPr>
                        <a:t>Conformability %</a:t>
                      </a:r>
                    </a:p>
                  </a:txBody>
                  <a:tcPr marL="73152" marR="73152" marT="0" marB="0" anchor="ctr">
                    <a:solidFill>
                      <a:srgbClr val="1B2A33"/>
                    </a:solidFill>
                  </a:tcPr>
                </a:tc>
                <a:tc>
                  <a:txBody>
                    <a:bodyPr/>
                    <a:lstStyle/>
                    <a:p>
                      <a:pPr algn="r"/>
                      <a:r>
                        <a:rPr sz="1200" b="1" i="0">
                          <a:solidFill>
                            <a:srgbClr val="FFFFFF"/>
                          </a:solidFill>
                          <a:latin typeface="Calibri"/>
                        </a:rPr>
                        <a:t>Δ Acc</a:t>
                      </a:r>
                    </a:p>
                  </a:txBody>
                  <a:tcPr marL="73152" marR="73152" marT="0" marB="0" anchor="ctr">
                    <a:solidFill>
                      <a:srgbClr val="1B2A33"/>
                    </a:solidFill>
                  </a:tcPr>
                </a:tc>
              </a:tr>
              <a:tr h="365760">
                <a:tc>
                  <a:txBody>
                    <a:bodyPr/>
                    <a:lstStyle/>
                    <a:p>
                      <a:pPr algn="l"/>
                      <a:r>
                        <a:rPr sz="1200" b="0" i="0">
                          <a:solidFill>
                            <a:srgbClr val="1B2A33"/>
                          </a:solidFill>
                          <a:latin typeface="Calibri"/>
                        </a:rPr>
                        <a:t>Base (zero-shot)</a:t>
                      </a:r>
                    </a:p>
                  </a:txBody>
                  <a:tcPr marL="73152" marR="73152" marT="0" marB="0" anchor="ctr">
                    <a:solidFill>
                      <a:srgbClr val="FFFFFF"/>
                    </a:solidFill>
                  </a:tcPr>
                </a:tc>
                <a:tc>
                  <a:txBody>
                    <a:bodyPr/>
                    <a:lstStyle/>
                    <a:p>
                      <a:pPr algn="ctr"/>
                      <a:r>
                        <a:rPr sz="1200" b="0" i="0">
                          <a:solidFill>
                            <a:srgbClr val="1B2A33"/>
                          </a:solidFill>
                          <a:latin typeface="Calibri"/>
                        </a:rPr>
                        <a:t>—</a:t>
                      </a:r>
                    </a:p>
                  </a:txBody>
                  <a:tcPr marL="73152" marR="73152" marT="0" marB="0" anchor="ctr">
                    <a:solidFill>
                      <a:srgbClr val="FFFFFF"/>
                    </a:solidFill>
                  </a:tcPr>
                </a:tc>
                <a:tc>
                  <a:txBody>
                    <a:bodyPr/>
                    <a:lstStyle/>
                    <a:p>
                      <a:pPr algn="r"/>
                      <a:r>
                        <a:rPr sz="1200" b="0" i="0">
                          <a:solidFill>
                            <a:srgbClr val="1B2A33"/>
                          </a:solidFill>
                          <a:latin typeface="Calibri"/>
                        </a:rPr>
                        <a:t>68.67 ± 2.31</a:t>
                      </a:r>
                    </a:p>
                  </a:txBody>
                  <a:tcPr marL="73152" marR="73152" marT="0" marB="0" anchor="ctr">
                    <a:solidFill>
                      <a:srgbClr val="FFFFFF"/>
                    </a:solidFill>
                  </a:tcPr>
                </a:tc>
                <a:tc>
                  <a:txBody>
                    <a:bodyPr/>
                    <a:lstStyle/>
                    <a:p>
                      <a:pPr algn="r"/>
                      <a:r>
                        <a:rPr sz="1200" b="0" i="0">
                          <a:solidFill>
                            <a:srgbClr val="1B2A33"/>
                          </a:solidFill>
                          <a:latin typeface="Calibri"/>
                        </a:rPr>
                        <a:t>67.55 ± 1.60</a:t>
                      </a:r>
                    </a:p>
                  </a:txBody>
                  <a:tcPr marL="73152" marR="73152" marT="0" marB="0" anchor="ctr">
                    <a:solidFill>
                      <a:srgbClr val="FFFFFF"/>
                    </a:solidFill>
                  </a:tcPr>
                </a:tc>
                <a:tc>
                  <a:txBody>
                    <a:bodyPr/>
                    <a:lstStyle/>
                    <a:p>
                      <a:pPr algn="r"/>
                      <a:r>
                        <a:rPr sz="1200" b="0" i="0">
                          <a:solidFill>
                            <a:srgbClr val="1B2A33"/>
                          </a:solidFill>
                          <a:latin typeface="Calibri"/>
                        </a:rPr>
                        <a:t>91.33 ± 2.08</a:t>
                      </a:r>
                    </a:p>
                  </a:txBody>
                  <a:tcPr marL="73152" marR="73152" marT="0" marB="0" anchor="ctr">
                    <a:solidFill>
                      <a:srgbClr val="FFFFFF"/>
                    </a:solidFill>
                  </a:tcPr>
                </a:tc>
                <a:tc>
                  <a:txBody>
                    <a:bodyPr/>
                    <a:lstStyle/>
                    <a:p>
                      <a:pPr algn="r"/>
                      <a:r>
                        <a:rPr sz="1200" b="0" i="0">
                          <a:solidFill>
                            <a:srgbClr val="1B2A33"/>
                          </a:solidFill>
                          <a:latin typeface="Calibri"/>
                        </a:rPr>
                        <a:t>0.00</a:t>
                      </a:r>
                    </a:p>
                  </a:txBody>
                  <a:tcPr marL="73152" marR="73152" marT="0" marB="0" anchor="ctr">
                    <a:solidFill>
                      <a:srgbClr val="FFFFFF"/>
                    </a:solidFill>
                  </a:tcPr>
                </a:tc>
              </a:tr>
              <a:tr h="365760">
                <a:tc>
                  <a:txBody>
                    <a:bodyPr/>
                    <a:lstStyle/>
                    <a:p>
                      <a:pPr algn="l"/>
                      <a:r>
                        <a:rPr sz="1200" b="0" i="0">
                          <a:solidFill>
                            <a:srgbClr val="1B2A33"/>
                          </a:solidFill>
                          <a:latin typeface="Calibri"/>
                        </a:rPr>
                        <a:t>Offline ICL</a:t>
                      </a:r>
                    </a:p>
                  </a:txBody>
                  <a:tcPr marL="73152" marR="73152" marT="0" marB="0" anchor="ctr">
                    <a:solidFill>
                      <a:srgbClr val="FFFFFF"/>
                    </a:solidFill>
                  </a:tcPr>
                </a:tc>
                <a:tc>
                  <a:txBody>
                    <a:bodyPr/>
                    <a:lstStyle/>
                    <a:p>
                      <a:pPr algn="ctr"/>
                      <a:r>
                        <a:rPr sz="1200" b="0" i="0">
                          <a:solidFill>
                            <a:srgbClr val="1B2A33"/>
                          </a:solidFill>
                          <a:latin typeface="Calibri"/>
                        </a:rPr>
                        <a:t>✓</a:t>
                      </a:r>
                    </a:p>
                  </a:txBody>
                  <a:tcPr marL="73152" marR="73152" marT="0" marB="0" anchor="ctr">
                    <a:solidFill>
                      <a:srgbClr val="FFFFFF"/>
                    </a:solidFill>
                  </a:tcPr>
                </a:tc>
                <a:tc>
                  <a:txBody>
                    <a:bodyPr/>
                    <a:lstStyle/>
                    <a:p>
                      <a:pPr algn="r"/>
                      <a:r>
                        <a:rPr sz="1200" b="0" i="0">
                          <a:solidFill>
                            <a:srgbClr val="1B2A33"/>
                          </a:solidFill>
                          <a:latin typeface="Calibri"/>
                        </a:rPr>
                        <a:t>66.33 ± 0.58</a:t>
                      </a:r>
                    </a:p>
                  </a:txBody>
                  <a:tcPr marL="73152" marR="73152" marT="0" marB="0" anchor="ctr">
                    <a:solidFill>
                      <a:srgbClr val="FFFFFF"/>
                    </a:solidFill>
                  </a:tcPr>
                </a:tc>
                <a:tc>
                  <a:txBody>
                    <a:bodyPr/>
                    <a:lstStyle/>
                    <a:p>
                      <a:pPr algn="r"/>
                      <a:r>
                        <a:rPr sz="1200" b="0" i="0">
                          <a:solidFill>
                            <a:srgbClr val="1B2A33"/>
                          </a:solidFill>
                          <a:latin typeface="Calibri"/>
                        </a:rPr>
                        <a:t>63.91 ± 0.77</a:t>
                      </a:r>
                    </a:p>
                  </a:txBody>
                  <a:tcPr marL="73152" marR="73152" marT="0" marB="0" anchor="ctr">
                    <a:solidFill>
                      <a:srgbClr val="FFFFFF"/>
                    </a:solidFill>
                  </a:tcPr>
                </a:tc>
                <a:tc>
                  <a:txBody>
                    <a:bodyPr/>
                    <a:lstStyle/>
                    <a:p>
                      <a:pPr algn="r"/>
                      <a:r>
                        <a:rPr sz="1200" b="0" i="0">
                          <a:solidFill>
                            <a:srgbClr val="1B2A33"/>
                          </a:solidFill>
                          <a:latin typeface="Calibri"/>
                        </a:rPr>
                        <a:t>83.33 ± 2.52</a:t>
                      </a:r>
                    </a:p>
                  </a:txBody>
                  <a:tcPr marL="73152" marR="73152" marT="0" marB="0" anchor="ctr">
                    <a:solidFill>
                      <a:srgbClr val="FFFFFF"/>
                    </a:solidFill>
                  </a:tcPr>
                </a:tc>
                <a:tc>
                  <a:txBody>
                    <a:bodyPr/>
                    <a:lstStyle/>
                    <a:p>
                      <a:pPr algn="r"/>
                      <a:r>
                        <a:rPr sz="1200" b="0" i="0">
                          <a:solidFill>
                            <a:srgbClr val="1B2A33"/>
                          </a:solidFill>
                          <a:latin typeface="Calibri"/>
                        </a:rPr>
                        <a:t>−2.33</a:t>
                      </a:r>
                    </a:p>
                  </a:txBody>
                  <a:tcPr marL="73152" marR="73152" marT="0" marB="0" anchor="ctr">
                    <a:solidFill>
                      <a:srgbClr val="FFFFFF"/>
                    </a:solidFill>
                  </a:tcPr>
                </a:tc>
              </a:tr>
              <a:tr h="365760">
                <a:tc>
                  <a:txBody>
                    <a:bodyPr/>
                    <a:lstStyle/>
                    <a:p>
                      <a:pPr algn="l"/>
                      <a:r>
                        <a:rPr sz="1200" b="0" i="0">
                          <a:solidFill>
                            <a:srgbClr val="1B2A33"/>
                          </a:solidFill>
                          <a:latin typeface="Calibri"/>
                        </a:rPr>
                        <a:t>Offline MIPROv2</a:t>
                      </a:r>
                    </a:p>
                  </a:txBody>
                  <a:tcPr marL="73152" marR="73152" marT="0" marB="0" anchor="ctr">
                    <a:solidFill>
                      <a:srgbClr val="FFFFFF"/>
                    </a:solidFill>
                  </a:tcPr>
                </a:tc>
                <a:tc>
                  <a:txBody>
                    <a:bodyPr/>
                    <a:lstStyle/>
                    <a:p>
                      <a:pPr algn="ctr"/>
                      <a:r>
                        <a:rPr sz="1200" b="0" i="0">
                          <a:solidFill>
                            <a:srgbClr val="1B2A33"/>
                          </a:solidFill>
                          <a:latin typeface="Calibri"/>
                        </a:rPr>
                        <a:t>✓</a:t>
                      </a:r>
                    </a:p>
                  </a:txBody>
                  <a:tcPr marL="73152" marR="73152" marT="0" marB="0" anchor="ctr">
                    <a:solidFill>
                      <a:srgbClr val="FFFFFF"/>
                    </a:solidFill>
                  </a:tcPr>
                </a:tc>
                <a:tc>
                  <a:txBody>
                    <a:bodyPr/>
                    <a:lstStyle/>
                    <a:p>
                      <a:pPr algn="r"/>
                      <a:r>
                        <a:rPr sz="1200" b="0" i="0">
                          <a:solidFill>
                            <a:srgbClr val="1B2A33"/>
                          </a:solidFill>
                          <a:latin typeface="Calibri"/>
                        </a:rPr>
                        <a:t>70.00 ± 4.58</a:t>
                      </a:r>
                    </a:p>
                  </a:txBody>
                  <a:tcPr marL="73152" marR="73152" marT="0" marB="0" anchor="ctr">
                    <a:solidFill>
                      <a:srgbClr val="FFFFFF"/>
                    </a:solidFill>
                  </a:tcPr>
                </a:tc>
                <a:tc>
                  <a:txBody>
                    <a:bodyPr/>
                    <a:lstStyle/>
                    <a:p>
                      <a:pPr algn="r"/>
                      <a:r>
                        <a:rPr sz="1200" b="0" i="0">
                          <a:solidFill>
                            <a:srgbClr val="1B2A33"/>
                          </a:solidFill>
                          <a:latin typeface="Calibri"/>
                        </a:rPr>
                        <a:t>68.63 ± 5.44</a:t>
                      </a:r>
                    </a:p>
                  </a:txBody>
                  <a:tcPr marL="73152" marR="73152" marT="0" marB="0" anchor="ctr">
                    <a:solidFill>
                      <a:srgbClr val="FFFFFF"/>
                    </a:solidFill>
                  </a:tcPr>
                </a:tc>
                <a:tc>
                  <a:txBody>
                    <a:bodyPr/>
                    <a:lstStyle/>
                    <a:p>
                      <a:pPr algn="r"/>
                      <a:r>
                        <a:rPr sz="1200" b="0" i="0">
                          <a:solidFill>
                            <a:srgbClr val="1B2A33"/>
                          </a:solidFill>
                          <a:latin typeface="Calibri"/>
                        </a:rPr>
                        <a:t>97.67 ± 1.53</a:t>
                      </a:r>
                    </a:p>
                  </a:txBody>
                  <a:tcPr marL="73152" marR="73152" marT="0" marB="0" anchor="ctr">
                    <a:solidFill>
                      <a:srgbClr val="FFFFFF"/>
                    </a:solidFill>
                  </a:tcPr>
                </a:tc>
                <a:tc>
                  <a:txBody>
                    <a:bodyPr/>
                    <a:lstStyle/>
                    <a:p>
                      <a:pPr algn="r"/>
                      <a:r>
                        <a:rPr sz="1200" b="0" i="0">
                          <a:solidFill>
                            <a:srgbClr val="1B2A33"/>
                          </a:solidFill>
                          <a:latin typeface="Calibri"/>
                        </a:rPr>
                        <a:t>+1.33</a:t>
                      </a:r>
                    </a:p>
                  </a:txBody>
                  <a:tcPr marL="73152" marR="73152" marT="0" marB="0" anchor="ctr">
                    <a:solidFill>
                      <a:srgbClr val="FFFFFF"/>
                    </a:solidFill>
                  </a:tcPr>
                </a:tc>
              </a:tr>
              <a:tr h="365760">
                <a:tc>
                  <a:txBody>
                    <a:bodyPr/>
                    <a:lstStyle/>
                    <a:p>
                      <a:pPr algn="l"/>
                      <a:r>
                        <a:rPr sz="1200" b="0" i="0">
                          <a:solidFill>
                            <a:srgbClr val="1B2A33"/>
                          </a:solidFill>
                          <a:latin typeface="Calibri"/>
                        </a:rPr>
                        <a:t>Offline GEPA</a:t>
                      </a:r>
                    </a:p>
                  </a:txBody>
                  <a:tcPr marL="73152" marR="73152" marT="0" marB="0" anchor="ctr">
                    <a:solidFill>
                      <a:srgbClr val="FFFFFF"/>
                    </a:solidFill>
                  </a:tcPr>
                </a:tc>
                <a:tc>
                  <a:txBody>
                    <a:bodyPr/>
                    <a:lstStyle/>
                    <a:p>
                      <a:pPr algn="ctr"/>
                      <a:r>
                        <a:rPr sz="1200" b="0" i="0">
                          <a:solidFill>
                            <a:srgbClr val="1B2A33"/>
                          </a:solidFill>
                          <a:latin typeface="Calibri"/>
                        </a:rPr>
                        <a:t>✓</a:t>
                      </a:r>
                    </a:p>
                  </a:txBody>
                  <a:tcPr marL="73152" marR="73152" marT="0" marB="0" anchor="ctr">
                    <a:solidFill>
                      <a:srgbClr val="FFFFFF"/>
                    </a:solidFill>
                  </a:tcPr>
                </a:tc>
                <a:tc>
                  <a:txBody>
                    <a:bodyPr/>
                    <a:lstStyle/>
                    <a:p>
                      <a:pPr algn="r"/>
                      <a:r>
                        <a:rPr sz="1200" b="0" i="0">
                          <a:solidFill>
                            <a:srgbClr val="1B2A33"/>
                          </a:solidFill>
                          <a:latin typeface="Calibri"/>
                        </a:rPr>
                        <a:t>78.33 ± 2.08</a:t>
                      </a:r>
                    </a:p>
                  </a:txBody>
                  <a:tcPr marL="73152" marR="73152" marT="0" marB="0" anchor="ctr">
                    <a:solidFill>
                      <a:srgbClr val="FFFFFF"/>
                    </a:solidFill>
                  </a:tcPr>
                </a:tc>
                <a:tc>
                  <a:txBody>
                    <a:bodyPr/>
                    <a:lstStyle/>
                    <a:p>
                      <a:pPr algn="r"/>
                      <a:r>
                        <a:rPr sz="1200" b="0" i="0">
                          <a:solidFill>
                            <a:srgbClr val="1B2A33"/>
                          </a:solidFill>
                          <a:latin typeface="Calibri"/>
                        </a:rPr>
                        <a:t>78.33 ± 2.08</a:t>
                      </a:r>
                    </a:p>
                  </a:txBody>
                  <a:tcPr marL="73152" marR="73152" marT="0" marB="0" anchor="ctr">
                    <a:solidFill>
                      <a:srgbClr val="FFFFFF"/>
                    </a:solidFill>
                  </a:tcPr>
                </a:tc>
                <a:tc>
                  <a:txBody>
                    <a:bodyPr/>
                    <a:lstStyle/>
                    <a:p>
                      <a:pPr algn="r"/>
                      <a:r>
                        <a:rPr sz="1200" b="0" i="0">
                          <a:solidFill>
                            <a:srgbClr val="1B2A33"/>
                          </a:solidFill>
                          <a:latin typeface="Calibri"/>
                        </a:rPr>
                        <a:t>92.33 ± 2.08</a:t>
                      </a:r>
                    </a:p>
                  </a:txBody>
                  <a:tcPr marL="73152" marR="73152" marT="0" marB="0" anchor="ctr">
                    <a:solidFill>
                      <a:srgbClr val="FFFFFF"/>
                    </a:solidFill>
                  </a:tcPr>
                </a:tc>
                <a:tc>
                  <a:txBody>
                    <a:bodyPr/>
                    <a:lstStyle/>
                    <a:p>
                      <a:pPr algn="r"/>
                      <a:r>
                        <a:rPr sz="1200" b="0" i="0">
                          <a:solidFill>
                            <a:srgbClr val="1B2A33"/>
                          </a:solidFill>
                          <a:latin typeface="Calibri"/>
                        </a:rPr>
                        <a:t>+9.67</a:t>
                      </a:r>
                    </a:p>
                  </a:txBody>
                  <a:tcPr marL="73152" marR="73152" marT="0" marB="0" anchor="ctr">
                    <a:solidFill>
                      <a:srgbClr val="FFFFFF"/>
                    </a:solidFill>
                  </a:tcPr>
                </a:tc>
              </a:tr>
              <a:tr h="365760">
                <a:tc>
                  <a:txBody>
                    <a:bodyPr/>
                    <a:lstStyle/>
                    <a:p>
                      <a:pPr algn="l"/>
                      <a:r>
                        <a:rPr sz="1200" b="0" i="0">
                          <a:solidFill>
                            <a:srgbClr val="1B2A33"/>
                          </a:solidFill>
                          <a:latin typeface="Calibri"/>
                        </a:rPr>
                        <a:t>Offline ACE</a:t>
                      </a:r>
                    </a:p>
                  </a:txBody>
                  <a:tcPr marL="73152" marR="73152" marT="0" marB="0" anchor="ctr">
                    <a:solidFill>
                      <a:srgbClr val="FBEAED"/>
                    </a:solidFill>
                  </a:tcPr>
                </a:tc>
                <a:tc>
                  <a:txBody>
                    <a:bodyPr/>
                    <a:lstStyle/>
                    <a:p>
                      <a:pPr algn="ctr"/>
                      <a:r>
                        <a:rPr sz="1200" b="0" i="0">
                          <a:solidFill>
                            <a:srgbClr val="1B2A33"/>
                          </a:solidFill>
                          <a:latin typeface="Calibri"/>
                        </a:rPr>
                        <a:t>✓</a:t>
                      </a:r>
                    </a:p>
                  </a:txBody>
                  <a:tcPr marL="73152" marR="73152" marT="0" marB="0" anchor="ctr">
                    <a:solidFill>
                      <a:srgbClr val="FBEAED"/>
                    </a:solidFill>
                  </a:tcPr>
                </a:tc>
                <a:tc>
                  <a:txBody>
                    <a:bodyPr/>
                    <a:lstStyle/>
                    <a:p>
                      <a:pPr algn="r"/>
                      <a:r>
                        <a:rPr sz="1200" b="0" i="0">
                          <a:solidFill>
                            <a:srgbClr val="1B2A33"/>
                          </a:solidFill>
                          <a:latin typeface="Calibri"/>
                        </a:rPr>
                        <a:t>79.67 ± 2.89</a:t>
                      </a:r>
                    </a:p>
                  </a:txBody>
                  <a:tcPr marL="73152" marR="73152" marT="0" marB="0" anchor="ctr">
                    <a:solidFill>
                      <a:srgbClr val="FBEAED"/>
                    </a:solidFill>
                  </a:tcPr>
                </a:tc>
                <a:tc>
                  <a:txBody>
                    <a:bodyPr/>
                    <a:lstStyle/>
                    <a:p>
                      <a:pPr algn="r"/>
                      <a:r>
                        <a:rPr sz="1200" b="0" i="0">
                          <a:solidFill>
                            <a:srgbClr val="1B2A33"/>
                          </a:solidFill>
                          <a:latin typeface="Calibri"/>
                        </a:rPr>
                        <a:t>78.90 ± 3.28</a:t>
                      </a:r>
                    </a:p>
                  </a:txBody>
                  <a:tcPr marL="73152" marR="73152" marT="0" marB="0" anchor="ctr">
                    <a:solidFill>
                      <a:srgbClr val="FBEAED"/>
                    </a:solidFill>
                  </a:tcPr>
                </a:tc>
                <a:tc>
                  <a:txBody>
                    <a:bodyPr/>
                    <a:lstStyle/>
                    <a:p>
                      <a:pPr algn="r"/>
                      <a:r>
                        <a:rPr sz="1200" b="0" i="0">
                          <a:solidFill>
                            <a:srgbClr val="1B2A33"/>
                          </a:solidFill>
                          <a:latin typeface="Calibri"/>
                        </a:rPr>
                        <a:t>76.00 ± 19.29</a:t>
                      </a:r>
                    </a:p>
                  </a:txBody>
                  <a:tcPr marL="73152" marR="73152" marT="0" marB="0" anchor="ctr">
                    <a:solidFill>
                      <a:srgbClr val="FBEAED"/>
                    </a:solidFill>
                  </a:tcPr>
                </a:tc>
                <a:tc>
                  <a:txBody>
                    <a:bodyPr/>
                    <a:lstStyle/>
                    <a:p>
                      <a:pPr algn="r"/>
                      <a:r>
                        <a:rPr sz="1200" b="0" i="0">
                          <a:solidFill>
                            <a:srgbClr val="1B2A33"/>
                          </a:solidFill>
                          <a:latin typeface="Calibri"/>
                        </a:rPr>
                        <a:t>+11.00</a:t>
                      </a:r>
                    </a:p>
                  </a:txBody>
                  <a:tcPr marL="73152" marR="73152" marT="0" marB="0" anchor="ctr">
                    <a:solidFill>
                      <a:srgbClr val="FBEAED"/>
                    </a:solidFill>
                  </a:tcPr>
                </a:tc>
              </a:tr>
              <a:tr h="365760">
                <a:tc>
                  <a:txBody>
                    <a:bodyPr/>
                    <a:lstStyle/>
                    <a:p>
                      <a:pPr algn="l"/>
                      <a:r>
                        <a:rPr sz="1200" b="0" i="0">
                          <a:solidFill>
                            <a:srgbClr val="1B2A33"/>
                          </a:solidFill>
                          <a:latin typeface="Calibri"/>
                        </a:rPr>
                        <a:t>Offline ACE</a:t>
                      </a:r>
                    </a:p>
                  </a:txBody>
                  <a:tcPr marL="73152" marR="73152" marT="0" marB="0" anchor="ctr">
                    <a:solidFill>
                      <a:srgbClr val="FBEAED"/>
                    </a:solidFill>
                  </a:tcPr>
                </a:tc>
                <a:tc>
                  <a:txBody>
                    <a:bodyPr/>
                    <a:lstStyle/>
                    <a:p>
                      <a:pPr algn="ctr"/>
                      <a:r>
                        <a:rPr sz="1200" b="0" i="0">
                          <a:solidFill>
                            <a:srgbClr val="1B2A33"/>
                          </a:solidFill>
                          <a:latin typeface="Calibri"/>
                        </a:rPr>
                        <a:t>✗</a:t>
                      </a:r>
                    </a:p>
                  </a:txBody>
                  <a:tcPr marL="73152" marR="73152" marT="0" marB="0" anchor="ctr">
                    <a:solidFill>
                      <a:srgbClr val="FBEAED"/>
                    </a:solidFill>
                  </a:tcPr>
                </a:tc>
                <a:tc>
                  <a:txBody>
                    <a:bodyPr/>
                    <a:lstStyle/>
                    <a:p>
                      <a:pPr algn="r"/>
                      <a:r>
                        <a:rPr sz="1200" b="0" i="0">
                          <a:solidFill>
                            <a:srgbClr val="1B2A33"/>
                          </a:solidFill>
                          <a:latin typeface="Calibri"/>
                        </a:rPr>
                        <a:t>76.00 ± 6.24</a:t>
                      </a:r>
                    </a:p>
                  </a:txBody>
                  <a:tcPr marL="73152" marR="73152" marT="0" marB="0" anchor="ctr">
                    <a:solidFill>
                      <a:srgbClr val="FBEAED"/>
                    </a:solidFill>
                  </a:tcPr>
                </a:tc>
                <a:tc>
                  <a:txBody>
                    <a:bodyPr/>
                    <a:lstStyle/>
                    <a:p>
                      <a:pPr algn="r"/>
                      <a:r>
                        <a:rPr sz="1200" b="0" i="0">
                          <a:solidFill>
                            <a:srgbClr val="1B2A33"/>
                          </a:solidFill>
                          <a:latin typeface="Calibri"/>
                        </a:rPr>
                        <a:t>75.25 ± 7.11</a:t>
                      </a:r>
                    </a:p>
                  </a:txBody>
                  <a:tcPr marL="73152" marR="73152" marT="0" marB="0" anchor="ctr">
                    <a:solidFill>
                      <a:srgbClr val="FBEAED"/>
                    </a:solidFill>
                  </a:tcPr>
                </a:tc>
                <a:tc>
                  <a:txBody>
                    <a:bodyPr/>
                    <a:lstStyle/>
                    <a:p>
                      <a:pPr algn="r"/>
                      <a:r>
                        <a:rPr sz="1200" b="0" i="0">
                          <a:solidFill>
                            <a:srgbClr val="1B2A33"/>
                          </a:solidFill>
                          <a:latin typeface="Calibri"/>
                        </a:rPr>
                        <a:t>93.67 ± 4.73</a:t>
                      </a:r>
                    </a:p>
                  </a:txBody>
                  <a:tcPr marL="73152" marR="73152" marT="0" marB="0" anchor="ctr">
                    <a:solidFill>
                      <a:srgbClr val="FBEAED"/>
                    </a:solidFill>
                  </a:tcPr>
                </a:tc>
                <a:tc>
                  <a:txBody>
                    <a:bodyPr/>
                    <a:lstStyle/>
                    <a:p>
                      <a:pPr algn="r"/>
                      <a:r>
                        <a:rPr sz="1200" b="0" i="0">
                          <a:solidFill>
                            <a:srgbClr val="1B2A33"/>
                          </a:solidFill>
                          <a:latin typeface="Calibri"/>
                        </a:rPr>
                        <a:t>+7.33</a:t>
                      </a:r>
                    </a:p>
                  </a:txBody>
                  <a:tcPr marL="73152" marR="73152" marT="0" marB="0" anchor="ctr">
                    <a:solidFill>
                      <a:srgbClr val="FBEAED"/>
                    </a:solidFill>
                  </a:tcPr>
                </a:tc>
              </a:tr>
              <a:tr h="365760">
                <a:tc>
                  <a:txBody>
                    <a:bodyPr/>
                    <a:lstStyle/>
                    <a:p>
                      <a:pPr algn="l"/>
                      <a:r>
                        <a:rPr sz="1200" b="0" i="0">
                          <a:solidFill>
                            <a:srgbClr val="1B2A33"/>
                          </a:solidFill>
                          <a:latin typeface="Calibri"/>
                        </a:rPr>
                        <a:t>Online DC (CU)</a:t>
                      </a:r>
                    </a:p>
                  </a:txBody>
                  <a:tcPr marL="73152" marR="73152" marT="0" marB="0" anchor="ctr">
                    <a:solidFill>
                      <a:srgbClr val="FFFFFF"/>
                    </a:solidFill>
                  </a:tcPr>
                </a:tc>
                <a:tc>
                  <a:txBody>
                    <a:bodyPr/>
                    <a:lstStyle/>
                    <a:p>
                      <a:pPr algn="ctr"/>
                      <a:r>
                        <a:rPr sz="1200" b="0" i="0">
                          <a:solidFill>
                            <a:srgbClr val="1B2A33"/>
                          </a:solidFill>
                          <a:latin typeface="Calibri"/>
                        </a:rPr>
                        <a:t>✓</a:t>
                      </a:r>
                    </a:p>
                  </a:txBody>
                  <a:tcPr marL="73152" marR="73152" marT="0" marB="0" anchor="ctr">
                    <a:solidFill>
                      <a:srgbClr val="FFFFFF"/>
                    </a:solidFill>
                  </a:tcPr>
                </a:tc>
                <a:tc>
                  <a:txBody>
                    <a:bodyPr/>
                    <a:lstStyle/>
                    <a:p>
                      <a:pPr algn="r"/>
                      <a:r>
                        <a:rPr sz="1200" b="0" i="0">
                          <a:solidFill>
                            <a:srgbClr val="1B2A33"/>
                          </a:solidFill>
                          <a:latin typeface="Calibri"/>
                        </a:rPr>
                        <a:t>63.67 ± 0.58</a:t>
                      </a:r>
                    </a:p>
                  </a:txBody>
                  <a:tcPr marL="73152" marR="73152" marT="0" marB="0" anchor="ctr">
                    <a:solidFill>
                      <a:srgbClr val="FFFFFF"/>
                    </a:solidFill>
                  </a:tcPr>
                </a:tc>
                <a:tc>
                  <a:txBody>
                    <a:bodyPr/>
                    <a:lstStyle/>
                    <a:p>
                      <a:pPr algn="r"/>
                      <a:r>
                        <a:rPr sz="1200" b="0" i="0">
                          <a:solidFill>
                            <a:srgbClr val="1B2A33"/>
                          </a:solidFill>
                          <a:latin typeface="Calibri"/>
                        </a:rPr>
                        <a:t>60.49 ± 0.77</a:t>
                      </a:r>
                    </a:p>
                  </a:txBody>
                  <a:tcPr marL="73152" marR="73152" marT="0" marB="0" anchor="ctr">
                    <a:solidFill>
                      <a:srgbClr val="FFFFFF"/>
                    </a:solidFill>
                  </a:tcPr>
                </a:tc>
                <a:tc>
                  <a:txBody>
                    <a:bodyPr/>
                    <a:lstStyle/>
                    <a:p>
                      <a:pPr algn="r"/>
                      <a:r>
                        <a:rPr sz="1200" b="0" i="0">
                          <a:solidFill>
                            <a:srgbClr val="1B2A33"/>
                          </a:solidFill>
                          <a:latin typeface="Calibri"/>
                        </a:rPr>
                        <a:t>94.67 ± 3.21</a:t>
                      </a:r>
                    </a:p>
                  </a:txBody>
                  <a:tcPr marL="73152" marR="73152" marT="0" marB="0" anchor="ctr">
                    <a:solidFill>
                      <a:srgbClr val="FFFFFF"/>
                    </a:solidFill>
                  </a:tcPr>
                </a:tc>
                <a:tc>
                  <a:txBody>
                    <a:bodyPr/>
                    <a:lstStyle/>
                    <a:p>
                      <a:pPr algn="r"/>
                      <a:r>
                        <a:rPr sz="1200" b="0" i="0">
                          <a:solidFill>
                            <a:srgbClr val="1B2A33"/>
                          </a:solidFill>
                          <a:latin typeface="Calibri"/>
                        </a:rPr>
                        <a:t>−5.00</a:t>
                      </a:r>
                    </a:p>
                  </a:txBody>
                  <a:tcPr marL="73152" marR="73152" marT="0" marB="0" anchor="ctr">
                    <a:solidFill>
                      <a:srgbClr val="FFFFFF"/>
                    </a:solidFill>
                  </a:tcPr>
                </a:tc>
              </a:tr>
              <a:tr h="365760">
                <a:tc>
                  <a:txBody>
                    <a:bodyPr/>
                    <a:lstStyle/>
                    <a:p>
                      <a:pPr algn="l"/>
                      <a:r>
                        <a:rPr sz="1200" b="0" i="0">
                          <a:solidFill>
                            <a:srgbClr val="1B2A33"/>
                          </a:solidFill>
                          <a:latin typeface="Calibri"/>
                        </a:rPr>
                        <a:t>Online DC (CU)</a:t>
                      </a:r>
                    </a:p>
                  </a:txBody>
                  <a:tcPr marL="73152" marR="73152" marT="0" marB="0" anchor="ctr">
                    <a:solidFill>
                      <a:srgbClr val="FFFFFF"/>
                    </a:solidFill>
                  </a:tcPr>
                </a:tc>
                <a:tc>
                  <a:txBody>
                    <a:bodyPr/>
                    <a:lstStyle/>
                    <a:p>
                      <a:pPr algn="ctr"/>
                      <a:r>
                        <a:rPr sz="1200" b="0" i="0">
                          <a:solidFill>
                            <a:srgbClr val="1B2A33"/>
                          </a:solidFill>
                          <a:latin typeface="Calibri"/>
                        </a:rPr>
                        <a:t>✗</a:t>
                      </a:r>
                    </a:p>
                  </a:txBody>
                  <a:tcPr marL="73152" marR="73152" marT="0" marB="0" anchor="ctr">
                    <a:solidFill>
                      <a:srgbClr val="FFFFFF"/>
                    </a:solidFill>
                  </a:tcPr>
                </a:tc>
                <a:tc>
                  <a:txBody>
                    <a:bodyPr/>
                    <a:lstStyle/>
                    <a:p>
                      <a:pPr algn="r"/>
                      <a:r>
                        <a:rPr sz="1200" b="0" i="0">
                          <a:solidFill>
                            <a:srgbClr val="1B2A33"/>
                          </a:solidFill>
                          <a:latin typeface="Calibri"/>
                        </a:rPr>
                        <a:t>62.33 ± 1.53</a:t>
                      </a:r>
                    </a:p>
                  </a:txBody>
                  <a:tcPr marL="73152" marR="73152" marT="0" marB="0" anchor="ctr">
                    <a:solidFill>
                      <a:srgbClr val="FFFFFF"/>
                    </a:solidFill>
                  </a:tcPr>
                </a:tc>
                <a:tc>
                  <a:txBody>
                    <a:bodyPr/>
                    <a:lstStyle/>
                    <a:p>
                      <a:pPr algn="r"/>
                      <a:r>
                        <a:rPr sz="1200" b="0" i="0">
                          <a:solidFill>
                            <a:srgbClr val="1B2A33"/>
                          </a:solidFill>
                          <a:latin typeface="Calibri"/>
                        </a:rPr>
                        <a:t>58.83 ± 2.32</a:t>
                      </a:r>
                    </a:p>
                  </a:txBody>
                  <a:tcPr marL="73152" marR="73152" marT="0" marB="0" anchor="ctr">
                    <a:solidFill>
                      <a:srgbClr val="FFFFFF"/>
                    </a:solidFill>
                  </a:tcPr>
                </a:tc>
                <a:tc>
                  <a:txBody>
                    <a:bodyPr/>
                    <a:lstStyle/>
                    <a:p>
                      <a:pPr algn="r"/>
                      <a:r>
                        <a:rPr sz="1200" b="0" i="0">
                          <a:solidFill>
                            <a:srgbClr val="1B2A33"/>
                          </a:solidFill>
                          <a:latin typeface="Calibri"/>
                        </a:rPr>
                        <a:t>91.33 ± 3.51</a:t>
                      </a:r>
                    </a:p>
                  </a:txBody>
                  <a:tcPr marL="73152" marR="73152" marT="0" marB="0" anchor="ctr">
                    <a:solidFill>
                      <a:srgbClr val="FFFFFF"/>
                    </a:solidFill>
                  </a:tcPr>
                </a:tc>
                <a:tc>
                  <a:txBody>
                    <a:bodyPr/>
                    <a:lstStyle/>
                    <a:p>
                      <a:pPr algn="r"/>
                      <a:r>
                        <a:rPr sz="1200" b="0" i="0">
                          <a:solidFill>
                            <a:srgbClr val="1B2A33"/>
                          </a:solidFill>
                          <a:latin typeface="Calibri"/>
                        </a:rPr>
                        <a:t>−6.33</a:t>
                      </a:r>
                    </a:p>
                  </a:txBody>
                  <a:tcPr marL="73152" marR="73152" marT="0" marB="0" anchor="ctr">
                    <a:solidFill>
                      <a:srgbClr val="FFFFFF"/>
                    </a:solidFill>
                  </a:tcPr>
                </a:tc>
              </a:tr>
              <a:tr h="365760">
                <a:tc>
                  <a:txBody>
                    <a:bodyPr/>
                    <a:lstStyle/>
                    <a:p>
                      <a:pPr algn="l"/>
                      <a:r>
                        <a:rPr sz="1200" b="0" i="0">
                          <a:solidFill>
                            <a:srgbClr val="1B2A33"/>
                          </a:solidFill>
                          <a:latin typeface="Calibri"/>
                        </a:rPr>
                        <a:t>Online ACE</a:t>
                      </a:r>
                    </a:p>
                  </a:txBody>
                  <a:tcPr marL="73152" marR="73152" marT="0" marB="0" anchor="ctr">
                    <a:solidFill>
                      <a:srgbClr val="FBEAED"/>
                    </a:solidFill>
                  </a:tcPr>
                </a:tc>
                <a:tc>
                  <a:txBody>
                    <a:bodyPr/>
                    <a:lstStyle/>
                    <a:p>
                      <a:pPr algn="ctr"/>
                      <a:r>
                        <a:rPr sz="1200" b="0" i="0">
                          <a:solidFill>
                            <a:srgbClr val="1B2A33"/>
                          </a:solidFill>
                          <a:latin typeface="Calibri"/>
                        </a:rPr>
                        <a:t>✓</a:t>
                      </a:r>
                    </a:p>
                  </a:txBody>
                  <a:tcPr marL="73152" marR="73152" marT="0" marB="0" anchor="ctr">
                    <a:solidFill>
                      <a:srgbClr val="FBEAED"/>
                    </a:solidFill>
                  </a:tcPr>
                </a:tc>
                <a:tc>
                  <a:txBody>
                    <a:bodyPr/>
                    <a:lstStyle/>
                    <a:p>
                      <a:pPr algn="r"/>
                      <a:r>
                        <a:rPr sz="1200" b="0" i="0">
                          <a:solidFill>
                            <a:srgbClr val="1B2A33"/>
                          </a:solidFill>
                          <a:latin typeface="Calibri"/>
                        </a:rPr>
                        <a:t>80.00 ± 2.65</a:t>
                      </a:r>
                    </a:p>
                  </a:txBody>
                  <a:tcPr marL="73152" marR="73152" marT="0" marB="0" anchor="ctr">
                    <a:solidFill>
                      <a:srgbClr val="FBEAED"/>
                    </a:solidFill>
                  </a:tcPr>
                </a:tc>
                <a:tc>
                  <a:txBody>
                    <a:bodyPr/>
                    <a:lstStyle/>
                    <a:p>
                      <a:pPr algn="r"/>
                      <a:r>
                        <a:rPr sz="1200" b="0" i="0">
                          <a:solidFill>
                            <a:srgbClr val="1B2A33"/>
                          </a:solidFill>
                          <a:latin typeface="Calibri"/>
                        </a:rPr>
                        <a:t>79.92 ± 2.74</a:t>
                      </a:r>
                    </a:p>
                  </a:txBody>
                  <a:tcPr marL="73152" marR="73152" marT="0" marB="0" anchor="ctr">
                    <a:solidFill>
                      <a:srgbClr val="FBEAED"/>
                    </a:solidFill>
                  </a:tcPr>
                </a:tc>
                <a:tc>
                  <a:txBody>
                    <a:bodyPr/>
                    <a:lstStyle/>
                    <a:p>
                      <a:pPr algn="r"/>
                      <a:r>
                        <a:rPr sz="1200" b="0" i="0">
                          <a:solidFill>
                            <a:srgbClr val="1B2A33"/>
                          </a:solidFill>
                          <a:latin typeface="Calibri"/>
                        </a:rPr>
                        <a:t>89.00 ± 1.00</a:t>
                      </a:r>
                    </a:p>
                  </a:txBody>
                  <a:tcPr marL="73152" marR="73152" marT="0" marB="0" anchor="ctr">
                    <a:solidFill>
                      <a:srgbClr val="FBEAED"/>
                    </a:solidFill>
                  </a:tcPr>
                </a:tc>
                <a:tc>
                  <a:txBody>
                    <a:bodyPr/>
                    <a:lstStyle/>
                    <a:p>
                      <a:pPr algn="r"/>
                      <a:r>
                        <a:rPr sz="1200" b="0" i="0">
                          <a:solidFill>
                            <a:srgbClr val="1B2A33"/>
                          </a:solidFill>
                          <a:latin typeface="Calibri"/>
                        </a:rPr>
                        <a:t>+11.33</a:t>
                      </a:r>
                    </a:p>
                  </a:txBody>
                  <a:tcPr marL="73152" marR="73152" marT="0" marB="0" anchor="ctr">
                    <a:solidFill>
                      <a:srgbClr val="FBEAED"/>
                    </a:solidFill>
                  </a:tcPr>
                </a:tc>
              </a:tr>
              <a:tr h="365760">
                <a:tc>
                  <a:txBody>
                    <a:bodyPr/>
                    <a:lstStyle/>
                    <a:p>
                      <a:pPr algn="l"/>
                      <a:r>
                        <a:rPr sz="1200" b="0" i="0">
                          <a:solidFill>
                            <a:srgbClr val="1B2A33"/>
                          </a:solidFill>
                          <a:latin typeface="Calibri"/>
                        </a:rPr>
                        <a:t>Online ACE</a:t>
                      </a:r>
                    </a:p>
                  </a:txBody>
                  <a:tcPr marL="73152" marR="73152" marT="0" marB="0" anchor="ctr">
                    <a:solidFill>
                      <a:srgbClr val="FBEAED"/>
                    </a:solidFill>
                  </a:tcPr>
                </a:tc>
                <a:tc>
                  <a:txBody>
                    <a:bodyPr/>
                    <a:lstStyle/>
                    <a:p>
                      <a:pPr algn="ctr"/>
                      <a:r>
                        <a:rPr sz="1200" b="0" i="0">
                          <a:solidFill>
                            <a:srgbClr val="1B2A33"/>
                          </a:solidFill>
                          <a:latin typeface="Calibri"/>
                        </a:rPr>
                        <a:t>✗</a:t>
                      </a:r>
                    </a:p>
                  </a:txBody>
                  <a:tcPr marL="73152" marR="73152" marT="0" marB="0" anchor="ctr">
                    <a:solidFill>
                      <a:srgbClr val="FBEAED"/>
                    </a:solidFill>
                  </a:tcPr>
                </a:tc>
                <a:tc>
                  <a:txBody>
                    <a:bodyPr/>
                    <a:lstStyle/>
                    <a:p>
                      <a:pPr algn="r"/>
                      <a:r>
                        <a:rPr sz="1200" b="0" i="0">
                          <a:solidFill>
                            <a:srgbClr val="1B2A33"/>
                          </a:solidFill>
                          <a:latin typeface="Calibri"/>
                        </a:rPr>
                        <a:t>75.67 ± 5.51</a:t>
                      </a:r>
                    </a:p>
                  </a:txBody>
                  <a:tcPr marL="73152" marR="73152" marT="0" marB="0" anchor="ctr">
                    <a:solidFill>
                      <a:srgbClr val="FBEAED"/>
                    </a:solidFill>
                  </a:tcPr>
                </a:tc>
                <a:tc>
                  <a:txBody>
                    <a:bodyPr/>
                    <a:lstStyle/>
                    <a:p>
                      <a:pPr algn="r"/>
                      <a:r>
                        <a:rPr sz="1200" b="0" i="0">
                          <a:solidFill>
                            <a:srgbClr val="1B2A33"/>
                          </a:solidFill>
                          <a:latin typeface="Calibri"/>
                        </a:rPr>
                        <a:t>75.06 ± 5.98</a:t>
                      </a:r>
                    </a:p>
                  </a:txBody>
                  <a:tcPr marL="73152" marR="73152" marT="0" marB="0" anchor="ctr">
                    <a:solidFill>
                      <a:srgbClr val="FBEAED"/>
                    </a:solidFill>
                  </a:tcPr>
                </a:tc>
                <a:tc>
                  <a:txBody>
                    <a:bodyPr/>
                    <a:lstStyle/>
                    <a:p>
                      <a:pPr algn="r"/>
                      <a:r>
                        <a:rPr sz="1200" b="0" i="0">
                          <a:solidFill>
                            <a:srgbClr val="1B2A33"/>
                          </a:solidFill>
                          <a:latin typeface="Calibri"/>
                        </a:rPr>
                        <a:t>90.67 ± 7.57</a:t>
                      </a:r>
                    </a:p>
                  </a:txBody>
                  <a:tcPr marL="73152" marR="73152" marT="0" marB="0" anchor="ctr">
                    <a:solidFill>
                      <a:srgbClr val="FBEAED"/>
                    </a:solidFill>
                  </a:tcPr>
                </a:tc>
                <a:tc>
                  <a:txBody>
                    <a:bodyPr/>
                    <a:lstStyle/>
                    <a:p>
                      <a:pPr algn="r"/>
                      <a:r>
                        <a:rPr sz="1200" b="0" i="0">
                          <a:solidFill>
                            <a:srgbClr val="1B2A33"/>
                          </a:solidFill>
                          <a:latin typeface="Calibri"/>
                        </a:rPr>
                        <a:t>+7.00</a:t>
                      </a:r>
                    </a:p>
                  </a:txBody>
                  <a:tcPr marL="73152" marR="73152" marT="0" marB="0" anchor="ctr">
                    <a:solidFill>
                      <a:srgbClr val="FBEAED"/>
                    </a:solidFill>
                  </a:tcPr>
                </a:tc>
              </a:tr>
            </a:tbl>
          </a:graphicData>
        </a:graphic>
      </p:graphicFrame>
      <p:sp>
        <p:nvSpPr>
          <p:cNvPr id="5" name="TextBox 4"/>
          <p:cNvSpPr txBox="1"/>
          <p:nvPr/>
        </p:nvSpPr>
        <p:spPr>
          <a:xfrm>
            <a:off x="8183879" y="1463040"/>
            <a:ext cx="3474720" cy="411480"/>
          </a:xfrm>
          <a:prstGeom prst="rect">
            <a:avLst/>
          </a:prstGeom>
          <a:noFill/>
        </p:spPr>
        <p:txBody>
          <a:bodyPr wrap="square" anchor="t" lIns="0" rIns="0" tIns="0" bIns="0">
            <a:spAutoFit/>
          </a:bodyPr>
          <a:lstStyle/>
          <a:p>
            <a:pPr algn="l"/>
            <a:r>
              <a:rPr sz="1800" b="1" i="0">
                <a:solidFill>
                  <a:srgbClr val="1B2A33"/>
                </a:solidFill>
                <a:latin typeface="Cambria"/>
              </a:rPr>
              <a:t>What stands out</a:t>
            </a:r>
          </a:p>
        </p:txBody>
      </p:sp>
      <p:sp>
        <p:nvSpPr>
          <p:cNvPr id="6" name="Oval 5"/>
          <p:cNvSpPr/>
          <p:nvPr/>
        </p:nvSpPr>
        <p:spPr>
          <a:xfrm>
            <a:off x="8183879" y="2029968"/>
            <a:ext cx="329184" cy="329184"/>
          </a:xfrm>
          <a:prstGeom prst="ellipse">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83879" y="2029968"/>
            <a:ext cx="329184" cy="329184"/>
          </a:xfrm>
          <a:prstGeom prst="rect">
            <a:avLst/>
          </a:prstGeom>
          <a:noFill/>
        </p:spPr>
        <p:txBody>
          <a:bodyPr wrap="square" anchor="ctr" lIns="0" rIns="0" tIns="0" bIns="0">
            <a:spAutoFit/>
          </a:bodyPr>
          <a:lstStyle/>
          <a:p>
            <a:pPr algn="ctr"/>
            <a:r>
              <a:rPr sz="1200" b="1" i="0">
                <a:solidFill>
                  <a:srgbClr val="FFFFFF"/>
                </a:solidFill>
                <a:latin typeface="Calibri"/>
              </a:rPr>
              <a:t>1</a:t>
            </a:r>
          </a:p>
        </p:txBody>
      </p:sp>
      <p:sp>
        <p:nvSpPr>
          <p:cNvPr id="8" name="TextBox 7"/>
          <p:cNvSpPr txBox="1"/>
          <p:nvPr/>
        </p:nvSpPr>
        <p:spPr>
          <a:xfrm>
            <a:off x="8641080" y="2011680"/>
            <a:ext cx="3017520" cy="960120"/>
          </a:xfrm>
          <a:prstGeom prst="rect">
            <a:avLst/>
          </a:prstGeom>
          <a:noFill/>
        </p:spPr>
        <p:txBody>
          <a:bodyPr wrap="square" anchor="t" lIns="0" rIns="0" tIns="0" bIns="0">
            <a:spAutoFit/>
          </a:bodyPr>
          <a:lstStyle/>
          <a:p>
            <a:pPr algn="l"/>
            <a:r>
              <a:rPr sz="1200" b="0" i="0">
                <a:solidFill>
                  <a:srgbClr val="1B2A33"/>
                </a:solidFill>
                <a:latin typeface="Calibri"/>
              </a:rPr>
              <a:t>ACE (all four conditions, +7.0 to +11.3 pp) and GEPA (+9.7 pp) clearly beat Base. GEPA sits between the ACE GT ✓ and GT ✗ conditions.</a:t>
            </a:r>
          </a:p>
        </p:txBody>
      </p:sp>
      <p:sp>
        <p:nvSpPr>
          <p:cNvPr id="9" name="Oval 8"/>
          <p:cNvSpPr/>
          <p:nvPr/>
        </p:nvSpPr>
        <p:spPr>
          <a:xfrm>
            <a:off x="8183879" y="3081528"/>
            <a:ext cx="329184" cy="329184"/>
          </a:xfrm>
          <a:prstGeom prst="ellipse">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83879" y="3081528"/>
            <a:ext cx="329184" cy="329184"/>
          </a:xfrm>
          <a:prstGeom prst="rect">
            <a:avLst/>
          </a:prstGeom>
          <a:noFill/>
        </p:spPr>
        <p:txBody>
          <a:bodyPr wrap="square" anchor="ctr" lIns="0" rIns="0" tIns="0" bIns="0">
            <a:spAutoFit/>
          </a:bodyPr>
          <a:lstStyle/>
          <a:p>
            <a:pPr algn="ctr"/>
            <a:r>
              <a:rPr sz="1200" b="1" i="0">
                <a:solidFill>
                  <a:srgbClr val="FFFFFF"/>
                </a:solidFill>
                <a:latin typeface="Calibri"/>
              </a:rPr>
              <a:t>2</a:t>
            </a:r>
          </a:p>
        </p:txBody>
      </p:sp>
      <p:sp>
        <p:nvSpPr>
          <p:cNvPr id="11" name="TextBox 10"/>
          <p:cNvSpPr txBox="1"/>
          <p:nvPr/>
        </p:nvSpPr>
        <p:spPr>
          <a:xfrm>
            <a:off x="8641080" y="3063240"/>
            <a:ext cx="3017520" cy="960120"/>
          </a:xfrm>
          <a:prstGeom prst="rect">
            <a:avLst/>
          </a:prstGeom>
          <a:noFill/>
        </p:spPr>
        <p:txBody>
          <a:bodyPr wrap="square" anchor="t" lIns="0" rIns="0" tIns="0" bIns="0">
            <a:spAutoFit/>
          </a:bodyPr>
          <a:lstStyle/>
          <a:p>
            <a:pPr algn="l"/>
            <a:r>
              <a:rPr sz="1200" b="0" i="0">
                <a:solidFill>
                  <a:srgbClr val="1B2A33"/>
                </a:solidFill>
                <a:latin typeface="Calibri"/>
              </a:rPr>
              <a:t>DC (−5.0, −6.3) and ICL (−2.3) fall below Base. MIPROv2 (+1.3) sits inside its seed spread (65–74).</a:t>
            </a:r>
          </a:p>
        </p:txBody>
      </p:sp>
      <p:sp>
        <p:nvSpPr>
          <p:cNvPr id="12" name="Oval 11"/>
          <p:cNvSpPr/>
          <p:nvPr/>
        </p:nvSpPr>
        <p:spPr>
          <a:xfrm>
            <a:off x="8183879" y="4133087"/>
            <a:ext cx="329184" cy="329184"/>
          </a:xfrm>
          <a:prstGeom prst="ellipse">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83879" y="4133087"/>
            <a:ext cx="329184" cy="329184"/>
          </a:xfrm>
          <a:prstGeom prst="rect">
            <a:avLst/>
          </a:prstGeom>
          <a:noFill/>
        </p:spPr>
        <p:txBody>
          <a:bodyPr wrap="square" anchor="ctr" lIns="0" rIns="0" tIns="0" bIns="0">
            <a:spAutoFit/>
          </a:bodyPr>
          <a:lstStyle/>
          <a:p>
            <a:pPr algn="ctr"/>
            <a:r>
              <a:rPr sz="1200" b="1" i="0">
                <a:solidFill>
                  <a:srgbClr val="FFFFFF"/>
                </a:solidFill>
                <a:latin typeface="Calibri"/>
              </a:rPr>
              <a:t>3</a:t>
            </a:r>
          </a:p>
        </p:txBody>
      </p:sp>
      <p:sp>
        <p:nvSpPr>
          <p:cNvPr id="14" name="TextBox 13"/>
          <p:cNvSpPr txBox="1"/>
          <p:nvPr/>
        </p:nvSpPr>
        <p:spPr>
          <a:xfrm>
            <a:off x="8641080" y="4114800"/>
            <a:ext cx="3017520" cy="960120"/>
          </a:xfrm>
          <a:prstGeom prst="rect">
            <a:avLst/>
          </a:prstGeom>
          <a:noFill/>
        </p:spPr>
        <p:txBody>
          <a:bodyPr wrap="square" anchor="t" lIns="0" rIns="0" tIns="0" bIns="0">
            <a:spAutoFit/>
          </a:bodyPr>
          <a:lstStyle/>
          <a:p>
            <a:pPr algn="l"/>
            <a:r>
              <a:rPr sz="1200" b="0" i="0">
                <a:solidFill>
                  <a:srgbClr val="1B2A33"/>
                </a:solidFill>
                <a:latin typeface="Calibri"/>
              </a:rPr>
              <a:t>Conformability is high for most methods (83–98%). Offline ACE GT ✓ is the outlier: 90 / 54 / 84 across seeds.</a:t>
            </a:r>
          </a:p>
        </p:txBody>
      </p:sp>
      <p:sp>
        <p:nvSpPr>
          <p:cNvPr id="15" name="Oval 14"/>
          <p:cNvSpPr/>
          <p:nvPr/>
        </p:nvSpPr>
        <p:spPr>
          <a:xfrm>
            <a:off x="8183879" y="5184648"/>
            <a:ext cx="329184" cy="329184"/>
          </a:xfrm>
          <a:prstGeom prst="ellipse">
            <a:avLst/>
          </a:prstGeom>
          <a:solidFill>
            <a:srgbClr val="7D8F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83879" y="5184648"/>
            <a:ext cx="329184" cy="329184"/>
          </a:xfrm>
          <a:prstGeom prst="rect">
            <a:avLst/>
          </a:prstGeom>
          <a:noFill/>
        </p:spPr>
        <p:txBody>
          <a:bodyPr wrap="square" anchor="ctr" lIns="0" rIns="0" tIns="0" bIns="0">
            <a:spAutoFit/>
          </a:bodyPr>
          <a:lstStyle/>
          <a:p>
            <a:pPr algn="ctr"/>
            <a:r>
              <a:rPr sz="1200" b="1" i="0">
                <a:solidFill>
                  <a:srgbClr val="FFFFFF"/>
                </a:solidFill>
                <a:latin typeface="Calibri"/>
              </a:rPr>
              <a:t>4</a:t>
            </a:r>
          </a:p>
        </p:txBody>
      </p:sp>
      <p:sp>
        <p:nvSpPr>
          <p:cNvPr id="17" name="TextBox 16"/>
          <p:cNvSpPr txBox="1"/>
          <p:nvPr/>
        </p:nvSpPr>
        <p:spPr>
          <a:xfrm>
            <a:off x="8641080" y="5166360"/>
            <a:ext cx="3017520" cy="960120"/>
          </a:xfrm>
          <a:prstGeom prst="rect">
            <a:avLst/>
          </a:prstGeom>
          <a:noFill/>
        </p:spPr>
        <p:txBody>
          <a:bodyPr wrap="square" anchor="t" lIns="0" rIns="0" tIns="0" bIns="0">
            <a:spAutoFit/>
          </a:bodyPr>
          <a:lstStyle/>
          <a:p>
            <a:pPr algn="l"/>
            <a:r>
              <a:rPr sz="1200" b="0" i="0">
                <a:solidFill>
                  <a:srgbClr val="1B2A33"/>
                </a:solidFill>
                <a:latin typeface="Calibri"/>
              </a:rPr>
              <a:t>Caveats: the judge is the same Qwen3-8B (provisional, uncalibrated); seeds reuse the same 100 posts; two seeds with invalid outputs use all-attempt F1.</a:t>
            </a:r>
          </a:p>
        </p:txBody>
      </p:sp>
      <p:sp>
        <p:nvSpPr>
          <p:cNvPr id="18" name="TextBox 17"/>
          <p:cNvSpPr txBox="1"/>
          <p:nvPr/>
        </p:nvSpPr>
        <p:spPr>
          <a:xfrm>
            <a:off x="548640" y="6355080"/>
            <a:ext cx="11094415" cy="320040"/>
          </a:xfrm>
          <a:prstGeom prst="rect">
            <a:avLst/>
          </a:prstGeom>
          <a:noFill/>
        </p:spPr>
        <p:txBody>
          <a:bodyPr wrap="square" anchor="t" lIns="0" rIns="0" tIns="0" bIns="0">
            <a:spAutoFit/>
          </a:bodyPr>
          <a:lstStyle/>
          <a:p>
            <a:pPr algn="l"/>
            <a:r>
              <a:rPr sz="1000" b="0" i="0">
                <a:solidFill>
                  <a:srgbClr val="5C6B73"/>
                </a:solidFill>
                <a:latin typeface="Calibri"/>
              </a:rPr>
              <a:t>Conformability: source-grounding pass rate (all four dimensions = 2) from a method-blind judge; same-family evaluation. Highlighted rows are ACE.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94415" cy="685800"/>
          </a:xfrm>
          <a:prstGeom prst="rect">
            <a:avLst/>
          </a:prstGeom>
          <a:noFill/>
        </p:spPr>
        <p:txBody>
          <a:bodyPr wrap="square" anchor="t" lIns="0" rIns="0" tIns="0" bIns="0">
            <a:spAutoFit/>
          </a:bodyPr>
          <a:lstStyle/>
          <a:p>
            <a:pPr algn="l"/>
            <a:r>
              <a:rPr sz="2800" b="1" i="0">
                <a:solidFill>
                  <a:srgbClr val="1B2A33"/>
                </a:solidFill>
                <a:latin typeface="Cambria"/>
              </a:rPr>
              <a:t>What ACE learned on Dreaddit: four playbooks (seed 42)</a:t>
            </a:r>
          </a:p>
        </p:txBody>
      </p:sp>
      <p:sp>
        <p:nvSpPr>
          <p:cNvPr id="3" name="TextBox 2"/>
          <p:cNvSpPr txBox="1"/>
          <p:nvPr/>
        </p:nvSpPr>
        <p:spPr>
          <a:xfrm>
            <a:off x="548640" y="1024128"/>
            <a:ext cx="11094415" cy="320040"/>
          </a:xfrm>
          <a:prstGeom prst="rect">
            <a:avLst/>
          </a:prstGeom>
          <a:noFill/>
        </p:spPr>
        <p:txBody>
          <a:bodyPr wrap="square" anchor="t" lIns="0" rIns="0" tIns="0" bIns="0">
            <a:spAutoFit/>
          </a:bodyPr>
          <a:lstStyle/>
          <a:p>
            <a:pPr algn="l"/>
            <a:r>
              <a:rPr sz="1300" b="0" i="0">
                <a:solidFill>
                  <a:srgbClr val="5C6B73"/>
                </a:solidFill>
                <a:latin typeface="Calibri"/>
              </a:rPr>
              <a:t>Final playbooks after one pass. Offline: 100 training posts, frozen before test. Online: 100 test posts, updated after each committed prediction.</a:t>
            </a:r>
          </a:p>
        </p:txBody>
      </p:sp>
      <p:sp>
        <p:nvSpPr>
          <p:cNvPr id="4" name="Rounded Rectangle 3"/>
          <p:cNvSpPr/>
          <p:nvPr/>
        </p:nvSpPr>
        <p:spPr>
          <a:xfrm>
            <a:off x="548640" y="1600200"/>
            <a:ext cx="2606040" cy="1691640"/>
          </a:xfrm>
          <a:prstGeom prst="roundRect">
            <a:avLst>
              <a:gd name="adj" fmla="val 4324"/>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8" y="1737360"/>
            <a:ext cx="2194560" cy="274320"/>
          </a:xfrm>
          <a:prstGeom prst="rect">
            <a:avLst/>
          </a:prstGeom>
          <a:noFill/>
        </p:spPr>
        <p:txBody>
          <a:bodyPr wrap="square" anchor="t" lIns="0" rIns="0" tIns="0" bIns="0">
            <a:spAutoFit/>
          </a:bodyPr>
          <a:lstStyle/>
          <a:p>
            <a:pPr algn="l"/>
            <a:r>
              <a:rPr sz="1100" b="1" i="0">
                <a:solidFill>
                  <a:srgbClr val="5C6B73"/>
                </a:solidFill>
                <a:latin typeface="Calibri"/>
              </a:rPr>
              <a:t>OFFLINE · GT ✓</a:t>
            </a:r>
          </a:p>
        </p:txBody>
      </p:sp>
      <p:sp>
        <p:nvSpPr>
          <p:cNvPr id="6" name="TextBox 5"/>
          <p:cNvSpPr txBox="1"/>
          <p:nvPr/>
        </p:nvSpPr>
        <p:spPr>
          <a:xfrm>
            <a:off x="749808" y="2011680"/>
            <a:ext cx="2286000" cy="685800"/>
          </a:xfrm>
          <a:prstGeom prst="rect">
            <a:avLst/>
          </a:prstGeom>
          <a:noFill/>
        </p:spPr>
        <p:txBody>
          <a:bodyPr wrap="square" anchor="ctr" lIns="0" rIns="0" tIns="0" bIns="0">
            <a:spAutoFit/>
          </a:bodyPr>
          <a:lstStyle/>
          <a:p>
            <a:pPr algn="l"/>
            <a:r>
              <a:rPr sz="4000" b="1" i="0">
                <a:solidFill>
                  <a:srgbClr val="1B2A33"/>
                </a:solidFill>
                <a:latin typeface="Cambria"/>
              </a:rPr>
              <a:t>36</a:t>
            </a:r>
            <a:r>
              <a:rPr sz="1300" b="0" i="0">
                <a:solidFill>
                  <a:srgbClr val="5C6B73"/>
                </a:solidFill>
                <a:latin typeface="Calibri"/>
              </a:rPr>
              <a:t>  bullets</a:t>
            </a:r>
          </a:p>
        </p:txBody>
      </p:sp>
      <p:sp>
        <p:nvSpPr>
          <p:cNvPr id="7" name="TextBox 6"/>
          <p:cNvSpPr txBox="1"/>
          <p:nvPr/>
        </p:nvSpPr>
        <p:spPr>
          <a:xfrm>
            <a:off x="749808" y="2788920"/>
            <a:ext cx="2286000" cy="320040"/>
          </a:xfrm>
          <a:prstGeom prst="rect">
            <a:avLst/>
          </a:prstGeom>
          <a:noFill/>
        </p:spPr>
        <p:txBody>
          <a:bodyPr wrap="square" anchor="t" lIns="0" rIns="0" tIns="0" bIns="0">
            <a:spAutoFit/>
          </a:bodyPr>
          <a:lstStyle/>
          <a:p>
            <a:pPr algn="l"/>
            <a:r>
              <a:rPr sz="1100" b="0" i="0">
                <a:solidFill>
                  <a:srgbClr val="5C6B73"/>
                </a:solidFill>
                <a:latin typeface="Calibri"/>
              </a:rPr>
              <a:t>65 helpful votes · 1 flagged harmful</a:t>
            </a:r>
          </a:p>
        </p:txBody>
      </p:sp>
      <p:sp>
        <p:nvSpPr>
          <p:cNvPr id="8" name="Rounded Rectangle 7"/>
          <p:cNvSpPr/>
          <p:nvPr/>
        </p:nvSpPr>
        <p:spPr>
          <a:xfrm>
            <a:off x="3383280" y="1600200"/>
            <a:ext cx="2606040" cy="1691640"/>
          </a:xfrm>
          <a:prstGeom prst="roundRect">
            <a:avLst>
              <a:gd name="adj" fmla="val 4324"/>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584448" y="1737360"/>
            <a:ext cx="2194560" cy="274320"/>
          </a:xfrm>
          <a:prstGeom prst="rect">
            <a:avLst/>
          </a:prstGeom>
          <a:noFill/>
        </p:spPr>
        <p:txBody>
          <a:bodyPr wrap="square" anchor="t" lIns="0" rIns="0" tIns="0" bIns="0">
            <a:spAutoFit/>
          </a:bodyPr>
          <a:lstStyle/>
          <a:p>
            <a:pPr algn="l"/>
            <a:r>
              <a:rPr sz="1100" b="1" i="0">
                <a:solidFill>
                  <a:srgbClr val="5C6B73"/>
                </a:solidFill>
                <a:latin typeface="Calibri"/>
              </a:rPr>
              <a:t>OFFLINE · GT ✗</a:t>
            </a:r>
          </a:p>
        </p:txBody>
      </p:sp>
      <p:sp>
        <p:nvSpPr>
          <p:cNvPr id="10" name="TextBox 9"/>
          <p:cNvSpPr txBox="1"/>
          <p:nvPr/>
        </p:nvSpPr>
        <p:spPr>
          <a:xfrm>
            <a:off x="3584448" y="2011680"/>
            <a:ext cx="2286000" cy="685800"/>
          </a:xfrm>
          <a:prstGeom prst="rect">
            <a:avLst/>
          </a:prstGeom>
          <a:noFill/>
        </p:spPr>
        <p:txBody>
          <a:bodyPr wrap="square" anchor="ctr" lIns="0" rIns="0" tIns="0" bIns="0">
            <a:spAutoFit/>
          </a:bodyPr>
          <a:lstStyle/>
          <a:p>
            <a:pPr algn="l"/>
            <a:r>
              <a:rPr sz="4000" b="1" i="0">
                <a:solidFill>
                  <a:srgbClr val="1B2A33"/>
                </a:solidFill>
                <a:latin typeface="Cambria"/>
              </a:rPr>
              <a:t>63</a:t>
            </a:r>
            <a:r>
              <a:rPr sz="1300" b="0" i="0">
                <a:solidFill>
                  <a:srgbClr val="5C6B73"/>
                </a:solidFill>
                <a:latin typeface="Calibri"/>
              </a:rPr>
              <a:t>  bullets</a:t>
            </a:r>
          </a:p>
        </p:txBody>
      </p:sp>
      <p:sp>
        <p:nvSpPr>
          <p:cNvPr id="11" name="TextBox 10"/>
          <p:cNvSpPr txBox="1"/>
          <p:nvPr/>
        </p:nvSpPr>
        <p:spPr>
          <a:xfrm>
            <a:off x="3584448" y="2788920"/>
            <a:ext cx="2286000" cy="320040"/>
          </a:xfrm>
          <a:prstGeom prst="rect">
            <a:avLst/>
          </a:prstGeom>
          <a:noFill/>
        </p:spPr>
        <p:txBody>
          <a:bodyPr wrap="square" anchor="t" lIns="0" rIns="0" tIns="0" bIns="0">
            <a:spAutoFit/>
          </a:bodyPr>
          <a:lstStyle/>
          <a:p>
            <a:pPr algn="l"/>
            <a:r>
              <a:rPr sz="1100" b="0" i="0">
                <a:solidFill>
                  <a:srgbClr val="5C6B73"/>
                </a:solidFill>
                <a:latin typeface="Calibri"/>
              </a:rPr>
              <a:t>107 helpful votes · 2 flagged harmful</a:t>
            </a:r>
          </a:p>
        </p:txBody>
      </p:sp>
      <p:sp>
        <p:nvSpPr>
          <p:cNvPr id="12" name="Rounded Rectangle 11"/>
          <p:cNvSpPr/>
          <p:nvPr/>
        </p:nvSpPr>
        <p:spPr>
          <a:xfrm>
            <a:off x="6217920" y="1600200"/>
            <a:ext cx="2606040" cy="1691640"/>
          </a:xfrm>
          <a:prstGeom prst="roundRect">
            <a:avLst>
              <a:gd name="adj" fmla="val 4324"/>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19088" y="1737360"/>
            <a:ext cx="2194560" cy="274320"/>
          </a:xfrm>
          <a:prstGeom prst="rect">
            <a:avLst/>
          </a:prstGeom>
          <a:noFill/>
        </p:spPr>
        <p:txBody>
          <a:bodyPr wrap="square" anchor="t" lIns="0" rIns="0" tIns="0" bIns="0">
            <a:spAutoFit/>
          </a:bodyPr>
          <a:lstStyle/>
          <a:p>
            <a:pPr algn="l"/>
            <a:r>
              <a:rPr sz="1100" b="1" i="0">
                <a:solidFill>
                  <a:srgbClr val="5C6B73"/>
                </a:solidFill>
                <a:latin typeface="Calibri"/>
              </a:rPr>
              <a:t>ONLINE · GT ✓</a:t>
            </a:r>
          </a:p>
        </p:txBody>
      </p:sp>
      <p:sp>
        <p:nvSpPr>
          <p:cNvPr id="14" name="TextBox 13"/>
          <p:cNvSpPr txBox="1"/>
          <p:nvPr/>
        </p:nvSpPr>
        <p:spPr>
          <a:xfrm>
            <a:off x="6419088" y="2011680"/>
            <a:ext cx="2286000" cy="685800"/>
          </a:xfrm>
          <a:prstGeom prst="rect">
            <a:avLst/>
          </a:prstGeom>
          <a:noFill/>
        </p:spPr>
        <p:txBody>
          <a:bodyPr wrap="square" anchor="ctr" lIns="0" rIns="0" tIns="0" bIns="0">
            <a:spAutoFit/>
          </a:bodyPr>
          <a:lstStyle/>
          <a:p>
            <a:pPr algn="l"/>
            <a:r>
              <a:rPr sz="4000" b="1" i="0">
                <a:solidFill>
                  <a:srgbClr val="1B2A33"/>
                </a:solidFill>
                <a:latin typeface="Cambria"/>
              </a:rPr>
              <a:t>51</a:t>
            </a:r>
            <a:r>
              <a:rPr sz="1300" b="0" i="0">
                <a:solidFill>
                  <a:srgbClr val="5C6B73"/>
                </a:solidFill>
                <a:latin typeface="Calibri"/>
              </a:rPr>
              <a:t>  bullets</a:t>
            </a:r>
          </a:p>
        </p:txBody>
      </p:sp>
      <p:sp>
        <p:nvSpPr>
          <p:cNvPr id="15" name="TextBox 14"/>
          <p:cNvSpPr txBox="1"/>
          <p:nvPr/>
        </p:nvSpPr>
        <p:spPr>
          <a:xfrm>
            <a:off x="6419088" y="2788920"/>
            <a:ext cx="2286000" cy="320040"/>
          </a:xfrm>
          <a:prstGeom prst="rect">
            <a:avLst/>
          </a:prstGeom>
          <a:noFill/>
        </p:spPr>
        <p:txBody>
          <a:bodyPr wrap="square" anchor="t" lIns="0" rIns="0" tIns="0" bIns="0">
            <a:spAutoFit/>
          </a:bodyPr>
          <a:lstStyle/>
          <a:p>
            <a:pPr algn="l"/>
            <a:r>
              <a:rPr sz="1100" b="0" i="0">
                <a:solidFill>
                  <a:srgbClr val="5C6B73"/>
                </a:solidFill>
                <a:latin typeface="Calibri"/>
              </a:rPr>
              <a:t>68 helpful votes · 5 flagged harmful</a:t>
            </a:r>
          </a:p>
        </p:txBody>
      </p:sp>
      <p:sp>
        <p:nvSpPr>
          <p:cNvPr id="16" name="Rounded Rectangle 15"/>
          <p:cNvSpPr/>
          <p:nvPr/>
        </p:nvSpPr>
        <p:spPr>
          <a:xfrm>
            <a:off x="9052560" y="1600200"/>
            <a:ext cx="2606040" cy="1691640"/>
          </a:xfrm>
          <a:prstGeom prst="roundRect">
            <a:avLst>
              <a:gd name="adj" fmla="val 4324"/>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253728" y="1737360"/>
            <a:ext cx="2194560" cy="274320"/>
          </a:xfrm>
          <a:prstGeom prst="rect">
            <a:avLst/>
          </a:prstGeom>
          <a:noFill/>
        </p:spPr>
        <p:txBody>
          <a:bodyPr wrap="square" anchor="t" lIns="0" rIns="0" tIns="0" bIns="0">
            <a:spAutoFit/>
          </a:bodyPr>
          <a:lstStyle/>
          <a:p>
            <a:pPr algn="l"/>
            <a:r>
              <a:rPr sz="1100" b="1" i="0">
                <a:solidFill>
                  <a:srgbClr val="5C6B73"/>
                </a:solidFill>
                <a:latin typeface="Calibri"/>
              </a:rPr>
              <a:t>ONLINE · GT ✗</a:t>
            </a:r>
          </a:p>
        </p:txBody>
      </p:sp>
      <p:sp>
        <p:nvSpPr>
          <p:cNvPr id="18" name="TextBox 17"/>
          <p:cNvSpPr txBox="1"/>
          <p:nvPr/>
        </p:nvSpPr>
        <p:spPr>
          <a:xfrm>
            <a:off x="9253728" y="2011680"/>
            <a:ext cx="2286000" cy="685800"/>
          </a:xfrm>
          <a:prstGeom prst="rect">
            <a:avLst/>
          </a:prstGeom>
          <a:noFill/>
        </p:spPr>
        <p:txBody>
          <a:bodyPr wrap="square" anchor="ctr" lIns="0" rIns="0" tIns="0" bIns="0">
            <a:spAutoFit/>
          </a:bodyPr>
          <a:lstStyle/>
          <a:p>
            <a:pPr algn="l"/>
            <a:r>
              <a:rPr sz="4000" b="1" i="0">
                <a:solidFill>
                  <a:srgbClr val="1B2A33"/>
                </a:solidFill>
                <a:latin typeface="Cambria"/>
              </a:rPr>
              <a:t>50</a:t>
            </a:r>
            <a:r>
              <a:rPr sz="1300" b="0" i="0">
                <a:solidFill>
                  <a:srgbClr val="5C6B73"/>
                </a:solidFill>
                <a:latin typeface="Calibri"/>
              </a:rPr>
              <a:t>  bullets</a:t>
            </a:r>
          </a:p>
        </p:txBody>
      </p:sp>
      <p:sp>
        <p:nvSpPr>
          <p:cNvPr id="19" name="TextBox 18"/>
          <p:cNvSpPr txBox="1"/>
          <p:nvPr/>
        </p:nvSpPr>
        <p:spPr>
          <a:xfrm>
            <a:off x="9253728" y="2788920"/>
            <a:ext cx="2286000" cy="320040"/>
          </a:xfrm>
          <a:prstGeom prst="rect">
            <a:avLst/>
          </a:prstGeom>
          <a:noFill/>
        </p:spPr>
        <p:txBody>
          <a:bodyPr wrap="square" anchor="t" lIns="0" rIns="0" tIns="0" bIns="0">
            <a:spAutoFit/>
          </a:bodyPr>
          <a:lstStyle/>
          <a:p>
            <a:pPr algn="l"/>
            <a:r>
              <a:rPr sz="1100" b="0" i="0">
                <a:solidFill>
                  <a:srgbClr val="5C6B73"/>
                </a:solidFill>
                <a:latin typeface="Calibri"/>
              </a:rPr>
              <a:t>84 helpful votes · 0 flagged harmful</a:t>
            </a:r>
          </a:p>
        </p:txBody>
      </p:sp>
      <p:sp>
        <p:nvSpPr>
          <p:cNvPr id="20" name="Rounded Rectangle 19"/>
          <p:cNvSpPr/>
          <p:nvPr/>
        </p:nvSpPr>
        <p:spPr>
          <a:xfrm>
            <a:off x="548640" y="3611880"/>
            <a:ext cx="5440680" cy="2240280"/>
          </a:xfrm>
          <a:prstGeom prst="roundRect">
            <a:avLst>
              <a:gd name="adj" fmla="val 3265"/>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59" y="3767328"/>
            <a:ext cx="2377440" cy="731520"/>
          </a:xfrm>
          <a:prstGeom prst="rect">
            <a:avLst/>
          </a:prstGeom>
          <a:noFill/>
        </p:spPr>
        <p:txBody>
          <a:bodyPr wrap="square" anchor="ctr" lIns="0" rIns="0" tIns="0" bIns="0">
            <a:spAutoFit/>
          </a:bodyPr>
          <a:lstStyle/>
          <a:p>
            <a:pPr algn="l"/>
            <a:r>
              <a:rPr sz="3600" b="1" i="0">
                <a:solidFill>
                  <a:srgbClr val="D1495B"/>
                </a:solidFill>
                <a:latin typeface="Cambria"/>
              </a:rPr>
              <a:t>198/200</a:t>
            </a:r>
          </a:p>
        </p:txBody>
      </p:sp>
      <p:sp>
        <p:nvSpPr>
          <p:cNvPr id="22" name="TextBox 21"/>
          <p:cNvSpPr txBox="1"/>
          <p:nvPr/>
        </p:nvSpPr>
        <p:spPr>
          <a:xfrm>
            <a:off x="3246120" y="3767328"/>
            <a:ext cx="2514600" cy="731520"/>
          </a:xfrm>
          <a:prstGeom prst="rect">
            <a:avLst/>
          </a:prstGeom>
          <a:noFill/>
        </p:spPr>
        <p:txBody>
          <a:bodyPr wrap="square" anchor="ctr" lIns="0" rIns="0" tIns="0" bIns="0">
            <a:spAutoFit/>
          </a:bodyPr>
          <a:lstStyle/>
          <a:p>
            <a:pPr algn="l"/>
            <a:r>
              <a:rPr sz="1700" b="1" i="0">
                <a:solidFill>
                  <a:srgbClr val="1B2A33"/>
                </a:solidFill>
                <a:latin typeface="Cambria"/>
              </a:rPr>
              <a:t>bullets sit in a single section</a:t>
            </a:r>
          </a:p>
        </p:txBody>
      </p:sp>
      <p:sp>
        <p:nvSpPr>
          <p:cNvPr id="23" name="TextBox 22"/>
          <p:cNvSpPr txBox="1"/>
          <p:nvPr/>
        </p:nvSpPr>
        <p:spPr>
          <a:xfrm>
            <a:off x="822959" y="4663440"/>
            <a:ext cx="4892040" cy="1097280"/>
          </a:xfrm>
          <a:prstGeom prst="rect">
            <a:avLst/>
          </a:prstGeom>
          <a:noFill/>
        </p:spPr>
        <p:txBody>
          <a:bodyPr wrap="square" anchor="t" lIns="0" rIns="0" tIns="0" bIns="0">
            <a:spAutoFit/>
          </a:bodyPr>
          <a:lstStyle/>
          <a:p>
            <a:pPr algn="l"/>
            <a:r>
              <a:rPr sz="1300" b="0" i="0">
                <a:solidFill>
                  <a:srgbClr val="1B2A33"/>
                </a:solidFill>
                <a:latin typeface="Calibri"/>
              </a:rPr>
              <a:t>Almost every insight is filed under FORMULAS &amp; CALCULATIONS, a section inherited from ACE’s finance-task template. Strategies, heuristics, common mistakes and context clues stay nearly empty.</a:t>
            </a:r>
          </a:p>
        </p:txBody>
      </p:sp>
      <p:sp>
        <p:nvSpPr>
          <p:cNvPr id="24" name="Rounded Rectangle 23"/>
          <p:cNvSpPr/>
          <p:nvPr/>
        </p:nvSpPr>
        <p:spPr>
          <a:xfrm>
            <a:off x="6355080" y="3611880"/>
            <a:ext cx="5440680" cy="2240280"/>
          </a:xfrm>
          <a:prstGeom prst="roundRect">
            <a:avLst>
              <a:gd name="adj" fmla="val 3265"/>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29400" y="3767328"/>
            <a:ext cx="2377440" cy="731520"/>
          </a:xfrm>
          <a:prstGeom prst="rect">
            <a:avLst/>
          </a:prstGeom>
          <a:noFill/>
        </p:spPr>
        <p:txBody>
          <a:bodyPr wrap="square" anchor="ctr" lIns="0" rIns="0" tIns="0" bIns="0">
            <a:spAutoFit/>
          </a:bodyPr>
          <a:lstStyle/>
          <a:p>
            <a:pPr algn="l"/>
            <a:r>
              <a:rPr sz="3600" b="1" i="0">
                <a:solidFill>
                  <a:srgbClr val="D1495B"/>
                </a:solidFill>
                <a:latin typeface="Cambria"/>
              </a:rPr>
              <a:t>9×</a:t>
            </a:r>
          </a:p>
        </p:txBody>
      </p:sp>
      <p:sp>
        <p:nvSpPr>
          <p:cNvPr id="26" name="TextBox 25"/>
          <p:cNvSpPr txBox="1"/>
          <p:nvPr/>
        </p:nvSpPr>
        <p:spPr>
          <a:xfrm>
            <a:off x="9052560" y="3767328"/>
            <a:ext cx="2514600" cy="731520"/>
          </a:xfrm>
          <a:prstGeom prst="rect">
            <a:avLst/>
          </a:prstGeom>
          <a:noFill/>
        </p:spPr>
        <p:txBody>
          <a:bodyPr wrap="square" anchor="ctr" lIns="0" rIns="0" tIns="0" bIns="0">
            <a:spAutoFit/>
          </a:bodyPr>
          <a:lstStyle/>
          <a:p>
            <a:pPr algn="l"/>
            <a:r>
              <a:rPr sz="1700" b="1" i="0">
                <a:solidFill>
                  <a:srgbClr val="1B2A33"/>
                </a:solidFill>
                <a:latin typeface="Cambria"/>
              </a:rPr>
              <a:t>the same stress formula, re-added</a:t>
            </a:r>
          </a:p>
        </p:txBody>
      </p:sp>
      <p:sp>
        <p:nvSpPr>
          <p:cNvPr id="27" name="TextBox 26"/>
          <p:cNvSpPr txBox="1"/>
          <p:nvPr/>
        </p:nvSpPr>
        <p:spPr>
          <a:xfrm>
            <a:off x="6629400" y="4663440"/>
            <a:ext cx="4892040" cy="1097280"/>
          </a:xfrm>
          <a:prstGeom prst="rect">
            <a:avLst/>
          </a:prstGeom>
          <a:noFill/>
        </p:spPr>
        <p:txBody>
          <a:bodyPr wrap="square" anchor="t" lIns="0" rIns="0" tIns="0" bIns="0">
            <a:spAutoFit/>
          </a:bodyPr>
          <a:lstStyle/>
          <a:p>
            <a:pPr algn="l"/>
            <a:r>
              <a:rPr sz="1300" b="0" i="0">
                <a:solidFill>
                  <a:srgbClr val="1B2A33"/>
                </a:solidFill>
                <a:latin typeface="Calibri"/>
              </a:rPr>
              <a:t>Offline GT ✓ holds nine near-identical copies of one five-factor stress formula. The top bullet collects 22–37 helpful votes while most stay near zero; this configuration runs no deduplication step.</a:t>
            </a:r>
          </a:p>
        </p:txBody>
      </p:sp>
      <p:sp>
        <p:nvSpPr>
          <p:cNvPr id="28" name="TextBox 27"/>
          <p:cNvSpPr txBox="1"/>
          <p:nvPr/>
        </p:nvSpPr>
        <p:spPr>
          <a:xfrm>
            <a:off x="548640" y="6355080"/>
            <a:ext cx="11094415" cy="320040"/>
          </a:xfrm>
          <a:prstGeom prst="rect">
            <a:avLst/>
          </a:prstGeom>
          <a:noFill/>
        </p:spPr>
        <p:txBody>
          <a:bodyPr wrap="square" anchor="t" lIns="0" rIns="0" tIns="0" bIns="0">
            <a:spAutoFit/>
          </a:bodyPr>
          <a:lstStyle/>
          <a:p>
            <a:pPr algn="l"/>
            <a:r>
              <a:rPr sz="1000" b="0" i="0">
                <a:solidFill>
                  <a:srgbClr val="5C6B73"/>
                </a:solidFill>
                <a:latin typeface="Calibri"/>
              </a:rPr>
              <a:t>helpful / harmful are ACE’s per-bullet counters, updated from Reflector feedback. Seed 42 shown for every condition, fixed before viewing.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94415" cy="685800"/>
          </a:xfrm>
          <a:prstGeom prst="rect">
            <a:avLst/>
          </a:prstGeom>
          <a:noFill/>
        </p:spPr>
        <p:txBody>
          <a:bodyPr wrap="square" anchor="t" lIns="0" rIns="0" tIns="0" bIns="0">
            <a:spAutoFit/>
          </a:bodyPr>
          <a:lstStyle/>
          <a:p>
            <a:pPr algn="l"/>
            <a:r>
              <a:rPr sz="2800" b="1" i="0">
                <a:solidFill>
                  <a:srgbClr val="1B2A33"/>
                </a:solidFill>
                <a:latin typeface="Cambria"/>
              </a:rPr>
              <a:t>Offline ACE with GT: the model invents a stress score</a:t>
            </a:r>
          </a:p>
        </p:txBody>
      </p:sp>
      <p:sp>
        <p:nvSpPr>
          <p:cNvPr id="3" name="TextBox 2"/>
          <p:cNvSpPr txBox="1"/>
          <p:nvPr/>
        </p:nvSpPr>
        <p:spPr>
          <a:xfrm>
            <a:off x="548640" y="1024128"/>
            <a:ext cx="11094415" cy="320040"/>
          </a:xfrm>
          <a:prstGeom prst="rect">
            <a:avLst/>
          </a:prstGeom>
          <a:noFill/>
        </p:spPr>
        <p:txBody>
          <a:bodyPr wrap="square" anchor="t" lIns="0" rIns="0" tIns="0" bIns="0">
            <a:spAutoFit/>
          </a:bodyPr>
          <a:lstStyle/>
          <a:p>
            <a:pPr algn="l"/>
            <a:r>
              <a:rPr sz="1300" b="0" i="0">
                <a:solidFill>
                  <a:srgbClr val="5C6B73"/>
                </a:solidFill>
                <a:latin typeface="Calibri"/>
              </a:rPr>
              <a:t>Playbook learned from 100 labeled training posts, then frozen for the test posts</a:t>
            </a:r>
          </a:p>
        </p:txBody>
      </p:sp>
      <p:sp>
        <p:nvSpPr>
          <p:cNvPr id="4" name="Rounded Rectangle 3"/>
          <p:cNvSpPr/>
          <p:nvPr/>
        </p:nvSpPr>
        <p:spPr>
          <a:xfrm>
            <a:off x="548640" y="1508760"/>
            <a:ext cx="5486400" cy="4617720"/>
          </a:xfrm>
          <a:prstGeom prst="roundRect">
            <a:avLst>
              <a:gd name="adj" fmla="val 1584"/>
            </a:avLst>
          </a:prstGeom>
          <a:solidFill>
            <a:srgbClr val="FBE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737360"/>
            <a:ext cx="4937760" cy="320040"/>
          </a:xfrm>
          <a:prstGeom prst="rect">
            <a:avLst/>
          </a:prstGeom>
          <a:noFill/>
        </p:spPr>
        <p:txBody>
          <a:bodyPr wrap="square" anchor="t" lIns="0" rIns="0" tIns="0" bIns="0">
            <a:spAutoFit/>
          </a:bodyPr>
          <a:lstStyle/>
          <a:p>
            <a:pPr algn="l"/>
            <a:r>
              <a:rPr sz="1300" b="1" i="0">
                <a:solidFill>
                  <a:srgbClr val="1B2A33"/>
                </a:solidFill>
                <a:latin typeface="Courier New"/>
              </a:rPr>
              <a:t>[calc-00001]</a:t>
            </a:r>
            <a:r>
              <a:rPr sz="1300" b="0" i="0">
                <a:solidFill>
                  <a:srgbClr val="5C6B73"/>
                </a:solidFill>
                <a:latin typeface="Calibri"/>
              </a:rPr>
              <a:t>   helpful 26 · harmful 0</a:t>
            </a:r>
          </a:p>
        </p:txBody>
      </p:sp>
      <p:sp>
        <p:nvSpPr>
          <p:cNvPr id="6" name="TextBox 5"/>
          <p:cNvSpPr txBox="1"/>
          <p:nvPr/>
        </p:nvSpPr>
        <p:spPr>
          <a:xfrm>
            <a:off x="822960" y="2194560"/>
            <a:ext cx="4937760" cy="2377440"/>
          </a:xfrm>
          <a:prstGeom prst="rect">
            <a:avLst/>
          </a:prstGeom>
          <a:noFill/>
        </p:spPr>
        <p:txBody>
          <a:bodyPr wrap="square" anchor="t" lIns="0" rIns="0" tIns="0" bIns="0">
            <a:spAutoFit/>
          </a:bodyPr>
          <a:lstStyle/>
          <a:p>
            <a:pPr algn="l"/>
            <a:r>
              <a:rPr sz="2000" b="0" i="0">
                <a:solidFill>
                  <a:srgbClr val="1B2A33"/>
                </a:solidFill>
                <a:latin typeface="Calibri"/>
              </a:rPr>
              <a:t>Stress Level Calculation: Stress Level = (Uncertainty Score + Seeking Advice Score + Decision Complexity Score) / 3. If the result is ≤ 1.5, classify as 0 (no stress); if ≥ 2.5, classify as 1 (stress).</a:t>
            </a:r>
          </a:p>
        </p:txBody>
      </p:sp>
      <p:sp>
        <p:nvSpPr>
          <p:cNvPr id="7" name="TextBox 6"/>
          <p:cNvSpPr txBox="1"/>
          <p:nvPr/>
        </p:nvSpPr>
        <p:spPr>
          <a:xfrm>
            <a:off x="822960" y="4800600"/>
            <a:ext cx="4937760" cy="1188720"/>
          </a:xfrm>
          <a:prstGeom prst="rect">
            <a:avLst/>
          </a:prstGeom>
          <a:noFill/>
        </p:spPr>
        <p:txBody>
          <a:bodyPr wrap="square" anchor="t" lIns="0" rIns="0" tIns="0" bIns="0">
            <a:spAutoFit/>
          </a:bodyPr>
          <a:lstStyle/>
          <a:p>
            <a:pPr algn="l"/>
            <a:r>
              <a:rPr sz="1300" b="0" i="1">
                <a:solidFill>
                  <a:srgbClr val="5C6B73"/>
                </a:solidFill>
                <a:latin typeface="Calibri"/>
              </a:rPr>
              <a:t>The most-used bullet: an average of three hand-named scores with fixed thresholds. Nothing in the task asked for a numeric score; the formula section invited one.</a:t>
            </a:r>
          </a:p>
        </p:txBody>
      </p:sp>
      <p:sp>
        <p:nvSpPr>
          <p:cNvPr id="8" name="TextBox 7"/>
          <p:cNvSpPr txBox="1"/>
          <p:nvPr/>
        </p:nvSpPr>
        <p:spPr>
          <a:xfrm>
            <a:off x="6355080" y="1463040"/>
            <a:ext cx="5303520" cy="365760"/>
          </a:xfrm>
          <a:prstGeom prst="rect">
            <a:avLst/>
          </a:prstGeom>
          <a:noFill/>
        </p:spPr>
        <p:txBody>
          <a:bodyPr wrap="square" anchor="t" lIns="0" rIns="0" tIns="0" bIns="0">
            <a:spAutoFit/>
          </a:bodyPr>
          <a:lstStyle/>
          <a:p>
            <a:pPr algn="l"/>
            <a:r>
              <a:rPr sz="1700" b="1" i="0">
                <a:solidFill>
                  <a:srgbClr val="1B2A33"/>
                </a:solidFill>
                <a:latin typeface="Cambria"/>
              </a:rPr>
              <a:t>…then keeps re-deriving it</a:t>
            </a:r>
          </a:p>
        </p:txBody>
      </p:sp>
      <p:sp>
        <p:nvSpPr>
          <p:cNvPr id="9" name="Rounded Rectangle 8"/>
          <p:cNvSpPr/>
          <p:nvPr/>
        </p:nvSpPr>
        <p:spPr>
          <a:xfrm>
            <a:off x="6355080" y="1920240"/>
            <a:ext cx="5303520" cy="987552"/>
          </a:xfrm>
          <a:prstGeom prst="roundRect">
            <a:avLst>
              <a:gd name="adj" fmla="val 7407"/>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37960" y="2029968"/>
            <a:ext cx="4937759" cy="274320"/>
          </a:xfrm>
          <a:prstGeom prst="rect">
            <a:avLst/>
          </a:prstGeom>
          <a:noFill/>
        </p:spPr>
        <p:txBody>
          <a:bodyPr wrap="square" anchor="t" lIns="0" rIns="0" tIns="0" bIns="0">
            <a:spAutoFit/>
          </a:bodyPr>
          <a:lstStyle/>
          <a:p>
            <a:pPr algn="l"/>
            <a:r>
              <a:rPr sz="1100" b="1" i="0">
                <a:solidFill>
                  <a:srgbClr val="1B2A33"/>
                </a:solidFill>
                <a:latin typeface="Courier New"/>
              </a:rPr>
              <a:t>[calc-00007]</a:t>
            </a:r>
            <a:r>
              <a:rPr sz="1100" b="0" i="0">
                <a:solidFill>
                  <a:srgbClr val="5C6B73"/>
                </a:solidFill>
                <a:latin typeface="Calibri"/>
              </a:rPr>
              <a:t>   helpful 11 · harmful 0</a:t>
            </a:r>
          </a:p>
        </p:txBody>
      </p:sp>
      <p:sp>
        <p:nvSpPr>
          <p:cNvPr id="11" name="TextBox 10"/>
          <p:cNvSpPr txBox="1"/>
          <p:nvPr/>
        </p:nvSpPr>
        <p:spPr>
          <a:xfrm>
            <a:off x="6537960" y="2331720"/>
            <a:ext cx="4937759" cy="484632"/>
          </a:xfrm>
          <a:prstGeom prst="rect">
            <a:avLst/>
          </a:prstGeom>
          <a:noFill/>
        </p:spPr>
        <p:txBody>
          <a:bodyPr wrap="square" anchor="t" lIns="0" rIns="0" tIns="0" bIns="0">
            <a:spAutoFit/>
          </a:bodyPr>
          <a:lstStyle/>
          <a:p>
            <a:pPr algn="l"/>
            <a:r>
              <a:rPr sz="1150" b="0" i="0">
                <a:solidFill>
                  <a:srgbClr val="1B2A33"/>
                </a:solidFill>
                <a:latin typeface="Calibri"/>
              </a:rPr>
              <a:t>Stress Level = (Uncertainty Score + Seeking Advice Score + Decision Complexity Score + Emotional Language Intensity Score + Contextual Stress Indicator Score) / 5. If the …</a:t>
            </a:r>
          </a:p>
        </p:txBody>
      </p:sp>
      <p:sp>
        <p:nvSpPr>
          <p:cNvPr id="12" name="Rounded Rectangle 11"/>
          <p:cNvSpPr/>
          <p:nvPr/>
        </p:nvSpPr>
        <p:spPr>
          <a:xfrm>
            <a:off x="6355080" y="2999232"/>
            <a:ext cx="5303520" cy="987552"/>
          </a:xfrm>
          <a:prstGeom prst="roundRect">
            <a:avLst>
              <a:gd name="adj" fmla="val 7407"/>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37960" y="3108960"/>
            <a:ext cx="4937759" cy="274320"/>
          </a:xfrm>
          <a:prstGeom prst="rect">
            <a:avLst/>
          </a:prstGeom>
          <a:noFill/>
        </p:spPr>
        <p:txBody>
          <a:bodyPr wrap="square" anchor="t" lIns="0" rIns="0" tIns="0" bIns="0">
            <a:spAutoFit/>
          </a:bodyPr>
          <a:lstStyle/>
          <a:p>
            <a:pPr algn="l"/>
            <a:r>
              <a:rPr sz="1100" b="1" i="0">
                <a:solidFill>
                  <a:srgbClr val="1B2A33"/>
                </a:solidFill>
                <a:latin typeface="Courier New"/>
              </a:rPr>
              <a:t>[calc-00013]</a:t>
            </a:r>
            <a:r>
              <a:rPr sz="1100" b="0" i="0">
                <a:solidFill>
                  <a:srgbClr val="5C6B73"/>
                </a:solidFill>
                <a:latin typeface="Calibri"/>
              </a:rPr>
              <a:t>   helpful 5 · harmful 0</a:t>
            </a:r>
          </a:p>
        </p:txBody>
      </p:sp>
      <p:sp>
        <p:nvSpPr>
          <p:cNvPr id="14" name="TextBox 13"/>
          <p:cNvSpPr txBox="1"/>
          <p:nvPr/>
        </p:nvSpPr>
        <p:spPr>
          <a:xfrm>
            <a:off x="6537960" y="3410712"/>
            <a:ext cx="4937759" cy="484632"/>
          </a:xfrm>
          <a:prstGeom prst="rect">
            <a:avLst/>
          </a:prstGeom>
          <a:noFill/>
        </p:spPr>
        <p:txBody>
          <a:bodyPr wrap="square" anchor="t" lIns="0" rIns="0" tIns="0" bIns="0">
            <a:spAutoFit/>
          </a:bodyPr>
          <a:lstStyle/>
          <a:p>
            <a:pPr algn="l"/>
            <a:r>
              <a:rPr sz="1150" b="0" i="0">
                <a:solidFill>
                  <a:srgbClr val="1B2A33"/>
                </a:solidFill>
                <a:latin typeface="Calibri"/>
              </a:rPr>
              <a:t>Stress Level = (Uncertainty Score + Seeking Advice Score + Decision Complexity Score + Emotional Language Intensity Score + Contextual Stress Indicator Score) / 5. If the …</a:t>
            </a:r>
          </a:p>
        </p:txBody>
      </p:sp>
      <p:sp>
        <p:nvSpPr>
          <p:cNvPr id="15" name="Rounded Rectangle 14"/>
          <p:cNvSpPr/>
          <p:nvPr/>
        </p:nvSpPr>
        <p:spPr>
          <a:xfrm>
            <a:off x="6355080" y="4078224"/>
            <a:ext cx="5303520" cy="987552"/>
          </a:xfrm>
          <a:prstGeom prst="roundRect">
            <a:avLst>
              <a:gd name="adj" fmla="val 7407"/>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37960" y="4187952"/>
            <a:ext cx="4937759" cy="274320"/>
          </a:xfrm>
          <a:prstGeom prst="rect">
            <a:avLst/>
          </a:prstGeom>
          <a:noFill/>
        </p:spPr>
        <p:txBody>
          <a:bodyPr wrap="square" anchor="t" lIns="0" rIns="0" tIns="0" bIns="0">
            <a:spAutoFit/>
          </a:bodyPr>
          <a:lstStyle/>
          <a:p>
            <a:pPr algn="l"/>
            <a:r>
              <a:rPr sz="1100" b="1" i="0">
                <a:solidFill>
                  <a:srgbClr val="1B2A33"/>
                </a:solidFill>
                <a:latin typeface="Courier New"/>
              </a:rPr>
              <a:t>[calc-00024]</a:t>
            </a:r>
            <a:r>
              <a:rPr sz="1100" b="0" i="0">
                <a:solidFill>
                  <a:srgbClr val="5C6B73"/>
                </a:solidFill>
                <a:latin typeface="Calibri"/>
              </a:rPr>
              <a:t>   helpful 4 · harmful 0</a:t>
            </a:r>
          </a:p>
        </p:txBody>
      </p:sp>
      <p:sp>
        <p:nvSpPr>
          <p:cNvPr id="17" name="TextBox 16"/>
          <p:cNvSpPr txBox="1"/>
          <p:nvPr/>
        </p:nvSpPr>
        <p:spPr>
          <a:xfrm>
            <a:off x="6537960" y="4489704"/>
            <a:ext cx="4937759" cy="484632"/>
          </a:xfrm>
          <a:prstGeom prst="rect">
            <a:avLst/>
          </a:prstGeom>
          <a:noFill/>
        </p:spPr>
        <p:txBody>
          <a:bodyPr wrap="square" anchor="t" lIns="0" rIns="0" tIns="0" bIns="0">
            <a:spAutoFit/>
          </a:bodyPr>
          <a:lstStyle/>
          <a:p>
            <a:pPr algn="l"/>
            <a:r>
              <a:rPr sz="1150" b="0" i="0">
                <a:solidFill>
                  <a:srgbClr val="1B2A33"/>
                </a:solidFill>
                <a:latin typeface="Calibri"/>
              </a:rPr>
              <a:t>Stress Level = (Uncertainty Score + Seeking Advice Score + Decision Complexity Score + Emotional Language Intensity Score + Contextual Stress Indicator Score) / 5. If the …</a:t>
            </a:r>
          </a:p>
        </p:txBody>
      </p:sp>
      <p:sp>
        <p:nvSpPr>
          <p:cNvPr id="18" name="Rounded Rectangle 17"/>
          <p:cNvSpPr/>
          <p:nvPr/>
        </p:nvSpPr>
        <p:spPr>
          <a:xfrm>
            <a:off x="6355080" y="5193792"/>
            <a:ext cx="5303520" cy="932688"/>
          </a:xfrm>
          <a:prstGeom prst="roundRect">
            <a:avLst>
              <a:gd name="adj" fmla="val 7843"/>
            </a:avLst>
          </a:prstGeom>
          <a:solidFill>
            <a:srgbClr val="FBE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37960" y="5303520"/>
            <a:ext cx="4937759" cy="274320"/>
          </a:xfrm>
          <a:prstGeom prst="rect">
            <a:avLst/>
          </a:prstGeom>
          <a:noFill/>
        </p:spPr>
        <p:txBody>
          <a:bodyPr wrap="square" anchor="t" lIns="0" rIns="0" tIns="0" bIns="0">
            <a:spAutoFit/>
          </a:bodyPr>
          <a:lstStyle/>
          <a:p>
            <a:pPr algn="l"/>
            <a:r>
              <a:rPr sz="1100" b="1" i="0">
                <a:solidFill>
                  <a:srgbClr val="1B2A33"/>
                </a:solidFill>
                <a:latin typeface="Courier New"/>
              </a:rPr>
              <a:t>[ctx-00002]</a:t>
            </a:r>
            <a:r>
              <a:rPr sz="1100" b="1" i="0">
                <a:solidFill>
                  <a:srgbClr val="D1495B"/>
                </a:solidFill>
                <a:latin typeface="Calibri"/>
              </a:rPr>
              <a:t>   helpful 8 · harmful 10  (flagged)</a:t>
            </a:r>
          </a:p>
        </p:txBody>
      </p:sp>
      <p:sp>
        <p:nvSpPr>
          <p:cNvPr id="20" name="TextBox 19"/>
          <p:cNvSpPr txBox="1"/>
          <p:nvPr/>
        </p:nvSpPr>
        <p:spPr>
          <a:xfrm>
            <a:off x="6537960" y="5605272"/>
            <a:ext cx="4937759" cy="429768"/>
          </a:xfrm>
          <a:prstGeom prst="rect">
            <a:avLst/>
          </a:prstGeom>
          <a:noFill/>
        </p:spPr>
        <p:txBody>
          <a:bodyPr wrap="square" anchor="t" lIns="0" rIns="0" tIns="0" bIns="0">
            <a:spAutoFit/>
          </a:bodyPr>
          <a:lstStyle/>
          <a:p>
            <a:pPr algn="l"/>
            <a:r>
              <a:rPr sz="1150" b="0" i="0">
                <a:solidFill>
                  <a:srgbClr val="1B2A33"/>
                </a:solidFill>
                <a:latin typeface="Calibri"/>
              </a:rPr>
              <a:t>Identify stress through emotional language and contextual cues, such as phrases like “…” or “…”, which indicate emotional distress and anxiety.</a:t>
            </a:r>
          </a:p>
        </p:txBody>
      </p:sp>
      <p:sp>
        <p:nvSpPr>
          <p:cNvPr id="21" name="TextBox 20"/>
          <p:cNvSpPr txBox="1"/>
          <p:nvPr/>
        </p:nvSpPr>
        <p:spPr>
          <a:xfrm>
            <a:off x="548640" y="6355080"/>
            <a:ext cx="11094415" cy="320040"/>
          </a:xfrm>
          <a:prstGeom prst="rect">
            <a:avLst/>
          </a:prstGeom>
          <a:noFill/>
        </p:spPr>
        <p:txBody>
          <a:bodyPr wrap="square" anchor="t" lIns="0" rIns="0" tIns="0" bIns="0">
            <a:spAutoFit/>
          </a:bodyPr>
          <a:lstStyle/>
          <a:p>
            <a:pPr algn="l"/>
            <a:r>
              <a:rPr sz="1000" b="0" i="0">
                <a:solidFill>
                  <a:srgbClr val="5C6B73"/>
                </a:solidFill>
                <a:latin typeface="Calibri"/>
              </a:rPr>
              <a:t>Seed 42 shown for every condition, fixed before viewing. Bullet text verbatim; multi-word quotations of source posts replaced with “…”; long bullets truncated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94415" cy="685800"/>
          </a:xfrm>
          <a:prstGeom prst="rect">
            <a:avLst/>
          </a:prstGeom>
          <a:noFill/>
        </p:spPr>
        <p:txBody>
          <a:bodyPr wrap="square" anchor="t" lIns="0" rIns="0" tIns="0" bIns="0">
            <a:spAutoFit/>
          </a:bodyPr>
          <a:lstStyle/>
          <a:p>
            <a:pPr algn="l"/>
            <a:r>
              <a:rPr sz="2800" b="1" i="0">
                <a:solidFill>
                  <a:srgbClr val="1B2A33"/>
                </a:solidFill>
                <a:latin typeface="Cambria"/>
              </a:rPr>
              <a:t>Offline ACE without GT: qualitative cues instead of formulas</a:t>
            </a:r>
          </a:p>
        </p:txBody>
      </p:sp>
      <p:sp>
        <p:nvSpPr>
          <p:cNvPr id="3" name="TextBox 2"/>
          <p:cNvSpPr txBox="1"/>
          <p:nvPr/>
        </p:nvSpPr>
        <p:spPr>
          <a:xfrm>
            <a:off x="548640" y="1024128"/>
            <a:ext cx="11094415" cy="320040"/>
          </a:xfrm>
          <a:prstGeom prst="rect">
            <a:avLst/>
          </a:prstGeom>
          <a:noFill/>
        </p:spPr>
        <p:txBody>
          <a:bodyPr wrap="square" anchor="t" lIns="0" rIns="0" tIns="0" bIns="0">
            <a:spAutoFit/>
          </a:bodyPr>
          <a:lstStyle/>
          <a:p>
            <a:pPr algn="l"/>
            <a:r>
              <a:rPr sz="1300" b="0" i="0">
                <a:solidFill>
                  <a:srgbClr val="5C6B73"/>
                </a:solidFill>
                <a:latin typeface="Calibri"/>
              </a:rPr>
              <a:t>Playbook learned from the same 100 training posts with no labels, only the model’s own reflection</a:t>
            </a:r>
          </a:p>
        </p:txBody>
      </p:sp>
      <p:sp>
        <p:nvSpPr>
          <p:cNvPr id="4" name="Rounded Rectangle 3"/>
          <p:cNvSpPr/>
          <p:nvPr/>
        </p:nvSpPr>
        <p:spPr>
          <a:xfrm>
            <a:off x="548640" y="1554480"/>
            <a:ext cx="5440680" cy="2194560"/>
          </a:xfrm>
          <a:prstGeom prst="roundRect">
            <a:avLst>
              <a:gd name="adj" fmla="val 3333"/>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64207"/>
            <a:ext cx="5074920" cy="274320"/>
          </a:xfrm>
          <a:prstGeom prst="rect">
            <a:avLst/>
          </a:prstGeom>
          <a:noFill/>
        </p:spPr>
        <p:txBody>
          <a:bodyPr wrap="square" anchor="t" lIns="0" rIns="0" tIns="0" bIns="0">
            <a:spAutoFit/>
          </a:bodyPr>
          <a:lstStyle/>
          <a:p>
            <a:pPr algn="l"/>
            <a:r>
              <a:rPr sz="1100" b="1" i="0">
                <a:solidFill>
                  <a:srgbClr val="1B2A33"/>
                </a:solidFill>
                <a:latin typeface="Courier New"/>
              </a:rPr>
              <a:t>[calc-00001]</a:t>
            </a:r>
            <a:r>
              <a:rPr sz="1100" b="0" i="0">
                <a:solidFill>
                  <a:srgbClr val="5C6B73"/>
                </a:solidFill>
                <a:latin typeface="Calibri"/>
              </a:rPr>
              <a:t>   helpful 37 · harmful 0</a:t>
            </a:r>
          </a:p>
        </p:txBody>
      </p:sp>
      <p:sp>
        <p:nvSpPr>
          <p:cNvPr id="6" name="TextBox 5"/>
          <p:cNvSpPr txBox="1"/>
          <p:nvPr/>
        </p:nvSpPr>
        <p:spPr>
          <a:xfrm>
            <a:off x="731520" y="1965960"/>
            <a:ext cx="5074920" cy="1691639"/>
          </a:xfrm>
          <a:prstGeom prst="rect">
            <a:avLst/>
          </a:prstGeom>
          <a:noFill/>
        </p:spPr>
        <p:txBody>
          <a:bodyPr wrap="square" anchor="t" lIns="0" rIns="0" tIns="0" bIns="0">
            <a:spAutoFit/>
          </a:bodyPr>
          <a:lstStyle/>
          <a:p>
            <a:pPr algn="l"/>
            <a:r>
              <a:rPr sz="1500" b="0" i="0">
                <a:solidFill>
                  <a:srgbClr val="1B2A33"/>
                </a:solidFill>
                <a:latin typeface="Calibri"/>
              </a:rPr>
              <a:t>Identify indirect signs of stress such as uncertainty, indecision, and seeking advice. These can be strong indicators of stress even if the author does not explicitly state it.</a:t>
            </a:r>
          </a:p>
        </p:txBody>
      </p:sp>
      <p:sp>
        <p:nvSpPr>
          <p:cNvPr id="7" name="Rounded Rectangle 6"/>
          <p:cNvSpPr/>
          <p:nvPr/>
        </p:nvSpPr>
        <p:spPr>
          <a:xfrm>
            <a:off x="6355079" y="1554480"/>
            <a:ext cx="5440680" cy="2194560"/>
          </a:xfrm>
          <a:prstGeom prst="roundRect">
            <a:avLst>
              <a:gd name="adj" fmla="val 3333"/>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37959" y="1664207"/>
            <a:ext cx="5074920" cy="274320"/>
          </a:xfrm>
          <a:prstGeom prst="rect">
            <a:avLst/>
          </a:prstGeom>
          <a:noFill/>
        </p:spPr>
        <p:txBody>
          <a:bodyPr wrap="square" anchor="t" lIns="0" rIns="0" tIns="0" bIns="0">
            <a:spAutoFit/>
          </a:bodyPr>
          <a:lstStyle/>
          <a:p>
            <a:pPr algn="l"/>
            <a:r>
              <a:rPr sz="1100" b="1" i="0">
                <a:solidFill>
                  <a:srgbClr val="1B2A33"/>
                </a:solidFill>
                <a:latin typeface="Courier New"/>
              </a:rPr>
              <a:t>[calc-00016]</a:t>
            </a:r>
            <a:r>
              <a:rPr sz="1100" b="0" i="0">
                <a:solidFill>
                  <a:srgbClr val="5C6B73"/>
                </a:solidFill>
                <a:latin typeface="Calibri"/>
              </a:rPr>
              <a:t>   helpful 20 · harmful 0</a:t>
            </a:r>
          </a:p>
        </p:txBody>
      </p:sp>
      <p:sp>
        <p:nvSpPr>
          <p:cNvPr id="9" name="TextBox 8"/>
          <p:cNvSpPr txBox="1"/>
          <p:nvPr/>
        </p:nvSpPr>
        <p:spPr>
          <a:xfrm>
            <a:off x="6537959" y="1965960"/>
            <a:ext cx="5074920" cy="1691639"/>
          </a:xfrm>
          <a:prstGeom prst="rect">
            <a:avLst/>
          </a:prstGeom>
          <a:noFill/>
        </p:spPr>
        <p:txBody>
          <a:bodyPr wrap="square" anchor="t" lIns="0" rIns="0" tIns="0" bIns="0">
            <a:spAutoFit/>
          </a:bodyPr>
          <a:lstStyle/>
          <a:p>
            <a:pPr algn="l"/>
            <a:r>
              <a:rPr sz="1500" b="0" i="0">
                <a:solidFill>
                  <a:srgbClr val="1B2A33"/>
                </a:solidFill>
                <a:latin typeface="Calibri"/>
              </a:rPr>
              <a:t>When the author explicitly expresses self-blame and self-hatred, prioritize these as the strongest indicators of stress, as they directly reflect emotional distress and align with the playbook's guidance to focus on the most direct and emotionally charged quotes.</a:t>
            </a:r>
          </a:p>
        </p:txBody>
      </p:sp>
      <p:sp>
        <p:nvSpPr>
          <p:cNvPr id="10" name="Rounded Rectangle 9"/>
          <p:cNvSpPr/>
          <p:nvPr/>
        </p:nvSpPr>
        <p:spPr>
          <a:xfrm>
            <a:off x="548640" y="3931920"/>
            <a:ext cx="5440680" cy="2194560"/>
          </a:xfrm>
          <a:prstGeom prst="roundRect">
            <a:avLst>
              <a:gd name="adj" fmla="val 3333"/>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4041648"/>
            <a:ext cx="5074920" cy="274320"/>
          </a:xfrm>
          <a:prstGeom prst="rect">
            <a:avLst/>
          </a:prstGeom>
          <a:noFill/>
        </p:spPr>
        <p:txBody>
          <a:bodyPr wrap="square" anchor="t" lIns="0" rIns="0" tIns="0" bIns="0">
            <a:spAutoFit/>
          </a:bodyPr>
          <a:lstStyle/>
          <a:p>
            <a:pPr algn="l"/>
            <a:r>
              <a:rPr sz="1100" b="1" i="0">
                <a:solidFill>
                  <a:srgbClr val="1B2A33"/>
                </a:solidFill>
                <a:latin typeface="Courier New"/>
              </a:rPr>
              <a:t>[calc-00017]</a:t>
            </a:r>
            <a:r>
              <a:rPr sz="1100" b="0" i="0">
                <a:solidFill>
                  <a:srgbClr val="5C6B73"/>
                </a:solidFill>
                <a:latin typeface="Calibri"/>
              </a:rPr>
              <a:t>   helpful 20 · harmful 0</a:t>
            </a:r>
          </a:p>
        </p:txBody>
      </p:sp>
      <p:sp>
        <p:nvSpPr>
          <p:cNvPr id="12" name="TextBox 11"/>
          <p:cNvSpPr txBox="1"/>
          <p:nvPr/>
        </p:nvSpPr>
        <p:spPr>
          <a:xfrm>
            <a:off x="731520" y="4343400"/>
            <a:ext cx="5074920" cy="1691639"/>
          </a:xfrm>
          <a:prstGeom prst="rect">
            <a:avLst/>
          </a:prstGeom>
          <a:noFill/>
        </p:spPr>
        <p:txBody>
          <a:bodyPr wrap="square" anchor="t" lIns="0" rIns="0" tIns="0" bIns="0">
            <a:spAutoFit/>
          </a:bodyPr>
          <a:lstStyle/>
          <a:p>
            <a:pPr algn="l"/>
            <a:r>
              <a:rPr sz="1500" b="0" i="0">
                <a:solidFill>
                  <a:srgbClr val="1B2A33"/>
                </a:solidFill>
                <a:latin typeface="Calibri"/>
              </a:rPr>
              <a:t>When the author explicitly expresses emotional distress (e.g., self-criticism, pain, crying in pain), prioritize these as the strongest indicators of stress, as they directly reflect the author's emotional state and align with the playbook's guidance to focus on the most direct and …</a:t>
            </a:r>
          </a:p>
        </p:txBody>
      </p:sp>
      <p:sp>
        <p:nvSpPr>
          <p:cNvPr id="13" name="Rounded Rectangle 12"/>
          <p:cNvSpPr/>
          <p:nvPr/>
        </p:nvSpPr>
        <p:spPr>
          <a:xfrm>
            <a:off x="6355079" y="3931920"/>
            <a:ext cx="5440680" cy="2194560"/>
          </a:xfrm>
          <a:prstGeom prst="roundRect">
            <a:avLst>
              <a:gd name="adj" fmla="val 3333"/>
            </a:avLst>
          </a:prstGeom>
          <a:solidFill>
            <a:srgbClr val="FBE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37959" y="4041648"/>
            <a:ext cx="5074920" cy="274320"/>
          </a:xfrm>
          <a:prstGeom prst="rect">
            <a:avLst/>
          </a:prstGeom>
          <a:noFill/>
        </p:spPr>
        <p:txBody>
          <a:bodyPr wrap="square" anchor="t" lIns="0" rIns="0" tIns="0" bIns="0">
            <a:spAutoFit/>
          </a:bodyPr>
          <a:lstStyle/>
          <a:p>
            <a:pPr algn="l"/>
            <a:r>
              <a:rPr sz="1100" b="1" i="0">
                <a:solidFill>
                  <a:srgbClr val="1B2A33"/>
                </a:solidFill>
                <a:latin typeface="Courier New"/>
              </a:rPr>
              <a:t>[calc-00002]</a:t>
            </a:r>
            <a:r>
              <a:rPr sz="1100" b="1" i="0">
                <a:solidFill>
                  <a:srgbClr val="D1495B"/>
                </a:solidFill>
                <a:latin typeface="Calibri"/>
              </a:rPr>
              <a:t>   helpful 3 · harmful 6  (flagged)</a:t>
            </a:r>
          </a:p>
        </p:txBody>
      </p:sp>
      <p:sp>
        <p:nvSpPr>
          <p:cNvPr id="15" name="TextBox 14"/>
          <p:cNvSpPr txBox="1"/>
          <p:nvPr/>
        </p:nvSpPr>
        <p:spPr>
          <a:xfrm>
            <a:off x="6537959" y="4343400"/>
            <a:ext cx="5074920" cy="1691639"/>
          </a:xfrm>
          <a:prstGeom prst="rect">
            <a:avLst/>
          </a:prstGeom>
          <a:noFill/>
        </p:spPr>
        <p:txBody>
          <a:bodyPr wrap="square" anchor="t" lIns="0" rIns="0" tIns="0" bIns="0">
            <a:spAutoFit/>
          </a:bodyPr>
          <a:lstStyle/>
          <a:p>
            <a:pPr algn="l"/>
            <a:r>
              <a:rPr sz="1500" b="0" i="0">
                <a:solidFill>
                  <a:srgbClr val="1B2A33"/>
                </a:solidFill>
                <a:latin typeface="Calibri"/>
              </a:rPr>
              <a:t>Consider both direct and indirect signs of stress, and evaluate the context of the text more thoroughly. Be aware that the presence of indirect signs may not be sufficient to label the text as stress without further contextual analysis.</a:t>
            </a:r>
          </a:p>
        </p:txBody>
      </p:sp>
      <p:sp>
        <p:nvSpPr>
          <p:cNvPr id="16" name="TextBox 15"/>
          <p:cNvSpPr txBox="1"/>
          <p:nvPr/>
        </p:nvSpPr>
        <p:spPr>
          <a:xfrm>
            <a:off x="548640" y="6355080"/>
            <a:ext cx="11094415" cy="320040"/>
          </a:xfrm>
          <a:prstGeom prst="rect">
            <a:avLst/>
          </a:prstGeom>
          <a:noFill/>
        </p:spPr>
        <p:txBody>
          <a:bodyPr wrap="square" anchor="t" lIns="0" rIns="0" tIns="0" bIns="0">
            <a:spAutoFit/>
          </a:bodyPr>
          <a:lstStyle/>
          <a:p>
            <a:pPr algn="l"/>
            <a:r>
              <a:rPr sz="1000" b="0" i="0">
                <a:solidFill>
                  <a:srgbClr val="5C6B73"/>
                </a:solidFill>
                <a:latin typeface="Calibri"/>
              </a:rPr>
              <a:t>Seed 42 shown for every condition, fixed before viewing. Bullet text verbatim; multi-word quotations of source posts replaced with “…”; long bullets truncated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94415" cy="685800"/>
          </a:xfrm>
          <a:prstGeom prst="rect">
            <a:avLst/>
          </a:prstGeom>
          <a:noFill/>
        </p:spPr>
        <p:txBody>
          <a:bodyPr wrap="square" anchor="t" lIns="0" rIns="0" tIns="0" bIns="0">
            <a:spAutoFit/>
          </a:bodyPr>
          <a:lstStyle/>
          <a:p>
            <a:pPr algn="l"/>
            <a:r>
              <a:rPr sz="2800" b="1" i="0">
                <a:solidFill>
                  <a:srgbClr val="1B2A33"/>
                </a:solidFill>
                <a:latin typeface="Cambria"/>
              </a:rPr>
              <a:t>Online ACE: playbooks after 100 test posts, with and without GT</a:t>
            </a:r>
          </a:p>
        </p:txBody>
      </p:sp>
      <p:sp>
        <p:nvSpPr>
          <p:cNvPr id="3" name="TextBox 2"/>
          <p:cNvSpPr txBox="1"/>
          <p:nvPr/>
        </p:nvSpPr>
        <p:spPr>
          <a:xfrm>
            <a:off x="548640" y="1024128"/>
            <a:ext cx="11094415" cy="320040"/>
          </a:xfrm>
          <a:prstGeom prst="rect">
            <a:avLst/>
          </a:prstGeom>
          <a:noFill/>
        </p:spPr>
        <p:txBody>
          <a:bodyPr wrap="square" anchor="t" lIns="0" rIns="0" tIns="0" bIns="0">
            <a:spAutoFit/>
          </a:bodyPr>
          <a:lstStyle/>
          <a:p>
            <a:pPr algn="l"/>
            <a:r>
              <a:rPr sz="1300" b="0" i="0">
                <a:solidFill>
                  <a:srgbClr val="5C6B73"/>
                </a:solidFill>
                <a:latin typeface="Calibri"/>
              </a:rPr>
              <a:t>Updated after each committed prediction; GT ✓ reveals the label only after the prediction is saved</a:t>
            </a:r>
          </a:p>
        </p:txBody>
      </p:sp>
      <p:sp>
        <p:nvSpPr>
          <p:cNvPr id="4" name="TextBox 3"/>
          <p:cNvSpPr txBox="1"/>
          <p:nvPr/>
        </p:nvSpPr>
        <p:spPr>
          <a:xfrm>
            <a:off x="548640" y="1463040"/>
            <a:ext cx="5303520" cy="365760"/>
          </a:xfrm>
          <a:prstGeom prst="rect">
            <a:avLst/>
          </a:prstGeom>
          <a:noFill/>
        </p:spPr>
        <p:txBody>
          <a:bodyPr wrap="square" anchor="t" lIns="0" rIns="0" tIns="0" bIns="0">
            <a:spAutoFit/>
          </a:bodyPr>
          <a:lstStyle/>
          <a:p>
            <a:pPr algn="l"/>
            <a:r>
              <a:rPr sz="1600" b="1" i="0">
                <a:solidFill>
                  <a:srgbClr val="1B2A33"/>
                </a:solidFill>
                <a:latin typeface="Cambria"/>
              </a:rPr>
              <a:t>GT ✓ · label revealed after each prediction</a:t>
            </a:r>
          </a:p>
        </p:txBody>
      </p:sp>
      <p:sp>
        <p:nvSpPr>
          <p:cNvPr id="5" name="Rounded Rectangle 4"/>
          <p:cNvSpPr/>
          <p:nvPr/>
        </p:nvSpPr>
        <p:spPr>
          <a:xfrm>
            <a:off x="548640" y="1920240"/>
            <a:ext cx="5303520" cy="1325880"/>
          </a:xfrm>
          <a:prstGeom prst="roundRect">
            <a:avLst>
              <a:gd name="adj" fmla="val 5517"/>
            </a:avLst>
          </a:prstGeom>
          <a:solidFill>
            <a:srgbClr val="FBE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029968"/>
            <a:ext cx="4937759" cy="274320"/>
          </a:xfrm>
          <a:prstGeom prst="rect">
            <a:avLst/>
          </a:prstGeom>
          <a:noFill/>
        </p:spPr>
        <p:txBody>
          <a:bodyPr wrap="square" anchor="t" lIns="0" rIns="0" tIns="0" bIns="0">
            <a:spAutoFit/>
          </a:bodyPr>
          <a:lstStyle/>
          <a:p>
            <a:pPr algn="l"/>
            <a:r>
              <a:rPr sz="1100" b="1" i="0">
                <a:solidFill>
                  <a:srgbClr val="1B2A33"/>
                </a:solidFill>
                <a:latin typeface="Courier New"/>
              </a:rPr>
              <a:t>[calc-00015]</a:t>
            </a:r>
            <a:r>
              <a:rPr sz="1100" b="1" i="0">
                <a:solidFill>
                  <a:srgbClr val="D1495B"/>
                </a:solidFill>
                <a:latin typeface="Calibri"/>
              </a:rPr>
              <a:t>   helpful 22 · harmful 3  (flagged)</a:t>
            </a:r>
          </a:p>
        </p:txBody>
      </p:sp>
      <p:sp>
        <p:nvSpPr>
          <p:cNvPr id="7" name="TextBox 6"/>
          <p:cNvSpPr txBox="1"/>
          <p:nvPr/>
        </p:nvSpPr>
        <p:spPr>
          <a:xfrm>
            <a:off x="731520" y="2331720"/>
            <a:ext cx="4937759" cy="822959"/>
          </a:xfrm>
          <a:prstGeom prst="rect">
            <a:avLst/>
          </a:prstGeom>
          <a:noFill/>
        </p:spPr>
        <p:txBody>
          <a:bodyPr wrap="square" anchor="t" lIns="0" rIns="0" tIns="0" bIns="0">
            <a:spAutoFit/>
          </a:bodyPr>
          <a:lstStyle/>
          <a:p>
            <a:pPr algn="l"/>
            <a:r>
              <a:rPr sz="1250" b="0" i="0">
                <a:solidFill>
                  <a:srgbClr val="1B2A33"/>
                </a:solidFill>
                <a:latin typeface="Calibri"/>
              </a:rPr>
              <a:t>Use a binary classification system where the presence of any explicit stress indicators, including events that 'blindsided' the author or indicate lack of preparedness, is sufficient to classify the text as 'stress'. This approach prioritizes the …</a:t>
            </a:r>
          </a:p>
        </p:txBody>
      </p:sp>
      <p:sp>
        <p:nvSpPr>
          <p:cNvPr id="8" name="Rounded Rectangle 7"/>
          <p:cNvSpPr/>
          <p:nvPr/>
        </p:nvSpPr>
        <p:spPr>
          <a:xfrm>
            <a:off x="548640" y="3383280"/>
            <a:ext cx="5303520" cy="1325880"/>
          </a:xfrm>
          <a:prstGeom prst="roundRect">
            <a:avLst>
              <a:gd name="adj" fmla="val 5517"/>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493008"/>
            <a:ext cx="4937759" cy="274320"/>
          </a:xfrm>
          <a:prstGeom prst="rect">
            <a:avLst/>
          </a:prstGeom>
          <a:noFill/>
        </p:spPr>
        <p:txBody>
          <a:bodyPr wrap="square" anchor="t" lIns="0" rIns="0" tIns="0" bIns="0">
            <a:spAutoFit/>
          </a:bodyPr>
          <a:lstStyle/>
          <a:p>
            <a:pPr algn="l"/>
            <a:r>
              <a:rPr sz="1100" b="1" i="0">
                <a:solidFill>
                  <a:srgbClr val="1B2A33"/>
                </a:solidFill>
                <a:latin typeface="Courier New"/>
              </a:rPr>
              <a:t>[calc-00001]</a:t>
            </a:r>
            <a:r>
              <a:rPr sz="1100" b="0" i="0">
                <a:solidFill>
                  <a:srgbClr val="5C6B73"/>
                </a:solidFill>
                <a:latin typeface="Calibri"/>
              </a:rPr>
              <a:t>   helpful 17 · harmful 0</a:t>
            </a:r>
          </a:p>
        </p:txBody>
      </p:sp>
      <p:sp>
        <p:nvSpPr>
          <p:cNvPr id="10" name="TextBox 9"/>
          <p:cNvSpPr txBox="1"/>
          <p:nvPr/>
        </p:nvSpPr>
        <p:spPr>
          <a:xfrm>
            <a:off x="731520" y="3794760"/>
            <a:ext cx="4937759" cy="822959"/>
          </a:xfrm>
          <a:prstGeom prst="rect">
            <a:avLst/>
          </a:prstGeom>
          <a:noFill/>
        </p:spPr>
        <p:txBody>
          <a:bodyPr wrap="square" anchor="t" lIns="0" rIns="0" tIns="0" bIns="0">
            <a:spAutoFit/>
          </a:bodyPr>
          <a:lstStyle/>
          <a:p>
            <a:pPr algn="l"/>
            <a:r>
              <a:rPr sz="1250" b="0" i="0">
                <a:solidFill>
                  <a:srgbClr val="1B2A33"/>
                </a:solidFill>
                <a:latin typeface="Calibri"/>
              </a:rPr>
              <a:t>Use a weighted scoring system where emotional indicators such as frustration, anger, and sensory overload are assigned higher weights (e.g., 3 points each) compared to other indicators (e.g., 1 point). Sum the scores and classify as stress if the …</a:t>
            </a:r>
          </a:p>
        </p:txBody>
      </p:sp>
      <p:sp>
        <p:nvSpPr>
          <p:cNvPr id="11" name="Rounded Rectangle 10"/>
          <p:cNvSpPr/>
          <p:nvPr/>
        </p:nvSpPr>
        <p:spPr>
          <a:xfrm>
            <a:off x="548640" y="4846320"/>
            <a:ext cx="5303520" cy="1325880"/>
          </a:xfrm>
          <a:prstGeom prst="roundRect">
            <a:avLst>
              <a:gd name="adj" fmla="val 5517"/>
            </a:avLst>
          </a:prstGeom>
          <a:solidFill>
            <a:srgbClr val="FBE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4956048"/>
            <a:ext cx="4937759" cy="274320"/>
          </a:xfrm>
          <a:prstGeom prst="rect">
            <a:avLst/>
          </a:prstGeom>
          <a:noFill/>
        </p:spPr>
        <p:txBody>
          <a:bodyPr wrap="square" anchor="t" lIns="0" rIns="0" tIns="0" bIns="0">
            <a:spAutoFit/>
          </a:bodyPr>
          <a:lstStyle/>
          <a:p>
            <a:pPr algn="l"/>
            <a:r>
              <a:rPr sz="1100" b="1" i="0">
                <a:solidFill>
                  <a:srgbClr val="1B2A33"/>
                </a:solidFill>
                <a:latin typeface="Courier New"/>
              </a:rPr>
              <a:t>[calc-00019]</a:t>
            </a:r>
            <a:r>
              <a:rPr sz="1100" b="1" i="0">
                <a:solidFill>
                  <a:srgbClr val="D1495B"/>
                </a:solidFill>
                <a:latin typeface="Calibri"/>
              </a:rPr>
              <a:t>   helpful 8 · harmful 11  (flagged)</a:t>
            </a:r>
          </a:p>
        </p:txBody>
      </p:sp>
      <p:sp>
        <p:nvSpPr>
          <p:cNvPr id="13" name="TextBox 12"/>
          <p:cNvSpPr txBox="1"/>
          <p:nvPr/>
        </p:nvSpPr>
        <p:spPr>
          <a:xfrm>
            <a:off x="731520" y="5257800"/>
            <a:ext cx="4937759" cy="822959"/>
          </a:xfrm>
          <a:prstGeom prst="rect">
            <a:avLst/>
          </a:prstGeom>
          <a:noFill/>
        </p:spPr>
        <p:txBody>
          <a:bodyPr wrap="square" anchor="t" lIns="0" rIns="0" tIns="0" bIns="0">
            <a:spAutoFit/>
          </a:bodyPr>
          <a:lstStyle/>
          <a:p>
            <a:pPr algn="l"/>
            <a:r>
              <a:rPr sz="1250" b="0" i="0">
                <a:solidFill>
                  <a:srgbClr val="1B2A33"/>
                </a:solidFill>
                <a:latin typeface="Calibri"/>
              </a:rPr>
              <a:t>Use a binary classification system where the presence of any explicit stress indicators such as frustration, fatigue, anger, or sensory overload is sufficient to classify the text as 'stress'. The absence of these indicators, even if other emotional …</a:t>
            </a:r>
          </a:p>
        </p:txBody>
      </p:sp>
      <p:sp>
        <p:nvSpPr>
          <p:cNvPr id="14" name="TextBox 13"/>
          <p:cNvSpPr txBox="1"/>
          <p:nvPr/>
        </p:nvSpPr>
        <p:spPr>
          <a:xfrm>
            <a:off x="6355080" y="1463040"/>
            <a:ext cx="5303520" cy="365760"/>
          </a:xfrm>
          <a:prstGeom prst="rect">
            <a:avLst/>
          </a:prstGeom>
          <a:noFill/>
        </p:spPr>
        <p:txBody>
          <a:bodyPr wrap="square" anchor="t" lIns="0" rIns="0" tIns="0" bIns="0">
            <a:spAutoFit/>
          </a:bodyPr>
          <a:lstStyle/>
          <a:p>
            <a:pPr algn="l"/>
            <a:r>
              <a:rPr sz="1600" b="1" i="0">
                <a:solidFill>
                  <a:srgbClr val="1B2A33"/>
                </a:solidFill>
                <a:latin typeface="Cambria"/>
              </a:rPr>
              <a:t>GT ✗ · no labels, self-reflection only</a:t>
            </a:r>
          </a:p>
        </p:txBody>
      </p:sp>
      <p:sp>
        <p:nvSpPr>
          <p:cNvPr id="15" name="Rounded Rectangle 14"/>
          <p:cNvSpPr/>
          <p:nvPr/>
        </p:nvSpPr>
        <p:spPr>
          <a:xfrm>
            <a:off x="6355080" y="1920240"/>
            <a:ext cx="5303520" cy="1325880"/>
          </a:xfrm>
          <a:prstGeom prst="roundRect">
            <a:avLst>
              <a:gd name="adj" fmla="val 5517"/>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37960" y="2029968"/>
            <a:ext cx="4937759" cy="274320"/>
          </a:xfrm>
          <a:prstGeom prst="rect">
            <a:avLst/>
          </a:prstGeom>
          <a:noFill/>
        </p:spPr>
        <p:txBody>
          <a:bodyPr wrap="square" anchor="t" lIns="0" rIns="0" tIns="0" bIns="0">
            <a:spAutoFit/>
          </a:bodyPr>
          <a:lstStyle/>
          <a:p>
            <a:pPr algn="l"/>
            <a:r>
              <a:rPr sz="1100" b="1" i="0">
                <a:solidFill>
                  <a:srgbClr val="1B2A33"/>
                </a:solidFill>
                <a:latin typeface="Courier New"/>
              </a:rPr>
              <a:t>[calc-00019]</a:t>
            </a:r>
            <a:r>
              <a:rPr sz="1100" b="0" i="0">
                <a:solidFill>
                  <a:srgbClr val="5C6B73"/>
                </a:solidFill>
                <a:latin typeface="Calibri"/>
              </a:rPr>
              <a:t>   helpful 25 · harmful 0</a:t>
            </a:r>
          </a:p>
        </p:txBody>
      </p:sp>
      <p:sp>
        <p:nvSpPr>
          <p:cNvPr id="17" name="TextBox 16"/>
          <p:cNvSpPr txBox="1"/>
          <p:nvPr/>
        </p:nvSpPr>
        <p:spPr>
          <a:xfrm>
            <a:off x="6537960" y="2331720"/>
            <a:ext cx="4937759" cy="822959"/>
          </a:xfrm>
          <a:prstGeom prst="rect">
            <a:avLst/>
          </a:prstGeom>
          <a:noFill/>
        </p:spPr>
        <p:txBody>
          <a:bodyPr wrap="square" anchor="t" lIns="0" rIns="0" tIns="0" bIns="0">
            <a:spAutoFit/>
          </a:bodyPr>
          <a:lstStyle/>
          <a:p>
            <a:pPr algn="l"/>
            <a:r>
              <a:rPr sz="1250" b="0" i="0">
                <a:solidFill>
                  <a:srgbClr val="1B2A33"/>
                </a:solidFill>
                <a:latin typeface="Calibri"/>
              </a:rPr>
              <a:t>Ensure that the final label always matches the reasoning and that the evidence supports the label. If multiple stress indicators are present, classify as 'stress' (label 1) regardless of the author's denial or minimization.</a:t>
            </a:r>
          </a:p>
        </p:txBody>
      </p:sp>
      <p:sp>
        <p:nvSpPr>
          <p:cNvPr id="18" name="Rounded Rectangle 17"/>
          <p:cNvSpPr/>
          <p:nvPr/>
        </p:nvSpPr>
        <p:spPr>
          <a:xfrm>
            <a:off x="6355080" y="3383280"/>
            <a:ext cx="5303520" cy="1325880"/>
          </a:xfrm>
          <a:prstGeom prst="roundRect">
            <a:avLst>
              <a:gd name="adj" fmla="val 5517"/>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37960" y="3493008"/>
            <a:ext cx="4937759" cy="274320"/>
          </a:xfrm>
          <a:prstGeom prst="rect">
            <a:avLst/>
          </a:prstGeom>
          <a:noFill/>
        </p:spPr>
        <p:txBody>
          <a:bodyPr wrap="square" anchor="t" lIns="0" rIns="0" tIns="0" bIns="0">
            <a:spAutoFit/>
          </a:bodyPr>
          <a:lstStyle/>
          <a:p>
            <a:pPr algn="l"/>
            <a:r>
              <a:rPr sz="1100" b="1" i="0">
                <a:solidFill>
                  <a:srgbClr val="1B2A33"/>
                </a:solidFill>
                <a:latin typeface="Courier New"/>
              </a:rPr>
              <a:t>[ctx-00001]</a:t>
            </a:r>
            <a:r>
              <a:rPr sz="1100" b="0" i="0">
                <a:solidFill>
                  <a:srgbClr val="5C6B73"/>
                </a:solidFill>
                <a:latin typeface="Calibri"/>
              </a:rPr>
              <a:t>   helpful 15 · harmful 0</a:t>
            </a:r>
          </a:p>
        </p:txBody>
      </p:sp>
      <p:sp>
        <p:nvSpPr>
          <p:cNvPr id="20" name="TextBox 19"/>
          <p:cNvSpPr txBox="1"/>
          <p:nvPr/>
        </p:nvSpPr>
        <p:spPr>
          <a:xfrm>
            <a:off x="6537960" y="3794760"/>
            <a:ext cx="4937759" cy="822959"/>
          </a:xfrm>
          <a:prstGeom prst="rect">
            <a:avLst/>
          </a:prstGeom>
          <a:noFill/>
        </p:spPr>
        <p:txBody>
          <a:bodyPr wrap="square" anchor="t" lIns="0" rIns="0" tIns="0" bIns="0">
            <a:spAutoFit/>
          </a:bodyPr>
          <a:lstStyle/>
          <a:p>
            <a:pPr algn="l"/>
            <a:r>
              <a:rPr sz="1250" b="0" i="0">
                <a:solidFill>
                  <a:srgbClr val="1B2A33"/>
                </a:solidFill>
                <a:latin typeface="Calibri"/>
              </a:rPr>
              <a:t>Always reference playbook bullets when available to ensure that the reasoning is aligned with the expected framework and to improve the accuracy of the answer.</a:t>
            </a:r>
          </a:p>
        </p:txBody>
      </p:sp>
      <p:sp>
        <p:nvSpPr>
          <p:cNvPr id="21" name="Rounded Rectangle 20"/>
          <p:cNvSpPr/>
          <p:nvPr/>
        </p:nvSpPr>
        <p:spPr>
          <a:xfrm>
            <a:off x="6355080" y="4846320"/>
            <a:ext cx="5303520" cy="1325880"/>
          </a:xfrm>
          <a:prstGeom prst="roundRect">
            <a:avLst>
              <a:gd name="adj" fmla="val 5517"/>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37960" y="4956048"/>
            <a:ext cx="4937759" cy="274320"/>
          </a:xfrm>
          <a:prstGeom prst="rect">
            <a:avLst/>
          </a:prstGeom>
          <a:noFill/>
        </p:spPr>
        <p:txBody>
          <a:bodyPr wrap="square" anchor="t" lIns="0" rIns="0" tIns="0" bIns="0">
            <a:spAutoFit/>
          </a:bodyPr>
          <a:lstStyle/>
          <a:p>
            <a:pPr algn="l"/>
            <a:r>
              <a:rPr sz="1100" b="1" i="0">
                <a:solidFill>
                  <a:srgbClr val="1B2A33"/>
                </a:solidFill>
                <a:latin typeface="Courier New"/>
              </a:rPr>
              <a:t>[calc-00014]</a:t>
            </a:r>
            <a:r>
              <a:rPr sz="1100" b="0" i="0">
                <a:solidFill>
                  <a:srgbClr val="5C6B73"/>
                </a:solidFill>
                <a:latin typeface="Calibri"/>
              </a:rPr>
              <a:t>   helpful 9 · harmful 0</a:t>
            </a:r>
          </a:p>
        </p:txBody>
      </p:sp>
      <p:sp>
        <p:nvSpPr>
          <p:cNvPr id="23" name="TextBox 22"/>
          <p:cNvSpPr txBox="1"/>
          <p:nvPr/>
        </p:nvSpPr>
        <p:spPr>
          <a:xfrm>
            <a:off x="6537960" y="5257800"/>
            <a:ext cx="4937759" cy="822959"/>
          </a:xfrm>
          <a:prstGeom prst="rect">
            <a:avLst/>
          </a:prstGeom>
          <a:noFill/>
        </p:spPr>
        <p:txBody>
          <a:bodyPr wrap="square" anchor="t" lIns="0" rIns="0" tIns="0" bIns="0">
            <a:spAutoFit/>
          </a:bodyPr>
          <a:lstStyle/>
          <a:p>
            <a:pPr algn="l"/>
            <a:r>
              <a:rPr sz="1250" b="0" i="0">
                <a:solidFill>
                  <a:srgbClr val="1B2A33"/>
                </a:solidFill>
                <a:latin typeface="Calibri"/>
              </a:rPr>
              <a:t>Prioritize the presence of multiple stress indicators over any denial or minimization by the author. If multiple stress indicators are present, classify as 'stress' (label 1) regardless of the author's denial.</a:t>
            </a:r>
          </a:p>
        </p:txBody>
      </p:sp>
      <p:sp>
        <p:nvSpPr>
          <p:cNvPr id="24" name="TextBox 23"/>
          <p:cNvSpPr txBox="1"/>
          <p:nvPr/>
        </p:nvSpPr>
        <p:spPr>
          <a:xfrm>
            <a:off x="548640" y="6355080"/>
            <a:ext cx="11094415" cy="320040"/>
          </a:xfrm>
          <a:prstGeom prst="rect">
            <a:avLst/>
          </a:prstGeom>
          <a:noFill/>
        </p:spPr>
        <p:txBody>
          <a:bodyPr wrap="square" anchor="t" lIns="0" rIns="0" tIns="0" bIns="0">
            <a:spAutoFit/>
          </a:bodyPr>
          <a:lstStyle/>
          <a:p>
            <a:pPr algn="l"/>
            <a:r>
              <a:rPr sz="1000" b="0" i="0">
                <a:solidFill>
                  <a:srgbClr val="5C6B73"/>
                </a:solidFill>
                <a:latin typeface="Calibri"/>
              </a:rPr>
              <a:t>Seed 42 shown for every condition, fixed before viewing. Bullet text verbatim; multi-word quotations of source posts replaced with “…”; long bullets truncated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
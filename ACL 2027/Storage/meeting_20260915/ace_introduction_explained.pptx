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B2A33"/>
                </a:solidFill>
                <a:latin typeface="Calibri"/>
              </a:rPr>
              <a:t>AppWorld (agent)</a:t>
            </a:r>
          </a:p>
        </c:rich>
      </c:tx>
      <c:layout/>
      <c:overlay val="0"/>
    </c:title>
    <c:autoTitleDeleted val="0"/>
    <c:plotArea>
      <c:barChart>
        <c:barDir val="col"/>
        <c:grouping val="clustered"/>
        <c:ser>
          <c:idx val="0"/>
          <c:order val="0"/>
          <c:tx>
            <c:strRef>
              <c:f>Sheet1!$B$1</c:f>
              <c:strCache>
                <c:ptCount val="1"/>
                <c:pt idx="0">
                  <c:v>AppWorld (agent)</c:v>
                </c:pt>
              </c:strCache>
            </c:strRef>
          </c:tx>
          <c:spPr>
            <a:solidFill>
              <a:srgbClr val="7D8F98"/>
            </a:solidFill>
          </c:spPr>
          <c:dPt>
            <c:idx val="4"/>
            <c:spPr>
              <a:solidFill>
                <a:srgbClr val="D1495B"/>
              </a:solidFill>
            </c:spPr>
          </c:dPt>
          <c:cat>
            <c:strRef>
              <c:f>Sheet1!$A$2:$A$6</c:f>
              <c:strCache>
                <c:ptCount val="5"/>
                <c:pt idx="0">
                  <c:v>Base</c:v>
                </c:pt>
                <c:pt idx="1">
                  <c:v>ICL</c:v>
                </c:pt>
                <c:pt idx="2">
                  <c:v>GEPA</c:v>
                </c:pt>
                <c:pt idx="3">
                  <c:v>DC</c:v>
                </c:pt>
                <c:pt idx="4">
                  <c:v>ACE</c:v>
                </c:pt>
              </c:strCache>
            </c:strRef>
          </c:cat>
          <c:val>
            <c:numRef>
              <c:f>Sheet1!$B$2:$B$6</c:f>
              <c:numCache>
                <c:formatCode>General</c:formatCode>
                <c:ptCount val="5"/>
                <c:pt idx="0">
                  <c:v>42.4</c:v>
                </c:pt>
                <c:pt idx="1">
                  <c:v>46.0</c:v>
                </c:pt>
                <c:pt idx="2">
                  <c:v>46.4</c:v>
                </c:pt>
                <c:pt idx="3">
                  <c:v>51.9</c:v>
                </c:pt>
                <c:pt idx="4">
                  <c:v>59.5</c:v>
                </c:pt>
              </c:numCache>
            </c:numRef>
          </c:val>
        </c:ser>
        <c:dLbls>
          <c:numFmt formatCode="0.0" sourceLinked="0"/>
          <c:txPr>
            <a:bodyPr/>
            <a:lstStyle/>
            <a:p>
              <a:pPr>
                <a:defRPr sz="1000">
                  <a:solidFill>
                    <a:srgbClr val="1B2A33"/>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DE3E6"/>
            </a:solidFill>
          </a:ln>
        </c:spPr>
        <c:txPr>
          <a:bodyPr/>
          <a:lstStyle/>
          <a:p>
            <a:pPr>
              <a:defRPr sz="1050">
                <a:solidFill>
                  <a:srgbClr val="1B2A33"/>
                </a:solidFill>
              </a:defRPr>
            </a:pPr>
          </a:p>
        </c:txPr>
        <c:crossAx val="-2113994440"/>
        <c:crosses val="autoZero"/>
        <c:auto val="1"/>
        <c:lblAlgn val="ctr"/>
        <c:lblOffset val="100"/>
        <c:noMultiLvlLbl val="0"/>
      </c:catAx>
      <c:valAx>
        <c:axId val="-2113994440"/>
        <c:scaling>
          <c:max val="100.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B2A33"/>
                </a:solidFill>
                <a:latin typeface="Calibri"/>
              </a:rPr>
              <a:t>FiNER (domain knowledge)</a:t>
            </a:r>
          </a:p>
        </c:rich>
      </c:tx>
      <c:layout/>
      <c:overlay val="0"/>
    </c:title>
    <c:autoTitleDeleted val="0"/>
    <c:plotArea>
      <c:barChart>
        <c:barDir val="col"/>
        <c:grouping val="clustered"/>
        <c:ser>
          <c:idx val="0"/>
          <c:order val="0"/>
          <c:tx>
            <c:strRef>
              <c:f>Sheet1!$B$1</c:f>
              <c:strCache>
                <c:ptCount val="1"/>
                <c:pt idx="0">
                  <c:v>FiNER (domain knowledge)</c:v>
                </c:pt>
              </c:strCache>
            </c:strRef>
          </c:tx>
          <c:spPr>
            <a:solidFill>
              <a:srgbClr val="7D8F98"/>
            </a:solidFill>
          </c:spPr>
          <c:dPt>
            <c:idx val="4"/>
            <c:spPr>
              <a:solidFill>
                <a:srgbClr val="D1495B"/>
              </a:solidFill>
            </c:spPr>
          </c:dPt>
          <c:cat>
            <c:strRef>
              <c:f>Sheet1!$A$2:$A$6</c:f>
              <c:strCache>
                <c:ptCount val="5"/>
                <c:pt idx="0">
                  <c:v>Base</c:v>
                </c:pt>
                <c:pt idx="1">
                  <c:v>ICL</c:v>
                </c:pt>
                <c:pt idx="2">
                  <c:v>GEPA</c:v>
                </c:pt>
                <c:pt idx="3">
                  <c:v>DC</c:v>
                </c:pt>
                <c:pt idx="4">
                  <c:v>ACE</c:v>
                </c:pt>
              </c:strCache>
            </c:strRef>
          </c:cat>
          <c:val>
            <c:numRef>
              <c:f>Sheet1!$B$2:$B$6</c:f>
              <c:numCache>
                <c:formatCode>General</c:formatCode>
                <c:ptCount val="5"/>
                <c:pt idx="0">
                  <c:v>70.7</c:v>
                </c:pt>
                <c:pt idx="1">
                  <c:v>72.3</c:v>
                </c:pt>
                <c:pt idx="2">
                  <c:v>73.5</c:v>
                </c:pt>
                <c:pt idx="3">
                  <c:v>74.2</c:v>
                </c:pt>
                <c:pt idx="4">
                  <c:v>78.3</c:v>
                </c:pt>
              </c:numCache>
            </c:numRef>
          </c:val>
        </c:ser>
        <c:dLbls>
          <c:numFmt formatCode="0.0" sourceLinked="0"/>
          <c:txPr>
            <a:bodyPr/>
            <a:lstStyle/>
            <a:p>
              <a:pPr>
                <a:defRPr sz="1000">
                  <a:solidFill>
                    <a:srgbClr val="1B2A33"/>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DE3E6"/>
            </a:solidFill>
          </a:ln>
        </c:spPr>
        <c:txPr>
          <a:bodyPr/>
          <a:lstStyle/>
          <a:p>
            <a:pPr>
              <a:defRPr sz="1050">
                <a:solidFill>
                  <a:srgbClr val="1B2A33"/>
                </a:solidFill>
              </a:defRPr>
            </a:pPr>
          </a:p>
        </c:txPr>
        <c:crossAx val="-2113994440"/>
        <c:crosses val="autoZero"/>
        <c:auto val="1"/>
        <c:lblAlgn val="ctr"/>
        <c:lblOffset val="100"/>
        <c:noMultiLvlLbl val="0"/>
      </c:catAx>
      <c:valAx>
        <c:axId val="-2113994440"/>
        <c:scaling>
          <c:max val="100.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B2A33"/>
                </a:solidFill>
                <a:latin typeface="Calibri"/>
              </a:rPr>
              <a:t>Formula (numerical reasoning)</a:t>
            </a:r>
          </a:p>
        </c:rich>
      </c:tx>
      <c:layout/>
      <c:overlay val="0"/>
    </c:title>
    <c:autoTitleDeleted val="0"/>
    <c:plotArea>
      <c:barChart>
        <c:barDir val="col"/>
        <c:grouping val="clustered"/>
        <c:ser>
          <c:idx val="0"/>
          <c:order val="0"/>
          <c:tx>
            <c:strRef>
              <c:f>Sheet1!$B$1</c:f>
              <c:strCache>
                <c:ptCount val="1"/>
                <c:pt idx="0">
                  <c:v>Formula (numerical reasoning)</c:v>
                </c:pt>
              </c:strCache>
            </c:strRef>
          </c:tx>
          <c:spPr>
            <a:solidFill>
              <a:srgbClr val="7D8F98"/>
            </a:solidFill>
          </c:spPr>
          <c:dPt>
            <c:idx val="4"/>
            <c:spPr>
              <a:solidFill>
                <a:srgbClr val="D1495B"/>
              </a:solidFill>
            </c:spPr>
          </c:dPt>
          <c:cat>
            <c:strRef>
              <c:f>Sheet1!$A$2:$A$6</c:f>
              <c:strCache>
                <c:ptCount val="5"/>
                <c:pt idx="0">
                  <c:v>Base</c:v>
                </c:pt>
                <c:pt idx="1">
                  <c:v>ICL</c:v>
                </c:pt>
                <c:pt idx="2">
                  <c:v>GEPA</c:v>
                </c:pt>
                <c:pt idx="3">
                  <c:v>DC</c:v>
                </c:pt>
                <c:pt idx="4">
                  <c:v>ACE</c:v>
                </c:pt>
              </c:strCache>
            </c:strRef>
          </c:cat>
          <c:val>
            <c:numRef>
              <c:f>Sheet1!$B$2:$B$6</c:f>
              <c:numCache>
                <c:formatCode>General</c:formatCode>
                <c:ptCount val="5"/>
                <c:pt idx="0">
                  <c:v>67.5</c:v>
                </c:pt>
                <c:pt idx="1">
                  <c:v>67.0</c:v>
                </c:pt>
                <c:pt idx="2">
                  <c:v>71.5</c:v>
                </c:pt>
                <c:pt idx="3">
                  <c:v>69.5</c:v>
                </c:pt>
                <c:pt idx="4">
                  <c:v>76.5</c:v>
                </c:pt>
              </c:numCache>
            </c:numRef>
          </c:val>
        </c:ser>
        <c:dLbls>
          <c:numFmt formatCode="0.0" sourceLinked="0"/>
          <c:txPr>
            <a:bodyPr/>
            <a:lstStyle/>
            <a:p>
              <a:pPr>
                <a:defRPr sz="1000">
                  <a:solidFill>
                    <a:srgbClr val="1B2A33"/>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DE3E6"/>
            </a:solidFill>
          </a:ln>
        </c:spPr>
        <c:txPr>
          <a:bodyPr/>
          <a:lstStyle/>
          <a:p>
            <a:pPr>
              <a:defRPr sz="1050">
                <a:solidFill>
                  <a:srgbClr val="1B2A33"/>
                </a:solidFill>
              </a:defRPr>
            </a:pPr>
          </a:p>
        </c:txPr>
        <c:crossAx val="-2113994440"/>
        <c:crosses val="autoZero"/>
        <c:auto val="1"/>
        <c:lblAlgn val="ctr"/>
        <c:lblOffset val="100"/>
        <c:noMultiLvlLbl val="0"/>
      </c:catAx>
      <c:valAx>
        <c:axId val="-2113994440"/>
        <c:scaling>
          <c:max val="100.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Explanations are paraphrased from the ICLR 2026 camera-ready copy of the paper kept in the repository (ace_paper/reproduction_workspace/paper_reproduction/paper/ace_arxiv_2510.04618.pdf).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quoted phrase is the paper’s own wording; the rest of the slide paraphrases the paragraph. Supporting citations in the paper include work showing LLMs benefit from long, detailed contexts (Jiang et al., 2025; Liu et al., 2025b; Suzgun et al., 2025).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 of the paper summarizes the main tables. On AppWorld the number is the average of Test-Normal/Test-Challenge TGC and SGC. ACE is highest on all three benchmarks.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 2 matters for our work: it is the claim that GT-free (no-label) adaptation works. Finding 3 is the headline comparison with a production agent. Finding 4 refers to the paper’s cost and latency analysis (Section 4.6).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33"/>
        </a:solidFill>
        <a:effectLst/>
      </p:bgPr>
    </p:bg>
    <p:spTree>
      <p:nvGrpSpPr>
        <p:cNvPr id="1" name=""/>
        <p:cNvGrpSpPr/>
        <p:nvPr/>
      </p:nvGrpSpPr>
      <p:grpSpPr/>
      <p:sp>
        <p:nvSpPr>
          <p:cNvPr id="2" name="TextBox 1"/>
          <p:cNvSpPr txBox="1"/>
          <p:nvPr/>
        </p:nvSpPr>
        <p:spPr>
          <a:xfrm>
            <a:off x="731520" y="2011680"/>
            <a:ext cx="10515600" cy="914400"/>
          </a:xfrm>
          <a:prstGeom prst="rect">
            <a:avLst/>
          </a:prstGeom>
          <a:noFill/>
        </p:spPr>
        <p:txBody>
          <a:bodyPr wrap="square" anchor="t" lIns="0" rIns="0" tIns="0" bIns="0">
            <a:spAutoFit/>
          </a:bodyPr>
          <a:lstStyle/>
          <a:p>
            <a:pPr algn="l"/>
            <a:r>
              <a:rPr sz="4000" b="1" i="0">
                <a:solidFill>
                  <a:srgbClr val="FFFFFF"/>
                </a:solidFill>
                <a:latin typeface="Cambria"/>
                <a:ea typeface="Apple SD Gothic Neo"/>
                <a:cs typeface="Cambria"/>
              </a:rPr>
              <a:t>Reading the ACE introduction</a:t>
            </a:r>
          </a:p>
        </p:txBody>
      </p:sp>
      <p:sp>
        <p:nvSpPr>
          <p:cNvPr id="3" name="TextBox 2"/>
          <p:cNvSpPr txBox="1"/>
          <p:nvPr/>
        </p:nvSpPr>
        <p:spPr>
          <a:xfrm>
            <a:off x="731520" y="2971800"/>
            <a:ext cx="10515600" cy="457200"/>
          </a:xfrm>
          <a:prstGeom prst="rect">
            <a:avLst/>
          </a:prstGeom>
          <a:noFill/>
        </p:spPr>
        <p:txBody>
          <a:bodyPr wrap="square" anchor="t" lIns="0" rIns="0" tIns="0" bIns="0">
            <a:spAutoFit/>
          </a:bodyPr>
          <a:lstStyle/>
          <a:p>
            <a:pPr algn="l"/>
            <a:r>
              <a:rPr sz="2000" b="0" i="0">
                <a:solidFill>
                  <a:srgbClr val="CFD8DC"/>
                </a:solidFill>
                <a:latin typeface="Calibri"/>
                <a:ea typeface="Apple SD Gothic Neo"/>
                <a:cs typeface="Calibri"/>
              </a:rPr>
              <a:t>The last three paragraphs: the claim, the method, the evidence</a:t>
            </a:r>
          </a:p>
        </p:txBody>
      </p:sp>
      <p:sp>
        <p:nvSpPr>
          <p:cNvPr id="4" name="TextBox 3"/>
          <p:cNvSpPr txBox="1"/>
          <p:nvPr/>
        </p:nvSpPr>
        <p:spPr>
          <a:xfrm>
            <a:off x="731520" y="5212080"/>
            <a:ext cx="10515600" cy="365760"/>
          </a:xfrm>
          <a:prstGeom prst="rect">
            <a:avLst/>
          </a:prstGeom>
          <a:noFill/>
        </p:spPr>
        <p:txBody>
          <a:bodyPr wrap="square" anchor="t" lIns="0" rIns="0" tIns="0" bIns="0">
            <a:spAutoFit/>
          </a:bodyPr>
          <a:lstStyle/>
          <a:p>
            <a:pPr algn="l"/>
            <a:r>
              <a:rPr sz="1300" b="0" i="0">
                <a:solidFill>
                  <a:srgbClr val="9FB0B8"/>
                </a:solidFill>
                <a:latin typeface="Calibri"/>
                <a:ea typeface="Apple SD Gothic Neo"/>
                <a:cs typeface="Calibri"/>
              </a:rPr>
              <a:t>Agentic Context Engineering: Evolving Contexts for Self-Improving Language Models · ICLR 2026</a:t>
            </a:r>
          </a:p>
        </p:txBody>
      </p:sp>
      <p:sp>
        <p:nvSpPr>
          <p:cNvPr id="5" name="TextBox 4"/>
          <p:cNvSpPr txBox="1"/>
          <p:nvPr/>
        </p:nvSpPr>
        <p:spPr>
          <a:xfrm>
            <a:off x="731520" y="5577840"/>
            <a:ext cx="10515600" cy="365760"/>
          </a:xfrm>
          <a:prstGeom prst="rect">
            <a:avLst/>
          </a:prstGeom>
          <a:noFill/>
        </p:spPr>
        <p:txBody>
          <a:bodyPr wrap="square" anchor="t" lIns="0" rIns="0" tIns="0" bIns="0">
            <a:spAutoFit/>
          </a:bodyPr>
          <a:lstStyle/>
          <a:p>
            <a:pPr algn="l"/>
            <a:r>
              <a:rPr sz="1300" b="0" i="0">
                <a:solidFill>
                  <a:srgbClr val="9FB0B8"/>
                </a:solidFill>
                <a:latin typeface="Calibri"/>
                <a:ea typeface="Apple SD Gothic Neo"/>
                <a:cs typeface="Calibri"/>
              </a:rPr>
              <a:t>Paragraphs beginning “As applications…”, “To address these limitations…”, and “We evaluate ACE…”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0" rIns="0" tIns="0" bIns="0">
            <a:spAutoFit/>
          </a:bodyPr>
          <a:lstStyle/>
          <a:p>
            <a:pPr algn="l"/>
            <a:r>
              <a:rPr sz="2600" b="1" i="0">
                <a:solidFill>
                  <a:srgbClr val="1B2A33"/>
                </a:solidFill>
                <a:latin typeface="Cambria"/>
                <a:ea typeface="Apple SD Gothic Neo"/>
                <a:cs typeface="Cambria"/>
              </a:rPr>
              <a:t>Where these three paragraphs sit in the argument</a:t>
            </a:r>
          </a:p>
        </p:txBody>
      </p:sp>
      <p:sp>
        <p:nvSpPr>
          <p:cNvPr id="3" name="TextBox 2"/>
          <p:cNvSpPr txBox="1"/>
          <p:nvPr/>
        </p:nvSpPr>
        <p:spPr>
          <a:xfrm>
            <a:off x="548640" y="1005840"/>
            <a:ext cx="11094415" cy="365760"/>
          </a:xfrm>
          <a:prstGeom prst="rect">
            <a:avLst/>
          </a:prstGeom>
          <a:noFill/>
        </p:spPr>
        <p:txBody>
          <a:bodyPr wrap="square" anchor="t" lIns="0" rIns="0" tIns="0" bIns="0">
            <a:spAutoFit/>
          </a:bodyPr>
          <a:lstStyle/>
          <a:p>
            <a:pPr algn="l"/>
            <a:r>
              <a:rPr sz="1300" b="0" i="0">
                <a:solidFill>
                  <a:srgbClr val="5C6B73"/>
                </a:solidFill>
                <a:latin typeface="Calibri"/>
                <a:ea typeface="Apple SD Gothic Neo"/>
                <a:cs typeface="Calibri"/>
              </a:rPr>
              <a:t>The introduction builds one line of reasoning; the last three paragraphs are claim → method → evidence</a:t>
            </a:r>
          </a:p>
        </p:txBody>
      </p:sp>
      <p:sp>
        <p:nvSpPr>
          <p:cNvPr id="4" name="Rounded Rectangle 3"/>
          <p:cNvSpPr/>
          <p:nvPr/>
        </p:nvSpPr>
        <p:spPr>
          <a:xfrm>
            <a:off x="548640" y="1920240"/>
            <a:ext cx="2011680" cy="2743200"/>
          </a:xfrm>
          <a:prstGeom prst="roundRect">
            <a:avLst>
              <a:gd name="adj" fmla="val 3636"/>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103120"/>
            <a:ext cx="1691640" cy="411480"/>
          </a:xfrm>
          <a:prstGeom prst="rect">
            <a:avLst/>
          </a:prstGeom>
          <a:noFill/>
        </p:spPr>
        <p:txBody>
          <a:bodyPr wrap="square" anchor="t" lIns="0" rIns="0" tIns="0" bIns="0">
            <a:spAutoFit/>
          </a:bodyPr>
          <a:lstStyle/>
          <a:p>
            <a:pPr algn="l"/>
            <a:r>
              <a:rPr sz="1600" b="1" i="0">
                <a:solidFill>
                  <a:srgbClr val="1B2A33"/>
                </a:solidFill>
                <a:latin typeface="Cambria"/>
                <a:ea typeface="Apple SD Gothic Neo"/>
                <a:cs typeface="Cambria"/>
              </a:rPr>
              <a:t>Setting</a:t>
            </a:r>
          </a:p>
        </p:txBody>
      </p:sp>
      <p:sp>
        <p:nvSpPr>
          <p:cNvPr id="6" name="TextBox 5"/>
          <p:cNvSpPr txBox="1"/>
          <p:nvPr/>
        </p:nvSpPr>
        <p:spPr>
          <a:xfrm>
            <a:off x="731520" y="2651760"/>
            <a:ext cx="1691640" cy="1920240"/>
          </a:xfrm>
          <a:prstGeom prst="rect">
            <a:avLst/>
          </a:prstGeom>
          <a:noFill/>
        </p:spPr>
        <p:txBody>
          <a:bodyPr wrap="square" anchor="t" lIns="0" rIns="0" tIns="0" bIns="0">
            <a:spAutoFit/>
          </a:bodyPr>
          <a:lstStyle/>
          <a:p>
            <a:pPr algn="l"/>
            <a:r>
              <a:rPr sz="1300" b="0" i="0">
                <a:solidFill>
                  <a:srgbClr val="1B2A33"/>
                </a:solidFill>
                <a:latin typeface="Calibri"/>
                <a:ea typeface="Apple SD Gothic Neo"/>
                <a:cs typeface="Calibri"/>
              </a:rPr>
              <a:t>LLM systems increasingly improve through their inputs (contexts), not their weights.</a:t>
            </a:r>
          </a:p>
        </p:txBody>
      </p:sp>
      <p:sp>
        <p:nvSpPr>
          <p:cNvPr id="7" name="Right Arrow 6"/>
          <p:cNvSpPr/>
          <p:nvPr/>
        </p:nvSpPr>
        <p:spPr>
          <a:xfrm>
            <a:off x="2578608" y="3154680"/>
            <a:ext cx="256032" cy="274320"/>
          </a:xfrm>
          <a:prstGeom prst="rightArrow">
            <a:avLst/>
          </a:prstGeom>
          <a:solidFill>
            <a:srgbClr val="7D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852928" y="1920240"/>
            <a:ext cx="2011680" cy="2743200"/>
          </a:xfrm>
          <a:prstGeom prst="roundRect">
            <a:avLst>
              <a:gd name="adj" fmla="val 3636"/>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35808" y="2103120"/>
            <a:ext cx="1691640" cy="411480"/>
          </a:xfrm>
          <a:prstGeom prst="rect">
            <a:avLst/>
          </a:prstGeom>
          <a:noFill/>
        </p:spPr>
        <p:txBody>
          <a:bodyPr wrap="square" anchor="t" lIns="0" rIns="0" tIns="0" bIns="0">
            <a:spAutoFit/>
          </a:bodyPr>
          <a:lstStyle/>
          <a:p>
            <a:pPr algn="l"/>
            <a:r>
              <a:rPr sz="1600" b="1" i="0">
                <a:solidFill>
                  <a:srgbClr val="1B2A33"/>
                </a:solidFill>
                <a:latin typeface="Cambria"/>
                <a:ea typeface="Apple SD Gothic Neo"/>
                <a:cs typeface="Cambria"/>
              </a:rPr>
              <a:t>Problem</a:t>
            </a:r>
          </a:p>
        </p:txBody>
      </p:sp>
      <p:sp>
        <p:nvSpPr>
          <p:cNvPr id="10" name="TextBox 9"/>
          <p:cNvSpPr txBox="1"/>
          <p:nvPr/>
        </p:nvSpPr>
        <p:spPr>
          <a:xfrm>
            <a:off x="3035808" y="2651760"/>
            <a:ext cx="1691640" cy="1920240"/>
          </a:xfrm>
          <a:prstGeom prst="rect">
            <a:avLst/>
          </a:prstGeom>
          <a:noFill/>
        </p:spPr>
        <p:txBody>
          <a:bodyPr wrap="square" anchor="t" lIns="0" rIns="0" tIns="0" bIns="0">
            <a:spAutoFit/>
          </a:bodyPr>
          <a:lstStyle/>
          <a:p>
            <a:pPr algn="l"/>
            <a:r>
              <a:rPr sz="1300" b="0" i="0">
                <a:solidFill>
                  <a:srgbClr val="1B2A33"/>
                </a:solidFill>
                <a:latin typeface="Calibri"/>
                <a:ea typeface="Apple SD Gothic Neo"/>
                <a:cs typeface="Calibri"/>
              </a:rPr>
              <a:t>Two limitations of current context adaptation: brevity bias and context collapse.</a:t>
            </a:r>
          </a:p>
        </p:txBody>
      </p:sp>
      <p:sp>
        <p:nvSpPr>
          <p:cNvPr id="11" name="Right Arrow 10"/>
          <p:cNvSpPr/>
          <p:nvPr/>
        </p:nvSpPr>
        <p:spPr>
          <a:xfrm>
            <a:off x="4882896" y="3154680"/>
            <a:ext cx="256032" cy="274320"/>
          </a:xfrm>
          <a:prstGeom prst="rightArrow">
            <a:avLst/>
          </a:prstGeom>
          <a:solidFill>
            <a:srgbClr val="7D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57216" y="1920240"/>
            <a:ext cx="2011680" cy="2743200"/>
          </a:xfrm>
          <a:prstGeom prst="roundRect">
            <a:avLst>
              <a:gd name="adj" fmla="val 3636"/>
            </a:avLst>
          </a:prstGeom>
          <a:solidFill>
            <a:srgbClr val="FBE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40096" y="2103120"/>
            <a:ext cx="1691640" cy="411480"/>
          </a:xfrm>
          <a:prstGeom prst="rect">
            <a:avLst/>
          </a:prstGeom>
          <a:noFill/>
        </p:spPr>
        <p:txBody>
          <a:bodyPr wrap="square" anchor="t" lIns="0" rIns="0" tIns="0" bIns="0">
            <a:spAutoFit/>
          </a:bodyPr>
          <a:lstStyle/>
          <a:p>
            <a:pPr algn="l"/>
            <a:r>
              <a:rPr sz="1600" b="1" i="0">
                <a:solidFill>
                  <a:srgbClr val="D1495B"/>
                </a:solidFill>
                <a:latin typeface="Cambria"/>
                <a:ea typeface="Apple SD Gothic Neo"/>
                <a:cs typeface="Cambria"/>
              </a:rPr>
              <a:t>¶1  Claim</a:t>
            </a:r>
          </a:p>
        </p:txBody>
      </p:sp>
      <p:sp>
        <p:nvSpPr>
          <p:cNvPr id="14" name="TextBox 13"/>
          <p:cNvSpPr txBox="1"/>
          <p:nvPr/>
        </p:nvSpPr>
        <p:spPr>
          <a:xfrm>
            <a:off x="5340096" y="2651760"/>
            <a:ext cx="1691640" cy="1920240"/>
          </a:xfrm>
          <a:prstGeom prst="rect">
            <a:avLst/>
          </a:prstGeom>
          <a:noFill/>
        </p:spPr>
        <p:txBody>
          <a:bodyPr wrap="square" anchor="t" lIns="0" rIns="0" tIns="0" bIns="0">
            <a:spAutoFit/>
          </a:bodyPr>
          <a:lstStyle/>
          <a:p>
            <a:pPr algn="l"/>
            <a:r>
              <a:rPr sz="1300" b="0" i="0">
                <a:solidFill>
                  <a:srgbClr val="1B2A33"/>
                </a:solidFill>
                <a:latin typeface="Calibri"/>
                <a:ea typeface="Apple SD Gothic Neo"/>
                <a:cs typeface="Calibri"/>
              </a:rPr>
              <a:t>Contexts should be rich, structured playbooks rather than short summaries.</a:t>
            </a:r>
          </a:p>
        </p:txBody>
      </p:sp>
      <p:sp>
        <p:nvSpPr>
          <p:cNvPr id="15" name="Right Arrow 14"/>
          <p:cNvSpPr/>
          <p:nvPr/>
        </p:nvSpPr>
        <p:spPr>
          <a:xfrm>
            <a:off x="7187183" y="3154680"/>
            <a:ext cx="256032" cy="274320"/>
          </a:xfrm>
          <a:prstGeom prst="rightArrow">
            <a:avLst/>
          </a:prstGeom>
          <a:solidFill>
            <a:srgbClr val="7D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461504" y="1920240"/>
            <a:ext cx="2011680" cy="2743200"/>
          </a:xfrm>
          <a:prstGeom prst="roundRect">
            <a:avLst>
              <a:gd name="adj" fmla="val 3636"/>
            </a:avLst>
          </a:prstGeom>
          <a:solidFill>
            <a:srgbClr val="FBE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44383" y="2103120"/>
            <a:ext cx="1691640" cy="411480"/>
          </a:xfrm>
          <a:prstGeom prst="rect">
            <a:avLst/>
          </a:prstGeom>
          <a:noFill/>
        </p:spPr>
        <p:txBody>
          <a:bodyPr wrap="square" anchor="t" lIns="0" rIns="0" tIns="0" bIns="0">
            <a:spAutoFit/>
          </a:bodyPr>
          <a:lstStyle/>
          <a:p>
            <a:pPr algn="l"/>
            <a:r>
              <a:rPr sz="1600" b="1" i="0">
                <a:solidFill>
                  <a:srgbClr val="D1495B"/>
                </a:solidFill>
                <a:latin typeface="Cambria"/>
                <a:ea typeface="Apple SD Gothic Neo"/>
                <a:cs typeface="Cambria"/>
              </a:rPr>
              <a:t>¶2  Method</a:t>
            </a:r>
          </a:p>
        </p:txBody>
      </p:sp>
      <p:sp>
        <p:nvSpPr>
          <p:cNvPr id="18" name="TextBox 17"/>
          <p:cNvSpPr txBox="1"/>
          <p:nvPr/>
        </p:nvSpPr>
        <p:spPr>
          <a:xfrm>
            <a:off x="7644383" y="2651760"/>
            <a:ext cx="1691640" cy="1920240"/>
          </a:xfrm>
          <a:prstGeom prst="rect">
            <a:avLst/>
          </a:prstGeom>
          <a:noFill/>
        </p:spPr>
        <p:txBody>
          <a:bodyPr wrap="square" anchor="t" lIns="0" rIns="0" tIns="0" bIns="0">
            <a:spAutoFit/>
          </a:bodyPr>
          <a:lstStyle/>
          <a:p>
            <a:pPr algn="l"/>
            <a:r>
              <a:rPr sz="1300" b="0" i="0">
                <a:solidFill>
                  <a:srgbClr val="1B2A33"/>
                </a:solidFill>
                <a:latin typeface="Calibri"/>
                <a:ea typeface="Apple SD Gothic Neo"/>
                <a:cs typeface="Calibri"/>
              </a:rPr>
              <a:t>ACE: a framework that grows such playbooks, offline and online.</a:t>
            </a:r>
          </a:p>
        </p:txBody>
      </p:sp>
      <p:sp>
        <p:nvSpPr>
          <p:cNvPr id="19" name="Right Arrow 18"/>
          <p:cNvSpPr/>
          <p:nvPr/>
        </p:nvSpPr>
        <p:spPr>
          <a:xfrm>
            <a:off x="9491472" y="3154680"/>
            <a:ext cx="256032" cy="274320"/>
          </a:xfrm>
          <a:prstGeom prst="rightArrow">
            <a:avLst/>
          </a:prstGeom>
          <a:solidFill>
            <a:srgbClr val="7D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765792" y="1920240"/>
            <a:ext cx="2011680" cy="2743200"/>
          </a:xfrm>
          <a:prstGeom prst="roundRect">
            <a:avLst>
              <a:gd name="adj" fmla="val 3636"/>
            </a:avLst>
          </a:prstGeom>
          <a:solidFill>
            <a:srgbClr val="FBE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48672" y="2103120"/>
            <a:ext cx="1691640" cy="411480"/>
          </a:xfrm>
          <a:prstGeom prst="rect">
            <a:avLst/>
          </a:prstGeom>
          <a:noFill/>
        </p:spPr>
        <p:txBody>
          <a:bodyPr wrap="square" anchor="t" lIns="0" rIns="0" tIns="0" bIns="0">
            <a:spAutoFit/>
          </a:bodyPr>
          <a:lstStyle/>
          <a:p>
            <a:pPr algn="l"/>
            <a:r>
              <a:rPr sz="1600" b="1" i="0">
                <a:solidFill>
                  <a:srgbClr val="D1495B"/>
                </a:solidFill>
                <a:latin typeface="Cambria"/>
                <a:ea typeface="Apple SD Gothic Neo"/>
                <a:cs typeface="Cambria"/>
              </a:rPr>
              <a:t>¶3  Evidence</a:t>
            </a:r>
          </a:p>
        </p:txBody>
      </p:sp>
      <p:sp>
        <p:nvSpPr>
          <p:cNvPr id="22" name="TextBox 21"/>
          <p:cNvSpPr txBox="1"/>
          <p:nvPr/>
        </p:nvSpPr>
        <p:spPr>
          <a:xfrm>
            <a:off x="9948672" y="2651760"/>
            <a:ext cx="1691640" cy="1920240"/>
          </a:xfrm>
          <a:prstGeom prst="rect">
            <a:avLst/>
          </a:prstGeom>
          <a:noFill/>
        </p:spPr>
        <p:txBody>
          <a:bodyPr wrap="square" anchor="t" lIns="0" rIns="0" tIns="0" bIns="0">
            <a:spAutoFit/>
          </a:bodyPr>
          <a:lstStyle/>
          <a:p>
            <a:pPr algn="l"/>
            <a:r>
              <a:rPr sz="1300" b="0" i="0">
                <a:solidFill>
                  <a:srgbClr val="1B2A33"/>
                </a:solidFill>
                <a:latin typeface="Calibri"/>
                <a:ea typeface="Apple SD Gothic Neo"/>
                <a:cs typeface="Calibri"/>
              </a:rPr>
              <a:t>Where it was tested and the four headline findings.</a:t>
            </a:r>
          </a:p>
        </p:txBody>
      </p:sp>
      <p:sp>
        <p:nvSpPr>
          <p:cNvPr id="23" name="Rounded Rectangle 22"/>
          <p:cNvSpPr/>
          <p:nvPr/>
        </p:nvSpPr>
        <p:spPr>
          <a:xfrm>
            <a:off x="548640" y="4983480"/>
            <a:ext cx="11109960" cy="1188720"/>
          </a:xfrm>
          <a:prstGeom prst="roundRect">
            <a:avLst>
              <a:gd name="adj" fmla="val 6153"/>
            </a:avLst>
          </a:prstGeom>
          <a:solidFill>
            <a:srgbClr val="E3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5111496"/>
            <a:ext cx="10707624" cy="274320"/>
          </a:xfrm>
          <a:prstGeom prst="rect">
            <a:avLst/>
          </a:prstGeom>
          <a:noFill/>
        </p:spPr>
        <p:txBody>
          <a:bodyPr wrap="square" anchor="t" lIns="0" rIns="0" tIns="0" bIns="0">
            <a:spAutoFit/>
          </a:bodyPr>
          <a:lstStyle/>
          <a:p>
            <a:pPr algn="l"/>
            <a:r>
              <a:rPr sz="1200" b="1" i="0">
                <a:solidFill>
                  <a:srgbClr val="2A7F86"/>
                </a:solidFill>
                <a:latin typeface="Calibri"/>
                <a:ea typeface="Apple SD Gothic Neo"/>
                <a:cs typeface="Calibri"/>
              </a:rPr>
              <a:t>What this means</a:t>
            </a:r>
          </a:p>
        </p:txBody>
      </p:sp>
      <p:sp>
        <p:nvSpPr>
          <p:cNvPr id="25" name="TextBox 24"/>
          <p:cNvSpPr txBox="1"/>
          <p:nvPr/>
        </p:nvSpPr>
        <p:spPr>
          <a:xfrm>
            <a:off x="749808" y="5440680"/>
            <a:ext cx="10707624" cy="640080"/>
          </a:xfrm>
          <a:prstGeom prst="rect">
            <a:avLst/>
          </a:prstGeom>
          <a:noFill/>
        </p:spPr>
        <p:txBody>
          <a:bodyPr wrap="square" anchor="t" lIns="0" rIns="0" tIns="0" bIns="0">
            <a:spAutoFit/>
          </a:bodyPr>
          <a:lstStyle/>
          <a:p>
            <a:pPr algn="l"/>
            <a:r>
              <a:rPr sz="1250" b="0" i="0">
                <a:solidFill>
                  <a:srgbClr val="1B2A33"/>
                </a:solidFill>
                <a:latin typeface="Calibri"/>
                <a:ea typeface="Apple SD Gothic Neo"/>
                <a:cs typeface="Calibri"/>
              </a:rPr>
              <a:t>The first half of the introduction sets up a problem; ¶1 states what a good context should look like, ¶2 introduces the framework that builds it, and ¶3 previews the experiments that support it. Reading ¶2 requires the “limitations” from the preceding paragraph, explained on the next slide.</a:t>
            </a:r>
          </a:p>
        </p:txBody>
      </p:sp>
      <p:sp>
        <p:nvSpPr>
          <p:cNvPr id="26" name="TextBox 25"/>
          <p:cNvSpPr txBox="1"/>
          <p:nvPr/>
        </p:nvSpPr>
        <p:spPr>
          <a:xfrm>
            <a:off x="548640" y="6355080"/>
            <a:ext cx="11094415" cy="365760"/>
          </a:xfrm>
          <a:prstGeom prst="rect">
            <a:avLst/>
          </a:prstGeom>
          <a:noFill/>
        </p:spPr>
        <p:txBody>
          <a:bodyPr wrap="square" anchor="t" lIns="0" rIns="0" tIns="0" bIns="0">
            <a:spAutoFit/>
          </a:bodyPr>
          <a:lstStyle/>
          <a:p>
            <a:pPr algn="l"/>
            <a:r>
              <a:rPr sz="1000" b="0" i="0">
                <a:solidFill>
                  <a:srgbClr val="5C6B73"/>
                </a:solidFill>
                <a:latin typeface="Calibri"/>
                <a:ea typeface="Apple SD Gothic Neo"/>
                <a:cs typeface="Calibri"/>
              </a:rPr>
              <a:t>Source: Zhang et al., “Agentic Context Engineering: Evolving Contexts for Self-Improving Language Models”, ICLR 2026 (arXiv 2510.04618), Section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0" rIns="0" tIns="0" bIns="0">
            <a:spAutoFit/>
          </a:bodyPr>
          <a:lstStyle/>
          <a:p>
            <a:pPr algn="l"/>
            <a:r>
              <a:rPr sz="2600" b="1" i="0">
                <a:solidFill>
                  <a:srgbClr val="1B2A33"/>
                </a:solidFill>
                <a:latin typeface="Cambria"/>
                <a:ea typeface="Apple SD Gothic Neo"/>
                <a:cs typeface="Cambria"/>
              </a:rPr>
              <a:t>Background: the two limitations that ¶2 responds to</a:t>
            </a:r>
          </a:p>
        </p:txBody>
      </p:sp>
      <p:sp>
        <p:nvSpPr>
          <p:cNvPr id="3" name="TextBox 2"/>
          <p:cNvSpPr txBox="1"/>
          <p:nvPr/>
        </p:nvSpPr>
        <p:spPr>
          <a:xfrm>
            <a:off x="548640" y="1005840"/>
            <a:ext cx="11094415" cy="365760"/>
          </a:xfrm>
          <a:prstGeom prst="rect">
            <a:avLst/>
          </a:prstGeom>
          <a:noFill/>
        </p:spPr>
        <p:txBody>
          <a:bodyPr wrap="square" anchor="t" lIns="0" rIns="0" tIns="0" bIns="0">
            <a:spAutoFit/>
          </a:bodyPr>
          <a:lstStyle/>
          <a:p>
            <a:pPr algn="l"/>
            <a:r>
              <a:rPr sz="1300" b="0" i="0">
                <a:solidFill>
                  <a:srgbClr val="5C6B73"/>
                </a:solidFill>
                <a:latin typeface="Calibri"/>
                <a:ea typeface="Apple SD Gothic Neo"/>
                <a:cs typeface="Calibri"/>
              </a:rPr>
              <a:t>Defined in the paragraph just before ¶1; “To address these limitations” in ¶2 refers to these</a:t>
            </a:r>
          </a:p>
        </p:txBody>
      </p:sp>
      <p:sp>
        <p:nvSpPr>
          <p:cNvPr id="4" name="Rounded Rectangle 3"/>
          <p:cNvSpPr/>
          <p:nvPr/>
        </p:nvSpPr>
        <p:spPr>
          <a:xfrm>
            <a:off x="548640" y="1554480"/>
            <a:ext cx="5303520" cy="3246120"/>
          </a:xfrm>
          <a:prstGeom prst="roundRect">
            <a:avLst>
              <a:gd name="adj" fmla="val 2253"/>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37360"/>
            <a:ext cx="4754880" cy="457200"/>
          </a:xfrm>
          <a:prstGeom prst="rect">
            <a:avLst/>
          </a:prstGeom>
          <a:noFill/>
        </p:spPr>
        <p:txBody>
          <a:bodyPr wrap="square" anchor="t" lIns="0" rIns="0" tIns="0" bIns="0">
            <a:spAutoFit/>
          </a:bodyPr>
          <a:lstStyle/>
          <a:p>
            <a:pPr algn="l"/>
            <a:r>
              <a:rPr sz="2000" b="1" i="0">
                <a:solidFill>
                  <a:srgbClr val="D1495B"/>
                </a:solidFill>
                <a:latin typeface="Cambria"/>
                <a:ea typeface="Apple SD Gothic Neo"/>
                <a:cs typeface="Cambria"/>
              </a:rPr>
              <a:t>Brevity bias</a:t>
            </a:r>
          </a:p>
        </p:txBody>
      </p:sp>
      <p:sp>
        <p:nvSpPr>
          <p:cNvPr id="6" name="TextBox 5"/>
          <p:cNvSpPr txBox="1"/>
          <p:nvPr/>
        </p:nvSpPr>
        <p:spPr>
          <a:xfrm>
            <a:off x="822959" y="2331720"/>
            <a:ext cx="4754880" cy="1554480"/>
          </a:xfrm>
          <a:prstGeom prst="rect">
            <a:avLst/>
          </a:prstGeom>
          <a:noFill/>
        </p:spPr>
        <p:txBody>
          <a:bodyPr wrap="square" anchor="t" lIns="0" rIns="0" tIns="0" bIns="0">
            <a:spAutoFit/>
          </a:bodyPr>
          <a:lstStyle/>
          <a:p>
            <a:pPr algn="l"/>
            <a:r>
              <a:rPr sz="1400" b="0" i="0">
                <a:solidFill>
                  <a:srgbClr val="1B2A33"/>
                </a:solidFill>
                <a:latin typeface="Calibri"/>
                <a:ea typeface="Apple SD Gothic Neo"/>
                <a:cs typeface="Calibri"/>
              </a:rPr>
              <a:t>Many prompt optimizers reward short, general instructions. Compression throws away the specific heuristics, tool-use guidelines and known failure modes that agents and expert tasks rely on.</a:t>
            </a:r>
          </a:p>
        </p:txBody>
      </p:sp>
      <p:sp>
        <p:nvSpPr>
          <p:cNvPr id="7" name="TextBox 6"/>
          <p:cNvSpPr txBox="1"/>
          <p:nvPr/>
        </p:nvSpPr>
        <p:spPr>
          <a:xfrm>
            <a:off x="822959" y="4069080"/>
            <a:ext cx="4754880" cy="548640"/>
          </a:xfrm>
          <a:prstGeom prst="rect">
            <a:avLst/>
          </a:prstGeom>
          <a:noFill/>
        </p:spPr>
        <p:txBody>
          <a:bodyPr wrap="square" anchor="t" lIns="0" rIns="0" tIns="0" bIns="0">
            <a:spAutoFit/>
          </a:bodyPr>
          <a:lstStyle/>
          <a:p>
            <a:pPr algn="l"/>
            <a:r>
              <a:rPr sz="1200" b="0" i="1">
                <a:solidFill>
                  <a:srgbClr val="5C6B73"/>
                </a:solidFill>
                <a:latin typeface="Calibri"/>
                <a:ea typeface="Apple SD Gothic Neo"/>
                <a:cs typeface="Calibri"/>
              </a:rPr>
              <a:t>Example given: GEPA presents brevity as a strength.</a:t>
            </a:r>
          </a:p>
        </p:txBody>
      </p:sp>
      <p:sp>
        <p:nvSpPr>
          <p:cNvPr id="8" name="Rounded Rectangle 7"/>
          <p:cNvSpPr/>
          <p:nvPr/>
        </p:nvSpPr>
        <p:spPr>
          <a:xfrm>
            <a:off x="6355080" y="1554480"/>
            <a:ext cx="5303520" cy="3246120"/>
          </a:xfrm>
          <a:prstGeom prst="roundRect">
            <a:avLst>
              <a:gd name="adj" fmla="val 2253"/>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1737360"/>
            <a:ext cx="4754880" cy="457200"/>
          </a:xfrm>
          <a:prstGeom prst="rect">
            <a:avLst/>
          </a:prstGeom>
          <a:noFill/>
        </p:spPr>
        <p:txBody>
          <a:bodyPr wrap="square" anchor="t" lIns="0" rIns="0" tIns="0" bIns="0">
            <a:spAutoFit/>
          </a:bodyPr>
          <a:lstStyle/>
          <a:p>
            <a:pPr algn="l"/>
            <a:r>
              <a:rPr sz="2000" b="1" i="0">
                <a:solidFill>
                  <a:srgbClr val="D1495B"/>
                </a:solidFill>
                <a:latin typeface="Cambria"/>
                <a:ea typeface="Apple SD Gothic Neo"/>
                <a:cs typeface="Cambria"/>
              </a:rPr>
              <a:t>Context collapse</a:t>
            </a:r>
          </a:p>
        </p:txBody>
      </p:sp>
      <p:sp>
        <p:nvSpPr>
          <p:cNvPr id="10" name="TextBox 9"/>
          <p:cNvSpPr txBox="1"/>
          <p:nvPr/>
        </p:nvSpPr>
        <p:spPr>
          <a:xfrm>
            <a:off x="6629400" y="2331720"/>
            <a:ext cx="4754880" cy="1554480"/>
          </a:xfrm>
          <a:prstGeom prst="rect">
            <a:avLst/>
          </a:prstGeom>
          <a:noFill/>
        </p:spPr>
        <p:txBody>
          <a:bodyPr wrap="square" anchor="t" lIns="0" rIns="0" tIns="0" bIns="0">
            <a:spAutoFit/>
          </a:bodyPr>
          <a:lstStyle/>
          <a:p>
            <a:pPr algn="l"/>
            <a:r>
              <a:rPr sz="1400" b="0" i="0">
                <a:solidFill>
                  <a:srgbClr val="1B2A33"/>
                </a:solidFill>
                <a:latin typeface="Calibri"/>
                <a:ea typeface="Apple SD Gothic Neo"/>
                <a:cs typeface="Calibri"/>
              </a:rPr>
              <a:t>Methods that let an LLM rewrite the whole context at each step tend to shrink it into ever shorter, less informative summaries, and accuracy drops sharply when that happens.</a:t>
            </a:r>
          </a:p>
        </p:txBody>
      </p:sp>
      <p:sp>
        <p:nvSpPr>
          <p:cNvPr id="11" name="TextBox 10"/>
          <p:cNvSpPr txBox="1"/>
          <p:nvPr/>
        </p:nvSpPr>
        <p:spPr>
          <a:xfrm>
            <a:off x="6629400" y="4069080"/>
            <a:ext cx="4754880" cy="548640"/>
          </a:xfrm>
          <a:prstGeom prst="rect">
            <a:avLst/>
          </a:prstGeom>
          <a:noFill/>
        </p:spPr>
        <p:txBody>
          <a:bodyPr wrap="square" anchor="t" lIns="0" rIns="0" tIns="0" bIns="0">
            <a:spAutoFit/>
          </a:bodyPr>
          <a:lstStyle/>
          <a:p>
            <a:pPr algn="l"/>
            <a:r>
              <a:rPr sz="1200" b="0" i="1">
                <a:solidFill>
                  <a:srgbClr val="5C6B73"/>
                </a:solidFill>
                <a:latin typeface="Calibri"/>
                <a:ea typeface="Apple SD Gothic Neo"/>
                <a:cs typeface="Calibri"/>
              </a:rPr>
              <a:t>Shown in the paper’s Figure 2: a large context abruptly rewritten into a tiny one.</a:t>
            </a:r>
          </a:p>
        </p:txBody>
      </p:sp>
      <p:sp>
        <p:nvSpPr>
          <p:cNvPr id="12" name="Rectangle 11"/>
          <p:cNvSpPr/>
          <p:nvPr/>
        </p:nvSpPr>
        <p:spPr>
          <a:xfrm>
            <a:off x="6355080" y="4983480"/>
            <a:ext cx="3108960" cy="274320"/>
          </a:xfrm>
          <a:prstGeom prst="rect">
            <a:avLst/>
          </a:prstGeom>
          <a:solidFill>
            <a:srgbClr val="7D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0" y="4983480"/>
            <a:ext cx="3200400" cy="274320"/>
          </a:xfrm>
          <a:prstGeom prst="rect">
            <a:avLst/>
          </a:prstGeom>
          <a:noFill/>
        </p:spPr>
        <p:txBody>
          <a:bodyPr wrap="square" anchor="ctr" lIns="0" rIns="0" tIns="0" bIns="0">
            <a:spAutoFit/>
          </a:bodyPr>
          <a:lstStyle/>
          <a:p>
            <a:pPr algn="l"/>
            <a:r>
              <a:rPr sz="1100" b="0" i="0">
                <a:solidFill>
                  <a:srgbClr val="5C6B73"/>
                </a:solidFill>
                <a:latin typeface="Calibri"/>
                <a:ea typeface="Apple SD Gothic Neo"/>
                <a:cs typeface="Calibri"/>
              </a:rPr>
              <a:t>context before rewrite</a:t>
            </a:r>
          </a:p>
        </p:txBody>
      </p:sp>
      <p:sp>
        <p:nvSpPr>
          <p:cNvPr id="14" name="Rectangle 13"/>
          <p:cNvSpPr/>
          <p:nvPr/>
        </p:nvSpPr>
        <p:spPr>
          <a:xfrm>
            <a:off x="6355080" y="5394960"/>
            <a:ext cx="365760" cy="274320"/>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0" y="5394960"/>
            <a:ext cx="3200400" cy="274320"/>
          </a:xfrm>
          <a:prstGeom prst="rect">
            <a:avLst/>
          </a:prstGeom>
          <a:noFill/>
        </p:spPr>
        <p:txBody>
          <a:bodyPr wrap="square" anchor="ctr" lIns="0" rIns="0" tIns="0" bIns="0">
            <a:spAutoFit/>
          </a:bodyPr>
          <a:lstStyle/>
          <a:p>
            <a:pPr algn="l"/>
            <a:r>
              <a:rPr sz="1100" b="0" i="0">
                <a:solidFill>
                  <a:srgbClr val="5C6B73"/>
                </a:solidFill>
                <a:latin typeface="Calibri"/>
                <a:ea typeface="Apple SD Gothic Neo"/>
                <a:cs typeface="Calibri"/>
              </a:rPr>
              <a:t>after a monolithic rewrite</a:t>
            </a:r>
          </a:p>
        </p:txBody>
      </p:sp>
      <p:sp>
        <p:nvSpPr>
          <p:cNvPr id="16" name="Rounded Rectangle 15"/>
          <p:cNvSpPr/>
          <p:nvPr/>
        </p:nvSpPr>
        <p:spPr>
          <a:xfrm>
            <a:off x="548640" y="4937760"/>
            <a:ext cx="5303520" cy="1280160"/>
          </a:xfrm>
          <a:prstGeom prst="roundRect">
            <a:avLst>
              <a:gd name="adj" fmla="val 5714"/>
            </a:avLst>
          </a:prstGeom>
          <a:solidFill>
            <a:srgbClr val="E3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5065776"/>
            <a:ext cx="4901183" cy="274320"/>
          </a:xfrm>
          <a:prstGeom prst="rect">
            <a:avLst/>
          </a:prstGeom>
          <a:noFill/>
        </p:spPr>
        <p:txBody>
          <a:bodyPr wrap="square" anchor="t" lIns="0" rIns="0" tIns="0" bIns="0">
            <a:spAutoFit/>
          </a:bodyPr>
          <a:lstStyle/>
          <a:p>
            <a:pPr algn="l"/>
            <a:r>
              <a:rPr sz="1200" b="1" i="0">
                <a:solidFill>
                  <a:srgbClr val="2A7F86"/>
                </a:solidFill>
                <a:latin typeface="Calibri"/>
                <a:ea typeface="Apple SD Gothic Neo"/>
                <a:cs typeface="Calibri"/>
              </a:rPr>
              <a:t>What this means</a:t>
            </a:r>
          </a:p>
        </p:txBody>
      </p:sp>
      <p:sp>
        <p:nvSpPr>
          <p:cNvPr id="18" name="TextBox 17"/>
          <p:cNvSpPr txBox="1"/>
          <p:nvPr/>
        </p:nvSpPr>
        <p:spPr>
          <a:xfrm>
            <a:off x="749808" y="5394960"/>
            <a:ext cx="4901183" cy="731519"/>
          </a:xfrm>
          <a:prstGeom prst="rect">
            <a:avLst/>
          </a:prstGeom>
          <a:noFill/>
        </p:spPr>
        <p:txBody>
          <a:bodyPr wrap="square" anchor="t" lIns="0" rIns="0" tIns="0" bIns="0">
            <a:spAutoFit/>
          </a:bodyPr>
          <a:lstStyle/>
          <a:p>
            <a:pPr algn="l"/>
            <a:r>
              <a:rPr sz="1250" b="0" i="0">
                <a:solidFill>
                  <a:srgbClr val="1B2A33"/>
                </a:solidFill>
                <a:latin typeface="Calibri"/>
                <a:ea typeface="Apple SD Gothic Neo"/>
                <a:cs typeface="Calibri"/>
              </a:rPr>
              <a:t>Both problems lose knowledge: one by design (asking for short prompts), one by accident (repeated rewriting). ACE is designed to avoid both.</a:t>
            </a:r>
          </a:p>
        </p:txBody>
      </p:sp>
      <p:sp>
        <p:nvSpPr>
          <p:cNvPr id="19" name="TextBox 18"/>
          <p:cNvSpPr txBox="1"/>
          <p:nvPr/>
        </p:nvSpPr>
        <p:spPr>
          <a:xfrm>
            <a:off x="548640" y="6355080"/>
            <a:ext cx="11094415" cy="365760"/>
          </a:xfrm>
          <a:prstGeom prst="rect">
            <a:avLst/>
          </a:prstGeom>
          <a:noFill/>
        </p:spPr>
        <p:txBody>
          <a:bodyPr wrap="square" anchor="t" lIns="0" rIns="0" tIns="0" bIns="0">
            <a:spAutoFit/>
          </a:bodyPr>
          <a:lstStyle/>
          <a:p>
            <a:pPr algn="l"/>
            <a:r>
              <a:rPr sz="1000" b="0" i="0">
                <a:solidFill>
                  <a:srgbClr val="5C6B73"/>
                </a:solidFill>
                <a:latin typeface="Calibri"/>
                <a:ea typeface="Apple SD Gothic Neo"/>
                <a:cs typeface="Calibri"/>
              </a:rPr>
              <a:t>Source: Zhang et al., “Agentic Context Engineering: Evolving Contexts for Self-Improving Language Models”, ICLR 2026 (arXiv 2510.04618), Section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9905695" y="1005840"/>
            <a:ext cx="1737360" cy="292608"/>
          </a:xfrm>
          <a:prstGeom prst="roundRect">
            <a:avLst>
              <a:gd name="adj" fmla="val 25000"/>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05695" y="1005840"/>
            <a:ext cx="1737360" cy="292608"/>
          </a:xfrm>
          <a:prstGeom prst="rect">
            <a:avLst/>
          </a:prstGeom>
          <a:noFill/>
        </p:spPr>
        <p:txBody>
          <a:bodyPr wrap="square" anchor="ctr" lIns="0" rIns="0" tIns="0" bIns="0">
            <a:spAutoFit/>
          </a:bodyPr>
          <a:lstStyle/>
          <a:p>
            <a:pPr algn="ctr"/>
            <a:r>
              <a:rPr sz="1100" b="1" i="0">
                <a:solidFill>
                  <a:srgbClr val="FFFFFF"/>
                </a:solidFill>
                <a:latin typeface="Calibri"/>
                <a:ea typeface="Apple SD Gothic Neo"/>
                <a:cs typeface="Calibri"/>
              </a:rPr>
              <a:t>Paragraph 1</a:t>
            </a:r>
          </a:p>
        </p:txBody>
      </p:sp>
      <p:sp>
        <p:nvSpPr>
          <p:cNvPr id="4" name="TextBox 3"/>
          <p:cNvSpPr txBox="1"/>
          <p:nvPr/>
        </p:nvSpPr>
        <p:spPr>
          <a:xfrm>
            <a:off x="548640" y="365760"/>
            <a:ext cx="11094415" cy="685800"/>
          </a:xfrm>
          <a:prstGeom prst="rect">
            <a:avLst/>
          </a:prstGeom>
          <a:noFill/>
        </p:spPr>
        <p:txBody>
          <a:bodyPr wrap="square" anchor="t" lIns="0" rIns="0" tIns="0" bIns="0">
            <a:spAutoFit/>
          </a:bodyPr>
          <a:lstStyle/>
          <a:p>
            <a:pPr algn="l"/>
            <a:r>
              <a:rPr sz="2600" b="1" i="0">
                <a:solidFill>
                  <a:srgbClr val="1B2A33"/>
                </a:solidFill>
                <a:latin typeface="Cambria"/>
                <a:ea typeface="Apple SD Gothic Neo"/>
                <a:cs typeface="Cambria"/>
              </a:rPr>
              <a:t>The claim: a context should be a playbook, not a summary</a:t>
            </a:r>
          </a:p>
        </p:txBody>
      </p:sp>
      <p:sp>
        <p:nvSpPr>
          <p:cNvPr id="5" name="TextBox 4"/>
          <p:cNvSpPr txBox="1"/>
          <p:nvPr/>
        </p:nvSpPr>
        <p:spPr>
          <a:xfrm>
            <a:off x="548640" y="1005840"/>
            <a:ext cx="11094415" cy="365760"/>
          </a:xfrm>
          <a:prstGeom prst="rect">
            <a:avLst/>
          </a:prstGeom>
          <a:noFill/>
        </p:spPr>
        <p:txBody>
          <a:bodyPr wrap="square" anchor="t" lIns="0" rIns="0" tIns="0" bIns="0">
            <a:spAutoFit/>
          </a:bodyPr>
          <a:lstStyle/>
          <a:p>
            <a:pPr algn="l"/>
            <a:r>
              <a:rPr sz="1300" b="0" i="0">
                <a:solidFill>
                  <a:srgbClr val="5C6B73"/>
                </a:solidFill>
                <a:latin typeface="Calibri"/>
                <a:ea typeface="Apple SD Gothic Neo"/>
                <a:cs typeface="Calibri"/>
              </a:rPr>
              <a:t>“As applications like agents …”</a:t>
            </a:r>
          </a:p>
        </p:txBody>
      </p:sp>
      <p:sp>
        <p:nvSpPr>
          <p:cNvPr id="6" name="TextBox 5"/>
          <p:cNvSpPr txBox="1"/>
          <p:nvPr/>
        </p:nvSpPr>
        <p:spPr>
          <a:xfrm>
            <a:off x="548640" y="1508760"/>
            <a:ext cx="5486400" cy="365760"/>
          </a:xfrm>
          <a:prstGeom prst="rect">
            <a:avLst/>
          </a:prstGeom>
          <a:noFill/>
        </p:spPr>
        <p:txBody>
          <a:bodyPr wrap="square" anchor="t" lIns="0" rIns="0" tIns="0" bIns="0">
            <a:spAutoFit/>
          </a:bodyPr>
          <a:lstStyle/>
          <a:p>
            <a:pPr algn="l"/>
            <a:r>
              <a:rPr sz="1500" b="1" i="0">
                <a:solidFill>
                  <a:srgbClr val="1B2A33"/>
                </a:solidFill>
                <a:latin typeface="Calibri"/>
                <a:ea typeface="Apple SD Gothic Neo"/>
                <a:cs typeface="Calibri"/>
              </a:rPr>
              <a:t>What the paragraph says</a:t>
            </a:r>
          </a:p>
        </p:txBody>
      </p:sp>
      <p:sp>
        <p:nvSpPr>
          <p:cNvPr id="7" name="Oval 6"/>
          <p:cNvSpPr/>
          <p:nvPr/>
        </p:nvSpPr>
        <p:spPr>
          <a:xfrm>
            <a:off x="548640" y="1984248"/>
            <a:ext cx="310896" cy="310896"/>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84248"/>
            <a:ext cx="310896" cy="310896"/>
          </a:xfrm>
          <a:prstGeom prst="rect">
            <a:avLst/>
          </a:prstGeom>
          <a:noFill/>
        </p:spPr>
        <p:txBody>
          <a:bodyPr wrap="square" anchor="ctr" lIns="0" rIns="0" tIns="0" bIns="0">
            <a:spAutoFit/>
          </a:bodyPr>
          <a:lstStyle/>
          <a:p>
            <a:pPr algn="ctr"/>
            <a:r>
              <a:rPr sz="1100" b="1" i="0">
                <a:solidFill>
                  <a:srgbClr val="FFFFFF"/>
                </a:solidFill>
                <a:latin typeface="Calibri"/>
                <a:ea typeface="Apple SD Gothic Neo"/>
                <a:cs typeface="Calibri"/>
              </a:rPr>
              <a:t>1</a:t>
            </a:r>
          </a:p>
        </p:txBody>
      </p:sp>
      <p:sp>
        <p:nvSpPr>
          <p:cNvPr id="9" name="TextBox 8"/>
          <p:cNvSpPr txBox="1"/>
          <p:nvPr/>
        </p:nvSpPr>
        <p:spPr>
          <a:xfrm>
            <a:off x="1005840" y="1965960"/>
            <a:ext cx="5120640" cy="932688"/>
          </a:xfrm>
          <a:prstGeom prst="rect">
            <a:avLst/>
          </a:prstGeom>
          <a:noFill/>
        </p:spPr>
        <p:txBody>
          <a:bodyPr wrap="square" anchor="t" lIns="0" rIns="0" tIns="0" bIns="0">
            <a:spAutoFit/>
          </a:bodyPr>
          <a:lstStyle/>
          <a:p>
            <a:pPr algn="l"/>
            <a:r>
              <a:rPr sz="1300" b="0" i="0">
                <a:solidFill>
                  <a:srgbClr val="1B2A33"/>
                </a:solidFill>
                <a:latin typeface="Calibri"/>
                <a:ea typeface="Apple SD Gothic Neo"/>
                <a:cs typeface="Calibri"/>
              </a:rPr>
              <a:t>Agents and knowledge-heavy reasoning need reliability, so recent work fills contexts with more potentially useful information; long-context models make this feasible.</a:t>
            </a:r>
          </a:p>
        </p:txBody>
      </p:sp>
      <p:sp>
        <p:nvSpPr>
          <p:cNvPr id="10" name="Oval 9"/>
          <p:cNvSpPr/>
          <p:nvPr/>
        </p:nvSpPr>
        <p:spPr>
          <a:xfrm>
            <a:off x="548640" y="3008376"/>
            <a:ext cx="310896" cy="310896"/>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008376"/>
            <a:ext cx="310896" cy="310896"/>
          </a:xfrm>
          <a:prstGeom prst="rect">
            <a:avLst/>
          </a:prstGeom>
          <a:noFill/>
        </p:spPr>
        <p:txBody>
          <a:bodyPr wrap="square" anchor="ctr" lIns="0" rIns="0" tIns="0" bIns="0">
            <a:spAutoFit/>
          </a:bodyPr>
          <a:lstStyle/>
          <a:p>
            <a:pPr algn="ctr"/>
            <a:r>
              <a:rPr sz="1100" b="1" i="0">
                <a:solidFill>
                  <a:srgbClr val="FFFFFF"/>
                </a:solidFill>
                <a:latin typeface="Calibri"/>
                <a:ea typeface="Apple SD Gothic Neo"/>
                <a:cs typeface="Calibri"/>
              </a:rPr>
              <a:t>2</a:t>
            </a:r>
          </a:p>
        </p:txBody>
      </p:sp>
      <p:sp>
        <p:nvSpPr>
          <p:cNvPr id="12" name="TextBox 11"/>
          <p:cNvSpPr txBox="1"/>
          <p:nvPr/>
        </p:nvSpPr>
        <p:spPr>
          <a:xfrm>
            <a:off x="1005840" y="2990088"/>
            <a:ext cx="5120640" cy="932688"/>
          </a:xfrm>
          <a:prstGeom prst="rect">
            <a:avLst/>
          </a:prstGeom>
          <a:noFill/>
        </p:spPr>
        <p:txBody>
          <a:bodyPr wrap="square" anchor="t" lIns="0" rIns="0" tIns="0" bIns="0">
            <a:spAutoFit/>
          </a:bodyPr>
          <a:lstStyle/>
          <a:p>
            <a:pPr algn="l"/>
            <a:r>
              <a:rPr sz="1300" b="0" i="0">
                <a:solidFill>
                  <a:srgbClr val="1B2A33"/>
                </a:solidFill>
                <a:latin typeface="Calibri"/>
                <a:ea typeface="Apple SD Gothic Neo"/>
                <a:cs typeface="Calibri"/>
              </a:rPr>
              <a:t>The authors take a position: contexts should be “comprehensive, structured playbooks”: detailed, inclusive, and full of domain insight.</a:t>
            </a:r>
          </a:p>
        </p:txBody>
      </p:sp>
      <p:sp>
        <p:nvSpPr>
          <p:cNvPr id="13" name="Oval 12"/>
          <p:cNvSpPr/>
          <p:nvPr/>
        </p:nvSpPr>
        <p:spPr>
          <a:xfrm>
            <a:off x="548640" y="4032504"/>
            <a:ext cx="310896" cy="310896"/>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032504"/>
            <a:ext cx="310896" cy="310896"/>
          </a:xfrm>
          <a:prstGeom prst="rect">
            <a:avLst/>
          </a:prstGeom>
          <a:noFill/>
        </p:spPr>
        <p:txBody>
          <a:bodyPr wrap="square" anchor="ctr" lIns="0" rIns="0" tIns="0" bIns="0">
            <a:spAutoFit/>
          </a:bodyPr>
          <a:lstStyle/>
          <a:p>
            <a:pPr algn="ctr"/>
            <a:r>
              <a:rPr sz="1100" b="1" i="0">
                <a:solidFill>
                  <a:srgbClr val="FFFFFF"/>
                </a:solidFill>
                <a:latin typeface="Calibri"/>
                <a:ea typeface="Apple SD Gothic Neo"/>
                <a:cs typeface="Calibri"/>
              </a:rPr>
              <a:t>3</a:t>
            </a:r>
          </a:p>
        </p:txBody>
      </p:sp>
      <p:sp>
        <p:nvSpPr>
          <p:cNvPr id="15" name="TextBox 14"/>
          <p:cNvSpPr txBox="1"/>
          <p:nvPr/>
        </p:nvSpPr>
        <p:spPr>
          <a:xfrm>
            <a:off x="1005840" y="4014216"/>
            <a:ext cx="5120640" cy="932688"/>
          </a:xfrm>
          <a:prstGeom prst="rect">
            <a:avLst/>
          </a:prstGeom>
          <a:noFill/>
        </p:spPr>
        <p:txBody>
          <a:bodyPr wrap="square" anchor="t" lIns="0" rIns="0" tIns="0" bIns="0">
            <a:spAutoFit/>
          </a:bodyPr>
          <a:lstStyle/>
          <a:p>
            <a:pPr algn="l"/>
            <a:r>
              <a:rPr sz="1300" b="0" i="0">
                <a:solidFill>
                  <a:srgbClr val="1B2A33"/>
                </a:solidFill>
                <a:latin typeface="Calibri"/>
                <a:ea typeface="Apple SD Gothic Neo"/>
                <a:cs typeface="Calibri"/>
              </a:rPr>
              <a:t>Why: people often do better with a concise rule of thumb, but LLMs tend to do better with long, detailed contexts and can work out for themselves which parts matter.</a:t>
            </a:r>
          </a:p>
        </p:txBody>
      </p:sp>
      <p:sp>
        <p:nvSpPr>
          <p:cNvPr id="16" name="Oval 15"/>
          <p:cNvSpPr/>
          <p:nvPr/>
        </p:nvSpPr>
        <p:spPr>
          <a:xfrm>
            <a:off x="548640" y="5056631"/>
            <a:ext cx="310896" cy="310896"/>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5056631"/>
            <a:ext cx="310896" cy="310896"/>
          </a:xfrm>
          <a:prstGeom prst="rect">
            <a:avLst/>
          </a:prstGeom>
          <a:noFill/>
        </p:spPr>
        <p:txBody>
          <a:bodyPr wrap="square" anchor="ctr" lIns="0" rIns="0" tIns="0" bIns="0">
            <a:spAutoFit/>
          </a:bodyPr>
          <a:lstStyle/>
          <a:p>
            <a:pPr algn="ctr"/>
            <a:r>
              <a:rPr sz="1100" b="1" i="0">
                <a:solidFill>
                  <a:srgbClr val="FFFFFF"/>
                </a:solidFill>
                <a:latin typeface="Calibri"/>
                <a:ea typeface="Apple SD Gothic Neo"/>
                <a:cs typeface="Calibri"/>
              </a:rPr>
              <a:t>4</a:t>
            </a:r>
          </a:p>
        </p:txBody>
      </p:sp>
      <p:sp>
        <p:nvSpPr>
          <p:cNvPr id="18" name="TextBox 17"/>
          <p:cNvSpPr txBox="1"/>
          <p:nvPr/>
        </p:nvSpPr>
        <p:spPr>
          <a:xfrm>
            <a:off x="1005840" y="5038344"/>
            <a:ext cx="5120640" cy="932688"/>
          </a:xfrm>
          <a:prstGeom prst="rect">
            <a:avLst/>
          </a:prstGeom>
          <a:noFill/>
        </p:spPr>
        <p:txBody>
          <a:bodyPr wrap="square" anchor="t" lIns="0" rIns="0" tIns="0" bIns="0">
            <a:spAutoFit/>
          </a:bodyPr>
          <a:lstStyle/>
          <a:p>
            <a:pPr algn="l"/>
            <a:r>
              <a:rPr sz="1300" b="0" i="0">
                <a:solidFill>
                  <a:srgbClr val="1B2A33"/>
                </a:solidFill>
                <a:latin typeface="Calibri"/>
                <a:ea typeface="Apple SD Gothic Neo"/>
                <a:cs typeface="Calibri"/>
              </a:rPr>
              <a:t>So: keep domain heuristics and tactics in the context instead of compressing them away, and let the model decide what is relevant at inference time.</a:t>
            </a:r>
          </a:p>
        </p:txBody>
      </p:sp>
      <p:sp>
        <p:nvSpPr>
          <p:cNvPr id="19" name="Rounded Rectangle 18"/>
          <p:cNvSpPr/>
          <p:nvPr/>
        </p:nvSpPr>
        <p:spPr>
          <a:xfrm>
            <a:off x="6400800" y="1508760"/>
            <a:ext cx="2514600" cy="3246120"/>
          </a:xfrm>
          <a:prstGeom prst="roundRect">
            <a:avLst>
              <a:gd name="adj" fmla="val 2909"/>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44000" y="1508760"/>
            <a:ext cx="2514600" cy="3246120"/>
          </a:xfrm>
          <a:prstGeom prst="roundRect">
            <a:avLst>
              <a:gd name="adj" fmla="val 2909"/>
            </a:avLst>
          </a:prstGeom>
          <a:solidFill>
            <a:srgbClr val="FBE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0" y="1645920"/>
            <a:ext cx="2194560" cy="365760"/>
          </a:xfrm>
          <a:prstGeom prst="rect">
            <a:avLst/>
          </a:prstGeom>
          <a:noFill/>
        </p:spPr>
        <p:txBody>
          <a:bodyPr wrap="square" anchor="t" lIns="0" rIns="0" tIns="0" bIns="0">
            <a:spAutoFit/>
          </a:bodyPr>
          <a:lstStyle/>
          <a:p>
            <a:pPr algn="l"/>
            <a:r>
              <a:rPr sz="1400" b="1" i="0">
                <a:solidFill>
                  <a:srgbClr val="5C6B73"/>
                </a:solidFill>
                <a:latin typeface="Calibri"/>
                <a:ea typeface="Apple SD Gothic Neo"/>
                <a:cs typeface="Calibri"/>
              </a:rPr>
              <a:t>Summary-style context</a:t>
            </a:r>
          </a:p>
        </p:txBody>
      </p:sp>
      <p:sp>
        <p:nvSpPr>
          <p:cNvPr id="22" name="TextBox 21"/>
          <p:cNvSpPr txBox="1"/>
          <p:nvPr/>
        </p:nvSpPr>
        <p:spPr>
          <a:xfrm>
            <a:off x="6583680" y="2103120"/>
            <a:ext cx="2194560" cy="2468880"/>
          </a:xfrm>
          <a:prstGeom prst="rect">
            <a:avLst/>
          </a:prstGeom>
          <a:noFill/>
        </p:spPr>
        <p:txBody>
          <a:bodyPr wrap="square" anchor="t" lIns="0" rIns="0" tIns="0" bIns="0">
            <a:spAutoFit/>
          </a:bodyPr>
          <a:lstStyle/>
          <a:p>
            <a:pPr algn="l"/>
            <a:r>
              <a:rPr sz="1250" b="0" i="1">
                <a:solidFill>
                  <a:srgbClr val="1B2A33"/>
                </a:solidFill>
                <a:latin typeface="Calibri"/>
                <a:ea typeface="Apple SD Gothic Neo"/>
                <a:cs typeface="Calibri"/>
              </a:rPr>
              <a:t>“Classify stress carefully.”</a:t>
            </a:r>
          </a:p>
          <a:p>
            <a:pPr algn="l"/>
            <a:r>
              <a:rPr sz="1250" b="0" i="0">
                <a:solidFill>
                  <a:srgbClr val="1B2A33"/>
                </a:solidFill>
                <a:latin typeface="Calibri"/>
                <a:ea typeface="Apple SD Gothic Neo"/>
                <a:cs typeface="Calibri"/>
              </a:rPr>
              <a:t/>
            </a:r>
          </a:p>
          <a:p>
            <a:pPr algn="l"/>
            <a:r>
              <a:rPr sz="1250" b="0" i="0">
                <a:solidFill>
                  <a:srgbClr val="1B2A33"/>
                </a:solidFill>
                <a:latin typeface="Calibri"/>
                <a:ea typeface="Apple SD Gothic Neo"/>
                <a:cs typeface="Calibri"/>
              </a:rPr>
              <a:t>Short, general, human-friendly. Specific tactics and pitfalls are gone.</a:t>
            </a:r>
          </a:p>
        </p:txBody>
      </p:sp>
      <p:sp>
        <p:nvSpPr>
          <p:cNvPr id="23" name="TextBox 22"/>
          <p:cNvSpPr txBox="1"/>
          <p:nvPr/>
        </p:nvSpPr>
        <p:spPr>
          <a:xfrm>
            <a:off x="9326880" y="1645920"/>
            <a:ext cx="2194560" cy="365760"/>
          </a:xfrm>
          <a:prstGeom prst="rect">
            <a:avLst/>
          </a:prstGeom>
          <a:noFill/>
        </p:spPr>
        <p:txBody>
          <a:bodyPr wrap="square" anchor="t" lIns="0" rIns="0" tIns="0" bIns="0">
            <a:spAutoFit/>
          </a:bodyPr>
          <a:lstStyle/>
          <a:p>
            <a:pPr algn="l"/>
            <a:r>
              <a:rPr sz="1400" b="1" i="0">
                <a:solidFill>
                  <a:srgbClr val="D1495B"/>
                </a:solidFill>
                <a:latin typeface="Calibri"/>
                <a:ea typeface="Apple SD Gothic Neo"/>
                <a:cs typeface="Calibri"/>
              </a:rPr>
              <a:t>Playbook-style context</a:t>
            </a:r>
          </a:p>
        </p:txBody>
      </p:sp>
      <p:sp>
        <p:nvSpPr>
          <p:cNvPr id="24" name="TextBox 23"/>
          <p:cNvSpPr txBox="1"/>
          <p:nvPr/>
        </p:nvSpPr>
        <p:spPr>
          <a:xfrm>
            <a:off x="9326880" y="2103120"/>
            <a:ext cx="2194560" cy="2468880"/>
          </a:xfrm>
          <a:prstGeom prst="rect">
            <a:avLst/>
          </a:prstGeom>
          <a:noFill/>
        </p:spPr>
        <p:txBody>
          <a:bodyPr wrap="square" anchor="t" lIns="0" rIns="0" tIns="0" bIns="0">
            <a:spAutoFit/>
          </a:bodyPr>
          <a:lstStyle/>
          <a:p>
            <a:pPr algn="l"/>
            <a:r>
              <a:rPr sz="1200" b="0" i="0">
                <a:solidFill>
                  <a:srgbClr val="1B2A33"/>
                </a:solidFill>
                <a:latin typeface="Calibri"/>
                <a:ea typeface="Apple SD Gothic Neo"/>
                <a:cs typeface="Calibri"/>
              </a:rPr>
              <a:t>• strategy: watch indirect signs</a:t>
            </a:r>
          </a:p>
          <a:p>
            <a:pPr algn="l"/>
            <a:r>
              <a:rPr sz="1200" b="0" i="0">
                <a:solidFill>
                  <a:srgbClr val="1B2A33"/>
                </a:solidFill>
                <a:latin typeface="Calibri"/>
                <a:ea typeface="Apple SD Gothic Neo"/>
                <a:cs typeface="Calibri"/>
              </a:rPr>
              <a:t>• rule: denial ≠ no stress</a:t>
            </a:r>
          </a:p>
          <a:p>
            <a:pPr algn="l"/>
            <a:r>
              <a:rPr sz="1200" b="0" i="0">
                <a:solidFill>
                  <a:srgbClr val="1B2A33"/>
                </a:solidFill>
                <a:latin typeface="Calibri"/>
                <a:ea typeface="Apple SD Gothic Neo"/>
                <a:cs typeface="Calibri"/>
              </a:rPr>
              <a:t>• pitfall: topic words alone mislead</a:t>
            </a:r>
          </a:p>
          <a:p>
            <a:pPr algn="l"/>
            <a:r>
              <a:rPr sz="1200" b="0" i="0">
                <a:solidFill>
                  <a:srgbClr val="5C6B73"/>
                </a:solidFill>
                <a:latin typeface="Calibri"/>
                <a:ea typeface="Apple SD Gothic Neo"/>
                <a:cs typeface="Calibri"/>
              </a:rPr>
              <a:t>• …dozens more, each with a track record</a:t>
            </a:r>
          </a:p>
          <a:p>
            <a:pPr algn="l"/>
            <a:r>
              <a:rPr sz="1200" b="0" i="0">
                <a:solidFill>
                  <a:srgbClr val="1B2A33"/>
                </a:solidFill>
                <a:latin typeface="Calibri"/>
                <a:ea typeface="Apple SD Gothic Neo"/>
                <a:cs typeface="Calibri"/>
              </a:rPr>
              <a:t/>
            </a:r>
          </a:p>
          <a:p>
            <a:pPr algn="l"/>
            <a:r>
              <a:rPr sz="1200" b="0" i="0">
                <a:solidFill>
                  <a:srgbClr val="1B2A33"/>
                </a:solidFill>
                <a:latin typeface="Calibri"/>
                <a:ea typeface="Apple SD Gothic Neo"/>
                <a:cs typeface="Calibri"/>
              </a:rPr>
              <a:t>Long and specific; the model selects what applies.</a:t>
            </a:r>
          </a:p>
        </p:txBody>
      </p:sp>
      <p:sp>
        <p:nvSpPr>
          <p:cNvPr id="25" name="Rounded Rectangle 24"/>
          <p:cNvSpPr/>
          <p:nvPr/>
        </p:nvSpPr>
        <p:spPr>
          <a:xfrm>
            <a:off x="6400800" y="4937760"/>
            <a:ext cx="5257800" cy="1280160"/>
          </a:xfrm>
          <a:prstGeom prst="roundRect">
            <a:avLst>
              <a:gd name="adj" fmla="val 5714"/>
            </a:avLst>
          </a:prstGeom>
          <a:solidFill>
            <a:srgbClr val="E3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01968" y="5065776"/>
            <a:ext cx="4855464" cy="274320"/>
          </a:xfrm>
          <a:prstGeom prst="rect">
            <a:avLst/>
          </a:prstGeom>
          <a:noFill/>
        </p:spPr>
        <p:txBody>
          <a:bodyPr wrap="square" anchor="t" lIns="0" rIns="0" tIns="0" bIns="0">
            <a:spAutoFit/>
          </a:bodyPr>
          <a:lstStyle/>
          <a:p>
            <a:pPr algn="l"/>
            <a:r>
              <a:rPr sz="1200" b="1" i="0">
                <a:solidFill>
                  <a:srgbClr val="2A7F86"/>
                </a:solidFill>
                <a:latin typeface="Calibri"/>
                <a:ea typeface="Apple SD Gothic Neo"/>
                <a:cs typeface="Calibri"/>
              </a:rPr>
              <a:t>What this means</a:t>
            </a:r>
          </a:p>
        </p:txBody>
      </p:sp>
      <p:sp>
        <p:nvSpPr>
          <p:cNvPr id="27" name="TextBox 26"/>
          <p:cNvSpPr txBox="1"/>
          <p:nvPr/>
        </p:nvSpPr>
        <p:spPr>
          <a:xfrm>
            <a:off x="6601968" y="5394960"/>
            <a:ext cx="4855464" cy="731519"/>
          </a:xfrm>
          <a:prstGeom prst="rect">
            <a:avLst/>
          </a:prstGeom>
          <a:noFill/>
        </p:spPr>
        <p:txBody>
          <a:bodyPr wrap="square" anchor="t" lIns="0" rIns="0" tIns="0" bIns="0">
            <a:spAutoFit/>
          </a:bodyPr>
          <a:lstStyle/>
          <a:p>
            <a:pPr algn="l"/>
            <a:r>
              <a:rPr sz="1250" b="0" i="0">
                <a:solidFill>
                  <a:srgbClr val="1B2A33"/>
                </a:solidFill>
                <a:latin typeface="Calibri"/>
                <a:ea typeface="Apple SD Gothic Neo"/>
                <a:cs typeface="Calibri"/>
              </a:rPr>
              <a:t>The paragraph flips the usual intuition that shorter prompts are better. Its premise is empirical: LLMs can use long contexts well, so detail is an asset rather than noise.</a:t>
            </a:r>
          </a:p>
        </p:txBody>
      </p:sp>
      <p:sp>
        <p:nvSpPr>
          <p:cNvPr id="28" name="TextBox 27"/>
          <p:cNvSpPr txBox="1"/>
          <p:nvPr/>
        </p:nvSpPr>
        <p:spPr>
          <a:xfrm>
            <a:off x="548640" y="6355080"/>
            <a:ext cx="11094415" cy="365760"/>
          </a:xfrm>
          <a:prstGeom prst="rect">
            <a:avLst/>
          </a:prstGeom>
          <a:noFill/>
        </p:spPr>
        <p:txBody>
          <a:bodyPr wrap="square" anchor="t" lIns="0" rIns="0" tIns="0" bIns="0">
            <a:spAutoFit/>
          </a:bodyPr>
          <a:lstStyle/>
          <a:p>
            <a:pPr algn="l"/>
            <a:r>
              <a:rPr sz="1000" b="0" i="0">
                <a:solidFill>
                  <a:srgbClr val="5C6B73"/>
                </a:solidFill>
                <a:latin typeface="Calibri"/>
                <a:ea typeface="Apple SD Gothic Neo"/>
                <a:cs typeface="Calibri"/>
              </a:rPr>
              <a:t>Illustrative context examples are ours (Dreaddit-style), not from the paper. Source: Zhang et al., “Agentic Context Engineering: Evolving Contexts for Self-Improving Language Models”, ICLR 2026 (arXiv 2510.04618), Section 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9905695" y="1005840"/>
            <a:ext cx="1737360" cy="292608"/>
          </a:xfrm>
          <a:prstGeom prst="roundRect">
            <a:avLst>
              <a:gd name="adj" fmla="val 25000"/>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05695" y="1005840"/>
            <a:ext cx="1737360" cy="292608"/>
          </a:xfrm>
          <a:prstGeom prst="rect">
            <a:avLst/>
          </a:prstGeom>
          <a:noFill/>
        </p:spPr>
        <p:txBody>
          <a:bodyPr wrap="square" anchor="ctr" lIns="0" rIns="0" tIns="0" bIns="0">
            <a:spAutoFit/>
          </a:bodyPr>
          <a:lstStyle/>
          <a:p>
            <a:pPr algn="ctr"/>
            <a:r>
              <a:rPr sz="1100" b="1" i="0">
                <a:solidFill>
                  <a:srgbClr val="FFFFFF"/>
                </a:solidFill>
                <a:latin typeface="Calibri"/>
                <a:ea typeface="Apple SD Gothic Neo"/>
                <a:cs typeface="Calibri"/>
              </a:rPr>
              <a:t>Paragraph 2</a:t>
            </a:r>
          </a:p>
        </p:txBody>
      </p:sp>
      <p:sp>
        <p:nvSpPr>
          <p:cNvPr id="4" name="TextBox 3"/>
          <p:cNvSpPr txBox="1"/>
          <p:nvPr/>
        </p:nvSpPr>
        <p:spPr>
          <a:xfrm>
            <a:off x="548640" y="365760"/>
            <a:ext cx="11094415" cy="685800"/>
          </a:xfrm>
          <a:prstGeom prst="rect">
            <a:avLst/>
          </a:prstGeom>
          <a:noFill/>
        </p:spPr>
        <p:txBody>
          <a:bodyPr wrap="square" anchor="t" lIns="0" rIns="0" tIns="0" bIns="0">
            <a:spAutoFit/>
          </a:bodyPr>
          <a:lstStyle/>
          <a:p>
            <a:pPr algn="l"/>
            <a:r>
              <a:rPr sz="2600" b="1" i="0">
                <a:solidFill>
                  <a:srgbClr val="1B2A33"/>
                </a:solidFill>
                <a:latin typeface="Cambria"/>
                <a:ea typeface="Apple SD Gothic Neo"/>
                <a:cs typeface="Cambria"/>
              </a:rPr>
              <a:t>The method: ACE grows the playbook step by step</a:t>
            </a:r>
          </a:p>
        </p:txBody>
      </p:sp>
      <p:sp>
        <p:nvSpPr>
          <p:cNvPr id="5" name="TextBox 4"/>
          <p:cNvSpPr txBox="1"/>
          <p:nvPr/>
        </p:nvSpPr>
        <p:spPr>
          <a:xfrm>
            <a:off x="548640" y="1005840"/>
            <a:ext cx="11094415" cy="365760"/>
          </a:xfrm>
          <a:prstGeom prst="rect">
            <a:avLst/>
          </a:prstGeom>
          <a:noFill/>
        </p:spPr>
        <p:txBody>
          <a:bodyPr wrap="square" anchor="t" lIns="0" rIns="0" tIns="0" bIns="0">
            <a:spAutoFit/>
          </a:bodyPr>
          <a:lstStyle/>
          <a:p>
            <a:pPr algn="l"/>
            <a:r>
              <a:rPr sz="1300" b="0" i="0">
                <a:solidFill>
                  <a:srgbClr val="5C6B73"/>
                </a:solidFill>
                <a:latin typeface="Calibri"/>
                <a:ea typeface="Apple SD Gothic Neo"/>
                <a:cs typeface="Calibri"/>
              </a:rPr>
              <a:t>“To address these limitations, we introduce ACE …”</a:t>
            </a:r>
          </a:p>
        </p:txBody>
      </p:sp>
      <p:sp>
        <p:nvSpPr>
          <p:cNvPr id="6" name="Rounded Rectangle 5"/>
          <p:cNvSpPr/>
          <p:nvPr/>
        </p:nvSpPr>
        <p:spPr>
          <a:xfrm>
            <a:off x="548640" y="1600200"/>
            <a:ext cx="2468880" cy="1600200"/>
          </a:xfrm>
          <a:prstGeom prst="roundRect">
            <a:avLst>
              <a:gd name="adj" fmla="val 4571"/>
            </a:avLst>
          </a:prstGeom>
          <a:solidFill>
            <a:srgbClr val="FBE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37360"/>
            <a:ext cx="2103120" cy="411480"/>
          </a:xfrm>
          <a:prstGeom prst="rect">
            <a:avLst/>
          </a:prstGeom>
          <a:noFill/>
        </p:spPr>
        <p:txBody>
          <a:bodyPr wrap="square" anchor="t" lIns="0" rIns="0" tIns="0" bIns="0">
            <a:spAutoFit/>
          </a:bodyPr>
          <a:lstStyle/>
          <a:p>
            <a:pPr algn="l"/>
            <a:r>
              <a:rPr sz="1700" b="1" i="0">
                <a:solidFill>
                  <a:srgbClr val="D1495B"/>
                </a:solidFill>
                <a:latin typeface="Cambria"/>
                <a:ea typeface="Apple SD Gothic Neo"/>
                <a:cs typeface="Cambria"/>
              </a:rPr>
              <a:t>Playbook</a:t>
            </a:r>
          </a:p>
        </p:txBody>
      </p:sp>
      <p:sp>
        <p:nvSpPr>
          <p:cNvPr id="8" name="TextBox 7"/>
          <p:cNvSpPr txBox="1"/>
          <p:nvPr/>
        </p:nvSpPr>
        <p:spPr>
          <a:xfrm>
            <a:off x="731520" y="2194560"/>
            <a:ext cx="2103120" cy="914400"/>
          </a:xfrm>
          <a:prstGeom prst="rect">
            <a:avLst/>
          </a:prstGeom>
          <a:noFill/>
        </p:spPr>
        <p:txBody>
          <a:bodyPr wrap="square" anchor="t" lIns="0" rIns="0" tIns="0" bIns="0">
            <a:spAutoFit/>
          </a:bodyPr>
          <a:lstStyle/>
          <a:p>
            <a:pPr algn="l"/>
            <a:r>
              <a:rPr sz="1250" b="0" i="0">
                <a:solidFill>
                  <a:srgbClr val="1B2A33"/>
                </a:solidFill>
                <a:latin typeface="Calibri"/>
                <a:ea typeface="Apple SD Gothic Neo"/>
                <a:cs typeface="Calibri"/>
              </a:rPr>
              <a:t>current context: itemized strategy bullets</a:t>
            </a:r>
          </a:p>
        </p:txBody>
      </p:sp>
      <p:sp>
        <p:nvSpPr>
          <p:cNvPr id="9" name="Right Arrow 8"/>
          <p:cNvSpPr/>
          <p:nvPr/>
        </p:nvSpPr>
        <p:spPr>
          <a:xfrm>
            <a:off x="3044952" y="2240280"/>
            <a:ext cx="310896" cy="292608"/>
          </a:xfrm>
          <a:prstGeom prst="rightArrow">
            <a:avLst/>
          </a:prstGeom>
          <a:solidFill>
            <a:srgbClr val="7D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83280" y="1600200"/>
            <a:ext cx="2468880" cy="1600200"/>
          </a:xfrm>
          <a:prstGeom prst="roundRect">
            <a:avLst>
              <a:gd name="adj" fmla="val 4571"/>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1737360"/>
            <a:ext cx="2103120" cy="411480"/>
          </a:xfrm>
          <a:prstGeom prst="rect">
            <a:avLst/>
          </a:prstGeom>
          <a:noFill/>
        </p:spPr>
        <p:txBody>
          <a:bodyPr wrap="square" anchor="t" lIns="0" rIns="0" tIns="0" bIns="0">
            <a:spAutoFit/>
          </a:bodyPr>
          <a:lstStyle/>
          <a:p>
            <a:pPr algn="l"/>
            <a:r>
              <a:rPr sz="1700" b="1" i="0">
                <a:solidFill>
                  <a:srgbClr val="1B2A33"/>
                </a:solidFill>
                <a:latin typeface="Cambria"/>
                <a:ea typeface="Apple SD Gothic Neo"/>
                <a:cs typeface="Cambria"/>
              </a:rPr>
              <a:t>Generator</a:t>
            </a:r>
          </a:p>
        </p:txBody>
      </p:sp>
      <p:sp>
        <p:nvSpPr>
          <p:cNvPr id="12" name="TextBox 11"/>
          <p:cNvSpPr txBox="1"/>
          <p:nvPr/>
        </p:nvSpPr>
        <p:spPr>
          <a:xfrm>
            <a:off x="3566160" y="2194560"/>
            <a:ext cx="2103120" cy="914400"/>
          </a:xfrm>
          <a:prstGeom prst="rect">
            <a:avLst/>
          </a:prstGeom>
          <a:noFill/>
        </p:spPr>
        <p:txBody>
          <a:bodyPr wrap="square" anchor="t" lIns="0" rIns="0" tIns="0" bIns="0">
            <a:spAutoFit/>
          </a:bodyPr>
          <a:lstStyle/>
          <a:p>
            <a:pPr algn="l"/>
            <a:r>
              <a:rPr sz="1250" b="0" i="0">
                <a:solidFill>
                  <a:srgbClr val="1B2A33"/>
                </a:solidFill>
                <a:latin typeface="Calibri"/>
                <a:ea typeface="Apple SD Gothic Neo"/>
                <a:cs typeface="Calibri"/>
              </a:rPr>
              <a:t>solves the task using the playbook; produces a trajectory</a:t>
            </a:r>
          </a:p>
        </p:txBody>
      </p:sp>
      <p:sp>
        <p:nvSpPr>
          <p:cNvPr id="13" name="Right Arrow 12"/>
          <p:cNvSpPr/>
          <p:nvPr/>
        </p:nvSpPr>
        <p:spPr>
          <a:xfrm>
            <a:off x="5879592" y="2240280"/>
            <a:ext cx="310896" cy="292608"/>
          </a:xfrm>
          <a:prstGeom prst="rightArrow">
            <a:avLst/>
          </a:prstGeom>
          <a:solidFill>
            <a:srgbClr val="7D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17920" y="1600200"/>
            <a:ext cx="2468880" cy="1600200"/>
          </a:xfrm>
          <a:prstGeom prst="roundRect">
            <a:avLst>
              <a:gd name="adj" fmla="val 4571"/>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737360"/>
            <a:ext cx="2103120" cy="411480"/>
          </a:xfrm>
          <a:prstGeom prst="rect">
            <a:avLst/>
          </a:prstGeom>
          <a:noFill/>
        </p:spPr>
        <p:txBody>
          <a:bodyPr wrap="square" anchor="t" lIns="0" rIns="0" tIns="0" bIns="0">
            <a:spAutoFit/>
          </a:bodyPr>
          <a:lstStyle/>
          <a:p>
            <a:pPr algn="l"/>
            <a:r>
              <a:rPr sz="1700" b="1" i="0">
                <a:solidFill>
                  <a:srgbClr val="1B2A33"/>
                </a:solidFill>
                <a:latin typeface="Cambria"/>
                <a:ea typeface="Apple SD Gothic Neo"/>
                <a:cs typeface="Cambria"/>
              </a:rPr>
              <a:t>Reflector</a:t>
            </a:r>
          </a:p>
        </p:txBody>
      </p:sp>
      <p:sp>
        <p:nvSpPr>
          <p:cNvPr id="16" name="TextBox 15"/>
          <p:cNvSpPr txBox="1"/>
          <p:nvPr/>
        </p:nvSpPr>
        <p:spPr>
          <a:xfrm>
            <a:off x="6400800" y="2194560"/>
            <a:ext cx="2103120" cy="914400"/>
          </a:xfrm>
          <a:prstGeom prst="rect">
            <a:avLst/>
          </a:prstGeom>
          <a:noFill/>
        </p:spPr>
        <p:txBody>
          <a:bodyPr wrap="square" anchor="t" lIns="0" rIns="0" tIns="0" bIns="0">
            <a:spAutoFit/>
          </a:bodyPr>
          <a:lstStyle/>
          <a:p>
            <a:pPr algn="l"/>
            <a:r>
              <a:rPr sz="1250" b="0" i="0">
                <a:solidFill>
                  <a:srgbClr val="1B2A33"/>
                </a:solidFill>
                <a:latin typeface="Calibri"/>
                <a:ea typeface="Apple SD Gothic Neo"/>
                <a:cs typeface="Calibri"/>
              </a:rPr>
              <a:t>reads the trajectory and feedback; extracts lessons</a:t>
            </a:r>
          </a:p>
        </p:txBody>
      </p:sp>
      <p:sp>
        <p:nvSpPr>
          <p:cNvPr id="17" name="Right Arrow 16"/>
          <p:cNvSpPr/>
          <p:nvPr/>
        </p:nvSpPr>
        <p:spPr>
          <a:xfrm>
            <a:off x="8714232" y="2240280"/>
            <a:ext cx="310896" cy="292608"/>
          </a:xfrm>
          <a:prstGeom prst="rightArrow">
            <a:avLst/>
          </a:prstGeom>
          <a:solidFill>
            <a:srgbClr val="7D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052560" y="1600200"/>
            <a:ext cx="2468880" cy="1600200"/>
          </a:xfrm>
          <a:prstGeom prst="roundRect">
            <a:avLst>
              <a:gd name="adj" fmla="val 4571"/>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35440" y="1737360"/>
            <a:ext cx="2103120" cy="411480"/>
          </a:xfrm>
          <a:prstGeom prst="rect">
            <a:avLst/>
          </a:prstGeom>
          <a:noFill/>
        </p:spPr>
        <p:txBody>
          <a:bodyPr wrap="square" anchor="t" lIns="0" rIns="0" tIns="0" bIns="0">
            <a:spAutoFit/>
          </a:bodyPr>
          <a:lstStyle/>
          <a:p>
            <a:pPr algn="l"/>
            <a:r>
              <a:rPr sz="1700" b="1" i="0">
                <a:solidFill>
                  <a:srgbClr val="1B2A33"/>
                </a:solidFill>
                <a:latin typeface="Cambria"/>
                <a:ea typeface="Apple SD Gothic Neo"/>
                <a:cs typeface="Cambria"/>
              </a:rPr>
              <a:t>Curator</a:t>
            </a:r>
          </a:p>
        </p:txBody>
      </p:sp>
      <p:sp>
        <p:nvSpPr>
          <p:cNvPr id="20" name="TextBox 19"/>
          <p:cNvSpPr txBox="1"/>
          <p:nvPr/>
        </p:nvSpPr>
        <p:spPr>
          <a:xfrm>
            <a:off x="9235440" y="2194560"/>
            <a:ext cx="2103120" cy="914400"/>
          </a:xfrm>
          <a:prstGeom prst="rect">
            <a:avLst/>
          </a:prstGeom>
          <a:noFill/>
        </p:spPr>
        <p:txBody>
          <a:bodyPr wrap="square" anchor="t" lIns="0" rIns="0" tIns="0" bIns="0">
            <a:spAutoFit/>
          </a:bodyPr>
          <a:lstStyle/>
          <a:p>
            <a:pPr algn="l"/>
            <a:r>
              <a:rPr sz="1250" b="0" i="0">
                <a:solidFill>
                  <a:srgbClr val="1B2A33"/>
                </a:solidFill>
                <a:latin typeface="Calibri"/>
                <a:ea typeface="Apple SD Gothic Neo"/>
                <a:cs typeface="Calibri"/>
              </a:rPr>
              <a:t>turns lessons into small delta items (add / update)</a:t>
            </a:r>
          </a:p>
        </p:txBody>
      </p:sp>
      <p:sp>
        <p:nvSpPr>
          <p:cNvPr id="21" name="TextBox 20"/>
          <p:cNvSpPr txBox="1"/>
          <p:nvPr/>
        </p:nvSpPr>
        <p:spPr>
          <a:xfrm>
            <a:off x="548640" y="3337560"/>
            <a:ext cx="11109960" cy="365760"/>
          </a:xfrm>
          <a:prstGeom prst="rect">
            <a:avLst/>
          </a:prstGeom>
          <a:noFill/>
        </p:spPr>
        <p:txBody>
          <a:bodyPr wrap="square" anchor="t" lIns="0" rIns="0" tIns="0" bIns="0">
            <a:spAutoFit/>
          </a:bodyPr>
          <a:lstStyle/>
          <a:p>
            <a:pPr algn="ctr"/>
            <a:r>
              <a:rPr sz="1300" b="0" i="1">
                <a:solidFill>
                  <a:srgbClr val="5C6B73"/>
                </a:solidFill>
                <a:latin typeface="Calibri"/>
                <a:ea typeface="Apple SD Gothic Neo"/>
                <a:cs typeface="Calibri"/>
              </a:rPr>
              <a:t>↺  delta items are merged back into the playbook by simple, non-LLM logic; the playbook is never rewritten wholesale</a:t>
            </a:r>
          </a:p>
        </p:txBody>
      </p:sp>
      <p:sp>
        <p:nvSpPr>
          <p:cNvPr id="22" name="Rounded Rectangle 21"/>
          <p:cNvSpPr/>
          <p:nvPr/>
        </p:nvSpPr>
        <p:spPr>
          <a:xfrm>
            <a:off x="548640" y="3749039"/>
            <a:ext cx="3520440" cy="1417320"/>
          </a:xfrm>
          <a:prstGeom prst="roundRect">
            <a:avLst>
              <a:gd name="adj" fmla="val 5161"/>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3858768"/>
            <a:ext cx="3108960" cy="365760"/>
          </a:xfrm>
          <a:prstGeom prst="rect">
            <a:avLst/>
          </a:prstGeom>
          <a:noFill/>
        </p:spPr>
        <p:txBody>
          <a:bodyPr wrap="square" anchor="t" lIns="0" rIns="0" tIns="0" bIns="0">
            <a:spAutoFit/>
          </a:bodyPr>
          <a:lstStyle/>
          <a:p>
            <a:pPr algn="l"/>
            <a:r>
              <a:rPr sz="1500" b="1" i="0">
                <a:solidFill>
                  <a:srgbClr val="1B2A33"/>
                </a:solidFill>
                <a:latin typeface="Calibri"/>
                <a:ea typeface="Apple SD Gothic Neo"/>
                <a:cs typeface="Calibri"/>
              </a:rPr>
              <a:t>Two settings</a:t>
            </a:r>
          </a:p>
        </p:txBody>
      </p:sp>
      <p:sp>
        <p:nvSpPr>
          <p:cNvPr id="24" name="TextBox 23"/>
          <p:cNvSpPr txBox="1"/>
          <p:nvPr/>
        </p:nvSpPr>
        <p:spPr>
          <a:xfrm>
            <a:off x="777240" y="4251960"/>
            <a:ext cx="3108960" cy="868680"/>
          </a:xfrm>
          <a:prstGeom prst="rect">
            <a:avLst/>
          </a:prstGeom>
          <a:noFill/>
        </p:spPr>
        <p:txBody>
          <a:bodyPr wrap="square" anchor="t" lIns="0" rIns="0" tIns="0" bIns="0">
            <a:spAutoFit/>
          </a:bodyPr>
          <a:lstStyle/>
          <a:p>
            <a:pPr algn="l"/>
            <a:r>
              <a:rPr sz="1250" b="0" i="0">
                <a:solidFill>
                  <a:srgbClr val="1B2A33"/>
                </a:solidFill>
                <a:latin typeface="Calibri"/>
                <a:ea typeface="Apple SD Gothic Neo"/>
                <a:cs typeface="Calibri"/>
              </a:rPr>
              <a:t>Offline: optimize the system prompt before deployment.
Online: adapt a memory at test time, item by item.</a:t>
            </a:r>
          </a:p>
        </p:txBody>
      </p:sp>
      <p:sp>
        <p:nvSpPr>
          <p:cNvPr id="25" name="Rounded Rectangle 24"/>
          <p:cNvSpPr/>
          <p:nvPr/>
        </p:nvSpPr>
        <p:spPr>
          <a:xfrm>
            <a:off x="4297679" y="3749039"/>
            <a:ext cx="3520440" cy="1417320"/>
          </a:xfrm>
          <a:prstGeom prst="roundRect">
            <a:avLst>
              <a:gd name="adj" fmla="val 5161"/>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26279" y="3858768"/>
            <a:ext cx="3108960" cy="365760"/>
          </a:xfrm>
          <a:prstGeom prst="rect">
            <a:avLst/>
          </a:prstGeom>
          <a:noFill/>
        </p:spPr>
        <p:txBody>
          <a:bodyPr wrap="square" anchor="t" lIns="0" rIns="0" tIns="0" bIns="0">
            <a:spAutoFit/>
          </a:bodyPr>
          <a:lstStyle/>
          <a:p>
            <a:pPr algn="l"/>
            <a:r>
              <a:rPr sz="1500" b="1" i="0">
                <a:solidFill>
                  <a:srgbClr val="1B2A33"/>
                </a:solidFill>
                <a:latin typeface="Calibri"/>
                <a:ea typeface="Apple SD Gothic Neo"/>
                <a:cs typeface="Calibri"/>
              </a:rPr>
              <a:t>Evolving playbook</a:t>
            </a:r>
          </a:p>
        </p:txBody>
      </p:sp>
      <p:sp>
        <p:nvSpPr>
          <p:cNvPr id="27" name="TextBox 26"/>
          <p:cNvSpPr txBox="1"/>
          <p:nvPr/>
        </p:nvSpPr>
        <p:spPr>
          <a:xfrm>
            <a:off x="4526279" y="4251960"/>
            <a:ext cx="3108960" cy="868680"/>
          </a:xfrm>
          <a:prstGeom prst="rect">
            <a:avLst/>
          </a:prstGeom>
          <a:noFill/>
        </p:spPr>
        <p:txBody>
          <a:bodyPr wrap="square" anchor="t" lIns="0" rIns="0" tIns="0" bIns="0">
            <a:spAutoFit/>
          </a:bodyPr>
          <a:lstStyle/>
          <a:p>
            <a:pPr algn="l"/>
            <a:r>
              <a:rPr sz="1250" b="0" i="0">
                <a:solidFill>
                  <a:srgbClr val="1B2A33"/>
                </a:solidFill>
                <a:latin typeface="Calibri"/>
                <a:ea typeface="Apple SD Gothic Neo"/>
                <a:cs typeface="Calibri"/>
              </a:rPr>
              <a:t>Strategies accumulate and are organized over time instead of being condensed into a summary.</a:t>
            </a:r>
          </a:p>
        </p:txBody>
      </p:sp>
      <p:sp>
        <p:nvSpPr>
          <p:cNvPr id="28" name="Rounded Rectangle 27"/>
          <p:cNvSpPr/>
          <p:nvPr/>
        </p:nvSpPr>
        <p:spPr>
          <a:xfrm>
            <a:off x="8046719" y="3749039"/>
            <a:ext cx="3520440" cy="1417320"/>
          </a:xfrm>
          <a:prstGeom prst="roundRect">
            <a:avLst>
              <a:gd name="adj" fmla="val 5161"/>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75319" y="3858768"/>
            <a:ext cx="3108960" cy="365760"/>
          </a:xfrm>
          <a:prstGeom prst="rect">
            <a:avLst/>
          </a:prstGeom>
          <a:noFill/>
        </p:spPr>
        <p:txBody>
          <a:bodyPr wrap="square" anchor="t" lIns="0" rIns="0" tIns="0" bIns="0">
            <a:spAutoFit/>
          </a:bodyPr>
          <a:lstStyle/>
          <a:p>
            <a:pPr algn="l"/>
            <a:r>
              <a:rPr sz="1500" b="1" i="0">
                <a:solidFill>
                  <a:srgbClr val="1B2A33"/>
                </a:solidFill>
                <a:latin typeface="Calibri"/>
                <a:ea typeface="Apple SD Gothic Neo"/>
                <a:cs typeface="Calibri"/>
              </a:rPr>
              <a:t>Grow-and-refine</a:t>
            </a:r>
          </a:p>
        </p:txBody>
      </p:sp>
      <p:sp>
        <p:nvSpPr>
          <p:cNvPr id="30" name="TextBox 29"/>
          <p:cNvSpPr txBox="1"/>
          <p:nvPr/>
        </p:nvSpPr>
        <p:spPr>
          <a:xfrm>
            <a:off x="8275319" y="4251960"/>
            <a:ext cx="3108960" cy="868680"/>
          </a:xfrm>
          <a:prstGeom prst="rect">
            <a:avLst/>
          </a:prstGeom>
          <a:noFill/>
        </p:spPr>
        <p:txBody>
          <a:bodyPr wrap="square" anchor="t" lIns="0" rIns="0" tIns="0" bIns="0">
            <a:spAutoFit/>
          </a:bodyPr>
          <a:lstStyle/>
          <a:p>
            <a:pPr algn="l"/>
            <a:r>
              <a:rPr sz="1250" b="0" i="0">
                <a:solidFill>
                  <a:srgbClr val="1B2A33"/>
                </a:solidFill>
                <a:latin typeface="Calibri"/>
                <a:ea typeface="Apple SD Gothic Neo"/>
                <a:cs typeface="Calibri"/>
              </a:rPr>
              <a:t>Structured, incremental updates add new items and refine existing ones, so detail is kept and collapse is avoided.</a:t>
            </a:r>
          </a:p>
        </p:txBody>
      </p:sp>
      <p:sp>
        <p:nvSpPr>
          <p:cNvPr id="31" name="Rounded Rectangle 30"/>
          <p:cNvSpPr/>
          <p:nvPr/>
        </p:nvSpPr>
        <p:spPr>
          <a:xfrm>
            <a:off x="548640" y="5303520"/>
            <a:ext cx="11109960" cy="960120"/>
          </a:xfrm>
          <a:prstGeom prst="roundRect">
            <a:avLst>
              <a:gd name="adj" fmla="val 7619"/>
            </a:avLst>
          </a:prstGeom>
          <a:solidFill>
            <a:srgbClr val="E3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5431536"/>
            <a:ext cx="10707624" cy="274320"/>
          </a:xfrm>
          <a:prstGeom prst="rect">
            <a:avLst/>
          </a:prstGeom>
          <a:noFill/>
        </p:spPr>
        <p:txBody>
          <a:bodyPr wrap="square" anchor="t" lIns="0" rIns="0" tIns="0" bIns="0">
            <a:spAutoFit/>
          </a:bodyPr>
          <a:lstStyle/>
          <a:p>
            <a:pPr algn="l"/>
            <a:r>
              <a:rPr sz="1200" b="1" i="0">
                <a:solidFill>
                  <a:srgbClr val="2A7F86"/>
                </a:solidFill>
                <a:latin typeface="Calibri"/>
                <a:ea typeface="Apple SD Gothic Neo"/>
                <a:cs typeface="Calibri"/>
              </a:rPr>
              <a:t>What this means</a:t>
            </a:r>
          </a:p>
        </p:txBody>
      </p:sp>
      <p:sp>
        <p:nvSpPr>
          <p:cNvPr id="33" name="TextBox 32"/>
          <p:cNvSpPr txBox="1"/>
          <p:nvPr/>
        </p:nvSpPr>
        <p:spPr>
          <a:xfrm>
            <a:off x="749808" y="5760720"/>
            <a:ext cx="10707624" cy="411480"/>
          </a:xfrm>
          <a:prstGeom prst="rect">
            <a:avLst/>
          </a:prstGeom>
          <a:noFill/>
        </p:spPr>
        <p:txBody>
          <a:bodyPr wrap="square" anchor="t" lIns="0" rIns="0" tIns="0" bIns="0">
            <a:spAutoFit/>
          </a:bodyPr>
          <a:lstStyle/>
          <a:p>
            <a:pPr algn="l"/>
            <a:r>
              <a:rPr sz="1200" b="0" i="0">
                <a:solidFill>
                  <a:srgbClr val="1B2A33"/>
                </a:solidFill>
                <a:latin typeface="Calibri"/>
                <a:ea typeface="Apple SD Gothic Neo"/>
                <a:cs typeface="Calibri"/>
              </a:rPr>
              <a:t>The key design choice is updating the context in small, itemized pieces: nothing is summarized away (brevity bias) and nothing is rewritten wholesale (context collapse).</a:t>
            </a:r>
          </a:p>
        </p:txBody>
      </p:sp>
      <p:sp>
        <p:nvSpPr>
          <p:cNvPr id="34" name="TextBox 33"/>
          <p:cNvSpPr txBox="1"/>
          <p:nvPr/>
        </p:nvSpPr>
        <p:spPr>
          <a:xfrm>
            <a:off x="548640" y="6355080"/>
            <a:ext cx="11094415" cy="365760"/>
          </a:xfrm>
          <a:prstGeom prst="rect">
            <a:avLst/>
          </a:prstGeom>
          <a:noFill/>
        </p:spPr>
        <p:txBody>
          <a:bodyPr wrap="square" anchor="t" lIns="0" rIns="0" tIns="0" bIns="0">
            <a:spAutoFit/>
          </a:bodyPr>
          <a:lstStyle/>
          <a:p>
            <a:pPr algn="l"/>
            <a:r>
              <a:rPr sz="1000" b="0" i="0">
                <a:solidFill>
                  <a:srgbClr val="5C6B73"/>
                </a:solidFill>
                <a:latin typeface="Calibri"/>
                <a:ea typeface="Apple SD Gothic Neo"/>
                <a:cs typeface="Calibri"/>
              </a:rPr>
              <a:t>Source: Zhang et al., “Agentic Context Engineering: Evolving Contexts for Self-Improving Language Models”, ICLR 2026 (arXiv 2510.04618), Section 1. Role details (trajectory, delta items, non-LLM merge) are from Section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9905695" y="1005840"/>
            <a:ext cx="1737360" cy="292608"/>
          </a:xfrm>
          <a:prstGeom prst="roundRect">
            <a:avLst>
              <a:gd name="adj" fmla="val 25000"/>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05695" y="1005840"/>
            <a:ext cx="1737360" cy="292608"/>
          </a:xfrm>
          <a:prstGeom prst="rect">
            <a:avLst/>
          </a:prstGeom>
          <a:noFill/>
        </p:spPr>
        <p:txBody>
          <a:bodyPr wrap="square" anchor="ctr" lIns="0" rIns="0" tIns="0" bIns="0">
            <a:spAutoFit/>
          </a:bodyPr>
          <a:lstStyle/>
          <a:p>
            <a:pPr algn="ctr"/>
            <a:r>
              <a:rPr sz="1100" b="1" i="0">
                <a:solidFill>
                  <a:srgbClr val="FFFFFF"/>
                </a:solidFill>
                <a:latin typeface="Calibri"/>
                <a:ea typeface="Apple SD Gothic Neo"/>
                <a:cs typeface="Calibri"/>
              </a:rPr>
              <a:t>Paragraph 3</a:t>
            </a:r>
          </a:p>
        </p:txBody>
      </p:sp>
      <p:sp>
        <p:nvSpPr>
          <p:cNvPr id="4" name="TextBox 3"/>
          <p:cNvSpPr txBox="1"/>
          <p:nvPr/>
        </p:nvSpPr>
        <p:spPr>
          <a:xfrm>
            <a:off x="548640" y="365760"/>
            <a:ext cx="11094415" cy="685800"/>
          </a:xfrm>
          <a:prstGeom prst="rect">
            <a:avLst/>
          </a:prstGeom>
          <a:noFill/>
        </p:spPr>
        <p:txBody>
          <a:bodyPr wrap="square" anchor="t" lIns="0" rIns="0" tIns="0" bIns="0">
            <a:spAutoFit/>
          </a:bodyPr>
          <a:lstStyle/>
          <a:p>
            <a:pPr algn="l"/>
            <a:r>
              <a:rPr sz="2600" b="1" i="0">
                <a:solidFill>
                  <a:srgbClr val="1B2A33"/>
                </a:solidFill>
                <a:latin typeface="Cambria"/>
                <a:ea typeface="Apple SD Gothic Neo"/>
                <a:cs typeface="Cambria"/>
              </a:rPr>
              <a:t>The evidence (1/2): two kinds of application</a:t>
            </a:r>
          </a:p>
        </p:txBody>
      </p:sp>
      <p:sp>
        <p:nvSpPr>
          <p:cNvPr id="5" name="TextBox 4"/>
          <p:cNvSpPr txBox="1"/>
          <p:nvPr/>
        </p:nvSpPr>
        <p:spPr>
          <a:xfrm>
            <a:off x="548640" y="1005840"/>
            <a:ext cx="11094415" cy="365760"/>
          </a:xfrm>
          <a:prstGeom prst="rect">
            <a:avLst/>
          </a:prstGeom>
          <a:noFill/>
        </p:spPr>
        <p:txBody>
          <a:bodyPr wrap="square" anchor="t" lIns="0" rIns="0" tIns="0" bIns="0">
            <a:spAutoFit/>
          </a:bodyPr>
          <a:lstStyle/>
          <a:p>
            <a:pPr algn="l"/>
            <a:r>
              <a:rPr sz="1300" b="0" i="0">
                <a:solidFill>
                  <a:srgbClr val="5C6B73"/>
                </a:solidFill>
                <a:latin typeface="Calibri"/>
                <a:ea typeface="Apple SD Gothic Neo"/>
                <a:cs typeface="Calibri"/>
              </a:rPr>
              <a:t>“We evaluate ACE on two categories of LLM applications …”</a:t>
            </a:r>
          </a:p>
        </p:txBody>
      </p:sp>
      <p:sp>
        <p:nvSpPr>
          <p:cNvPr id="6" name="Rounded Rectangle 5"/>
          <p:cNvSpPr/>
          <p:nvPr/>
        </p:nvSpPr>
        <p:spPr>
          <a:xfrm>
            <a:off x="548640" y="1508760"/>
            <a:ext cx="5303520" cy="1600200"/>
          </a:xfrm>
          <a:prstGeom prst="roundRect">
            <a:avLst>
              <a:gd name="adj" fmla="val 4571"/>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45920"/>
            <a:ext cx="4846320" cy="365760"/>
          </a:xfrm>
          <a:prstGeom prst="rect">
            <a:avLst/>
          </a:prstGeom>
          <a:noFill/>
        </p:spPr>
        <p:txBody>
          <a:bodyPr wrap="square" anchor="t" lIns="0" rIns="0" tIns="0" bIns="0">
            <a:spAutoFit/>
          </a:bodyPr>
          <a:lstStyle/>
          <a:p>
            <a:pPr algn="l"/>
            <a:r>
              <a:rPr sz="1700" b="1" i="0">
                <a:solidFill>
                  <a:srgbClr val="1B2A33"/>
                </a:solidFill>
                <a:latin typeface="Cambria"/>
                <a:ea typeface="Apple SD Gothic Neo"/>
                <a:cs typeface="Cambria"/>
              </a:rPr>
              <a:t>Agents</a:t>
            </a:r>
          </a:p>
        </p:txBody>
      </p:sp>
      <p:sp>
        <p:nvSpPr>
          <p:cNvPr id="8" name="TextBox 7"/>
          <p:cNvSpPr txBox="1"/>
          <p:nvPr/>
        </p:nvSpPr>
        <p:spPr>
          <a:xfrm>
            <a:off x="777240" y="2057400"/>
            <a:ext cx="4846320" cy="640080"/>
          </a:xfrm>
          <a:prstGeom prst="rect">
            <a:avLst/>
          </a:prstGeom>
          <a:noFill/>
        </p:spPr>
        <p:txBody>
          <a:bodyPr wrap="square" anchor="t" lIns="0" rIns="0" tIns="0" bIns="0">
            <a:spAutoFit/>
          </a:bodyPr>
          <a:lstStyle/>
          <a:p>
            <a:pPr algn="l"/>
            <a:r>
              <a:rPr sz="1250" b="0" i="0">
                <a:solidFill>
                  <a:srgbClr val="1B2A33"/>
                </a:solidFill>
                <a:latin typeface="Calibri"/>
                <a:ea typeface="Apple SD Gothic Neo"/>
                <a:cs typeface="Calibri"/>
              </a:rPr>
              <a:t>Multi-turn reasoning, tool use and interaction with an environment. Strategies learned in one episode can be reused in the next.</a:t>
            </a:r>
          </a:p>
        </p:txBody>
      </p:sp>
      <p:sp>
        <p:nvSpPr>
          <p:cNvPr id="9" name="TextBox 8"/>
          <p:cNvSpPr txBox="1"/>
          <p:nvPr/>
        </p:nvSpPr>
        <p:spPr>
          <a:xfrm>
            <a:off x="777240" y="2697480"/>
            <a:ext cx="4846320" cy="320040"/>
          </a:xfrm>
          <a:prstGeom prst="rect">
            <a:avLst/>
          </a:prstGeom>
          <a:noFill/>
        </p:spPr>
        <p:txBody>
          <a:bodyPr wrap="square" anchor="t" lIns="0" rIns="0" tIns="0" bIns="0">
            <a:spAutoFit/>
          </a:bodyPr>
          <a:lstStyle/>
          <a:p>
            <a:pPr algn="l"/>
            <a:r>
              <a:rPr sz="1200" b="0" i="1">
                <a:solidFill>
                  <a:srgbClr val="5C6B73"/>
                </a:solidFill>
                <a:latin typeface="Calibri"/>
                <a:ea typeface="Apple SD Gothic Neo"/>
                <a:cs typeface="Calibri"/>
              </a:rPr>
              <a:t>Benchmark: AppWorld (apps driven through code and APIs)</a:t>
            </a:r>
          </a:p>
        </p:txBody>
      </p:sp>
      <p:sp>
        <p:nvSpPr>
          <p:cNvPr id="10" name="Rounded Rectangle 9"/>
          <p:cNvSpPr/>
          <p:nvPr/>
        </p:nvSpPr>
        <p:spPr>
          <a:xfrm>
            <a:off x="6355080" y="1508760"/>
            <a:ext cx="5303520" cy="1600200"/>
          </a:xfrm>
          <a:prstGeom prst="roundRect">
            <a:avLst>
              <a:gd name="adj" fmla="val 4571"/>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645920"/>
            <a:ext cx="4846320" cy="365760"/>
          </a:xfrm>
          <a:prstGeom prst="rect">
            <a:avLst/>
          </a:prstGeom>
          <a:noFill/>
        </p:spPr>
        <p:txBody>
          <a:bodyPr wrap="square" anchor="t" lIns="0" rIns="0" tIns="0" bIns="0">
            <a:spAutoFit/>
          </a:bodyPr>
          <a:lstStyle/>
          <a:p>
            <a:pPr algn="l"/>
            <a:r>
              <a:rPr sz="1700" b="1" i="0">
                <a:solidFill>
                  <a:srgbClr val="1B2A33"/>
                </a:solidFill>
                <a:latin typeface="Cambria"/>
                <a:ea typeface="Apple SD Gothic Neo"/>
                <a:cs typeface="Cambria"/>
              </a:rPr>
              <a:t>Domain-specific benchmarks</a:t>
            </a:r>
          </a:p>
        </p:txBody>
      </p:sp>
      <p:sp>
        <p:nvSpPr>
          <p:cNvPr id="12" name="TextBox 11"/>
          <p:cNvSpPr txBox="1"/>
          <p:nvPr/>
        </p:nvSpPr>
        <p:spPr>
          <a:xfrm>
            <a:off x="6583680" y="2057400"/>
            <a:ext cx="4846320" cy="640080"/>
          </a:xfrm>
          <a:prstGeom prst="rect">
            <a:avLst/>
          </a:prstGeom>
          <a:noFill/>
        </p:spPr>
        <p:txBody>
          <a:bodyPr wrap="square" anchor="t" lIns="0" rIns="0" tIns="0" bIns="0">
            <a:spAutoFit/>
          </a:bodyPr>
          <a:lstStyle/>
          <a:p>
            <a:pPr algn="l"/>
            <a:r>
              <a:rPr sz="1250" b="0" i="0">
                <a:solidFill>
                  <a:srgbClr val="1B2A33"/>
                </a:solidFill>
                <a:latin typeface="Calibri"/>
                <a:ea typeface="Apple SD Gothic Neo"/>
                <a:cs typeface="Calibri"/>
              </a:rPr>
              <a:t>Tasks that need specialized tactics and knowledge, such as financial analysis.</a:t>
            </a:r>
          </a:p>
        </p:txBody>
      </p:sp>
      <p:sp>
        <p:nvSpPr>
          <p:cNvPr id="13" name="TextBox 12"/>
          <p:cNvSpPr txBox="1"/>
          <p:nvPr/>
        </p:nvSpPr>
        <p:spPr>
          <a:xfrm>
            <a:off x="6583680" y="2697480"/>
            <a:ext cx="4846320" cy="320040"/>
          </a:xfrm>
          <a:prstGeom prst="rect">
            <a:avLst/>
          </a:prstGeom>
          <a:noFill/>
        </p:spPr>
        <p:txBody>
          <a:bodyPr wrap="square" anchor="t" lIns="0" rIns="0" tIns="0" bIns="0">
            <a:spAutoFit/>
          </a:bodyPr>
          <a:lstStyle/>
          <a:p>
            <a:pPr algn="l"/>
            <a:r>
              <a:rPr sz="1200" b="0" i="1">
                <a:solidFill>
                  <a:srgbClr val="5C6B73"/>
                </a:solidFill>
                <a:latin typeface="Calibri"/>
                <a:ea typeface="Apple SD Gothic Neo"/>
                <a:cs typeface="Calibri"/>
              </a:rPr>
              <a:t>Benchmarks: FiNER and Formula (finance)</a:t>
            </a:r>
          </a:p>
        </p:txBody>
      </p:sp>
      <p:graphicFrame>
        <p:nvGraphicFramePr>
          <p:cNvPr id="14" name="Chart 13"/>
          <p:cNvGraphicFramePr>
            <a:graphicFrameLocks noGrp="1"/>
          </p:cNvGraphicFramePr>
          <p:nvPr/>
        </p:nvGraphicFramePr>
        <p:xfrm>
          <a:off x="548640" y="3291840"/>
          <a:ext cx="3520440" cy="2926080"/>
        </p:xfrm>
        <a:graphic>
          <a:graphicData uri="http://schemas.openxmlformats.org/drawingml/2006/chart">
            <c:chart xmlns:c="http://schemas.openxmlformats.org/drawingml/2006/chart" r:id="rId2"/>
          </a:graphicData>
        </a:graphic>
      </p:graphicFrame>
      <p:graphicFrame>
        <p:nvGraphicFramePr>
          <p:cNvPr id="15" name="Chart 14"/>
          <p:cNvGraphicFramePr>
            <a:graphicFrameLocks noGrp="1"/>
          </p:cNvGraphicFramePr>
          <p:nvPr/>
        </p:nvGraphicFramePr>
        <p:xfrm>
          <a:off x="4297679" y="3291840"/>
          <a:ext cx="3520440" cy="2926080"/>
        </p:xfrm>
        <a:graphic>
          <a:graphicData uri="http://schemas.openxmlformats.org/drawingml/2006/chart">
            <c:chart xmlns:c="http://schemas.openxmlformats.org/drawingml/2006/chart" r:id="rId3"/>
          </a:graphicData>
        </a:graphic>
      </p:graphicFrame>
      <p:graphicFrame>
        <p:nvGraphicFramePr>
          <p:cNvPr id="16" name="Chart 15"/>
          <p:cNvGraphicFramePr>
            <a:graphicFrameLocks noGrp="1"/>
          </p:cNvGraphicFramePr>
          <p:nvPr/>
        </p:nvGraphicFramePr>
        <p:xfrm>
          <a:off x="8046719" y="3291840"/>
          <a:ext cx="3520440" cy="2926080"/>
        </p:xfrm>
        <a:graphic>
          <a:graphicData uri="http://schemas.openxmlformats.org/drawingml/2006/chart">
            <c:chart xmlns:c="http://schemas.openxmlformats.org/drawingml/2006/chart" r:id="rId4"/>
          </a:graphicData>
        </a:graphic>
      </p:graphicFrame>
      <p:sp>
        <p:nvSpPr>
          <p:cNvPr id="17" name="TextBox 16"/>
          <p:cNvSpPr txBox="1"/>
          <p:nvPr/>
        </p:nvSpPr>
        <p:spPr>
          <a:xfrm>
            <a:off x="548640" y="6355080"/>
            <a:ext cx="11094415" cy="365760"/>
          </a:xfrm>
          <a:prstGeom prst="rect">
            <a:avLst/>
          </a:prstGeom>
          <a:noFill/>
        </p:spPr>
        <p:txBody>
          <a:bodyPr wrap="square" anchor="t" lIns="0" rIns="0" tIns="0" bIns="0">
            <a:spAutoFit/>
          </a:bodyPr>
          <a:lstStyle/>
          <a:p>
            <a:pPr algn="l"/>
            <a:r>
              <a:rPr sz="1000" b="0" i="0">
                <a:solidFill>
                  <a:srgbClr val="5C6B73"/>
                </a:solidFill>
                <a:latin typeface="Calibri"/>
                <a:ea typeface="Apple SD Gothic Neo"/>
                <a:cs typeface="Calibri"/>
              </a:rPr>
              <a:t>Accuracy (%) as reported in the paper’s Figure 1 (DeepSeek-V3.1 backbone); AppWorld values average the four TGC/SGC scores. Source: Zhang et al., “Agentic Context Engineering: Evolving Contexts for Self-Improving Language Models”, ICLR 2026 (arXiv 2510.04618), Section 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9905695" y="1005840"/>
            <a:ext cx="1737360" cy="292608"/>
          </a:xfrm>
          <a:prstGeom prst="roundRect">
            <a:avLst>
              <a:gd name="adj" fmla="val 25000"/>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05695" y="1005840"/>
            <a:ext cx="1737360" cy="292608"/>
          </a:xfrm>
          <a:prstGeom prst="rect">
            <a:avLst/>
          </a:prstGeom>
          <a:noFill/>
        </p:spPr>
        <p:txBody>
          <a:bodyPr wrap="square" anchor="ctr" lIns="0" rIns="0" tIns="0" bIns="0">
            <a:spAutoFit/>
          </a:bodyPr>
          <a:lstStyle/>
          <a:p>
            <a:pPr algn="ctr"/>
            <a:r>
              <a:rPr sz="1100" b="1" i="0">
                <a:solidFill>
                  <a:srgbClr val="FFFFFF"/>
                </a:solidFill>
                <a:latin typeface="Calibri"/>
                <a:ea typeface="Apple SD Gothic Neo"/>
                <a:cs typeface="Calibri"/>
              </a:rPr>
              <a:t>Paragraph 3</a:t>
            </a:r>
          </a:p>
        </p:txBody>
      </p:sp>
      <p:sp>
        <p:nvSpPr>
          <p:cNvPr id="4" name="TextBox 3"/>
          <p:cNvSpPr txBox="1"/>
          <p:nvPr/>
        </p:nvSpPr>
        <p:spPr>
          <a:xfrm>
            <a:off x="548640" y="365760"/>
            <a:ext cx="11094415" cy="685800"/>
          </a:xfrm>
          <a:prstGeom prst="rect">
            <a:avLst/>
          </a:prstGeom>
          <a:noFill/>
        </p:spPr>
        <p:txBody>
          <a:bodyPr wrap="square" anchor="t" lIns="0" rIns="0" tIns="0" bIns="0">
            <a:spAutoFit/>
          </a:bodyPr>
          <a:lstStyle/>
          <a:p>
            <a:pPr algn="l"/>
            <a:r>
              <a:rPr sz="2600" b="1" i="0">
                <a:solidFill>
                  <a:srgbClr val="1B2A33"/>
                </a:solidFill>
                <a:latin typeface="Cambria"/>
                <a:ea typeface="Apple SD Gothic Neo"/>
                <a:cs typeface="Cambria"/>
              </a:rPr>
              <a:t>The evidence (2/2): four headline findings</a:t>
            </a:r>
          </a:p>
        </p:txBody>
      </p:sp>
      <p:sp>
        <p:nvSpPr>
          <p:cNvPr id="5" name="TextBox 4"/>
          <p:cNvSpPr txBox="1"/>
          <p:nvPr/>
        </p:nvSpPr>
        <p:spPr>
          <a:xfrm>
            <a:off x="548640" y="1005840"/>
            <a:ext cx="11094415" cy="365760"/>
          </a:xfrm>
          <a:prstGeom prst="rect">
            <a:avLst/>
          </a:prstGeom>
          <a:noFill/>
        </p:spPr>
        <p:txBody>
          <a:bodyPr wrap="square" anchor="t" lIns="0" rIns="0" tIns="0" bIns="0">
            <a:spAutoFit/>
          </a:bodyPr>
          <a:lstStyle/>
          <a:p>
            <a:pPr algn="l"/>
            <a:r>
              <a:rPr sz="1300" b="0" i="0">
                <a:solidFill>
                  <a:srgbClr val="5C6B73"/>
                </a:solidFill>
                <a:latin typeface="Calibri"/>
                <a:ea typeface="Apple SD Gothic Neo"/>
                <a:cs typeface="Calibri"/>
              </a:rPr>
              <a:t>What the paragraph promises the experiments will show</a:t>
            </a:r>
          </a:p>
        </p:txBody>
      </p:sp>
      <p:sp>
        <p:nvSpPr>
          <p:cNvPr id="6" name="Rounded Rectangle 5"/>
          <p:cNvSpPr/>
          <p:nvPr/>
        </p:nvSpPr>
        <p:spPr>
          <a:xfrm>
            <a:off x="548640" y="1554480"/>
            <a:ext cx="5440680" cy="2148840"/>
          </a:xfrm>
          <a:prstGeom prst="roundRect">
            <a:avLst>
              <a:gd name="adj" fmla="val 3404"/>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737360"/>
            <a:ext cx="4937760" cy="594360"/>
          </a:xfrm>
          <a:prstGeom prst="rect">
            <a:avLst/>
          </a:prstGeom>
          <a:noFill/>
        </p:spPr>
        <p:txBody>
          <a:bodyPr wrap="square" anchor="t" lIns="0" rIns="0" tIns="0" bIns="0">
            <a:spAutoFit/>
          </a:bodyPr>
          <a:lstStyle/>
          <a:p>
            <a:pPr algn="l"/>
            <a:r>
              <a:rPr sz="2600" b="1" i="0">
                <a:solidFill>
                  <a:srgbClr val="D1495B"/>
                </a:solidFill>
                <a:latin typeface="Cambria"/>
                <a:ea typeface="Apple SD Gothic Neo"/>
                <a:cs typeface="Cambria"/>
              </a:rPr>
              <a:t>+10.6% / +8.6%</a:t>
            </a:r>
          </a:p>
        </p:txBody>
      </p:sp>
      <p:sp>
        <p:nvSpPr>
          <p:cNvPr id="8" name="TextBox 7"/>
          <p:cNvSpPr txBox="1"/>
          <p:nvPr/>
        </p:nvSpPr>
        <p:spPr>
          <a:xfrm>
            <a:off x="822959" y="2377440"/>
            <a:ext cx="4937760" cy="365760"/>
          </a:xfrm>
          <a:prstGeom prst="rect">
            <a:avLst/>
          </a:prstGeom>
          <a:noFill/>
        </p:spPr>
        <p:txBody>
          <a:bodyPr wrap="square" anchor="t" lIns="0" rIns="0" tIns="0" bIns="0">
            <a:spAutoFit/>
          </a:bodyPr>
          <a:lstStyle/>
          <a:p>
            <a:pPr algn="l"/>
            <a:r>
              <a:rPr sz="1500" b="1" i="0">
                <a:solidFill>
                  <a:srgbClr val="1B2A33"/>
                </a:solidFill>
                <a:latin typeface="Calibri"/>
                <a:ea typeface="Apple SD Gothic Neo"/>
                <a:cs typeface="Calibri"/>
              </a:rPr>
              <a:t>Consistent gains</a:t>
            </a:r>
          </a:p>
        </p:txBody>
      </p:sp>
      <p:sp>
        <p:nvSpPr>
          <p:cNvPr id="9" name="TextBox 8"/>
          <p:cNvSpPr txBox="1"/>
          <p:nvPr/>
        </p:nvSpPr>
        <p:spPr>
          <a:xfrm>
            <a:off x="822959" y="2788920"/>
            <a:ext cx="4937760" cy="868680"/>
          </a:xfrm>
          <a:prstGeom prst="rect">
            <a:avLst/>
          </a:prstGeom>
          <a:noFill/>
        </p:spPr>
        <p:txBody>
          <a:bodyPr wrap="square" anchor="t" lIns="0" rIns="0" tIns="0" bIns="0">
            <a:spAutoFit/>
          </a:bodyPr>
          <a:lstStyle/>
          <a:p>
            <a:pPr algn="l"/>
            <a:r>
              <a:rPr sz="1250" b="0" i="0">
                <a:solidFill>
                  <a:srgbClr val="1B2A33"/>
                </a:solidFill>
                <a:latin typeface="Calibri"/>
                <a:ea typeface="Apple SD Gothic Neo"/>
                <a:cs typeface="Calibri"/>
              </a:rPr>
              <a:t>Average improvement over strong baselines on agents and on domain-specific benchmarks, in both offline and online settings.</a:t>
            </a:r>
          </a:p>
        </p:txBody>
      </p:sp>
      <p:sp>
        <p:nvSpPr>
          <p:cNvPr id="10" name="Rounded Rectangle 9"/>
          <p:cNvSpPr/>
          <p:nvPr/>
        </p:nvSpPr>
        <p:spPr>
          <a:xfrm>
            <a:off x="6355079" y="1554480"/>
            <a:ext cx="5440680" cy="2148840"/>
          </a:xfrm>
          <a:prstGeom prst="roundRect">
            <a:avLst>
              <a:gd name="adj" fmla="val 3404"/>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399" y="1737360"/>
            <a:ext cx="4937760" cy="594360"/>
          </a:xfrm>
          <a:prstGeom prst="rect">
            <a:avLst/>
          </a:prstGeom>
          <a:noFill/>
        </p:spPr>
        <p:txBody>
          <a:bodyPr wrap="square" anchor="t" lIns="0" rIns="0" tIns="0" bIns="0">
            <a:spAutoFit/>
          </a:bodyPr>
          <a:lstStyle/>
          <a:p>
            <a:pPr algn="l"/>
            <a:r>
              <a:rPr sz="2600" b="1" i="0">
                <a:solidFill>
                  <a:srgbClr val="D1495B"/>
                </a:solidFill>
                <a:latin typeface="Cambria"/>
                <a:ea typeface="Apple SD Gothic Neo"/>
                <a:cs typeface="Cambria"/>
              </a:rPr>
              <a:t>No labels needed</a:t>
            </a:r>
          </a:p>
        </p:txBody>
      </p:sp>
      <p:sp>
        <p:nvSpPr>
          <p:cNvPr id="12" name="TextBox 11"/>
          <p:cNvSpPr txBox="1"/>
          <p:nvPr/>
        </p:nvSpPr>
        <p:spPr>
          <a:xfrm>
            <a:off x="6629399" y="2377440"/>
            <a:ext cx="4937760" cy="365760"/>
          </a:xfrm>
          <a:prstGeom prst="rect">
            <a:avLst/>
          </a:prstGeom>
          <a:noFill/>
        </p:spPr>
        <p:txBody>
          <a:bodyPr wrap="square" anchor="t" lIns="0" rIns="0" tIns="0" bIns="0">
            <a:spAutoFit/>
          </a:bodyPr>
          <a:lstStyle/>
          <a:p>
            <a:pPr algn="l"/>
            <a:r>
              <a:rPr sz="1500" b="1" i="0">
                <a:solidFill>
                  <a:srgbClr val="1B2A33"/>
                </a:solidFill>
                <a:latin typeface="Calibri"/>
                <a:ea typeface="Apple SD Gothic Neo"/>
                <a:cs typeface="Calibri"/>
              </a:rPr>
              <a:t>Learns from feedback</a:t>
            </a:r>
          </a:p>
        </p:txBody>
      </p:sp>
      <p:sp>
        <p:nvSpPr>
          <p:cNvPr id="13" name="TextBox 12"/>
          <p:cNvSpPr txBox="1"/>
          <p:nvPr/>
        </p:nvSpPr>
        <p:spPr>
          <a:xfrm>
            <a:off x="6629399" y="2788920"/>
            <a:ext cx="4937760" cy="868680"/>
          </a:xfrm>
          <a:prstGeom prst="rect">
            <a:avLst/>
          </a:prstGeom>
          <a:noFill/>
        </p:spPr>
        <p:txBody>
          <a:bodyPr wrap="square" anchor="t" lIns="0" rIns="0" tIns="0" bIns="0">
            <a:spAutoFit/>
          </a:bodyPr>
          <a:lstStyle/>
          <a:p>
            <a:pPr algn="l"/>
            <a:r>
              <a:rPr sz="1250" b="0" i="0">
                <a:solidFill>
                  <a:srgbClr val="1B2A33"/>
                </a:solidFill>
                <a:latin typeface="Calibri"/>
                <a:ea typeface="Apple SD Gothic Neo"/>
                <a:cs typeface="Calibri"/>
              </a:rPr>
              <a:t>Effective contexts can be built from execution feedback and environment signals instead of labeled answers, a key ingredient for self-improvement.</a:t>
            </a:r>
          </a:p>
        </p:txBody>
      </p:sp>
      <p:sp>
        <p:nvSpPr>
          <p:cNvPr id="14" name="Rounded Rectangle 13"/>
          <p:cNvSpPr/>
          <p:nvPr/>
        </p:nvSpPr>
        <p:spPr>
          <a:xfrm>
            <a:off x="548640" y="3886200"/>
            <a:ext cx="5440680" cy="2148840"/>
          </a:xfrm>
          <a:prstGeom prst="roundRect">
            <a:avLst>
              <a:gd name="adj" fmla="val 3404"/>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4069080"/>
            <a:ext cx="4937760" cy="594360"/>
          </a:xfrm>
          <a:prstGeom prst="rect">
            <a:avLst/>
          </a:prstGeom>
          <a:noFill/>
        </p:spPr>
        <p:txBody>
          <a:bodyPr wrap="square" anchor="t" lIns="0" rIns="0" tIns="0" bIns="0">
            <a:spAutoFit/>
          </a:bodyPr>
          <a:lstStyle/>
          <a:p>
            <a:pPr algn="l"/>
            <a:r>
              <a:rPr sz="2600" b="1" i="0">
                <a:solidFill>
                  <a:srgbClr val="D1495B"/>
                </a:solidFill>
                <a:latin typeface="Cambria"/>
                <a:ea typeface="Apple SD Gothic Neo"/>
                <a:cs typeface="Cambria"/>
              </a:rPr>
              <a:t>Leaderboard</a:t>
            </a:r>
          </a:p>
        </p:txBody>
      </p:sp>
      <p:sp>
        <p:nvSpPr>
          <p:cNvPr id="16" name="TextBox 15"/>
          <p:cNvSpPr txBox="1"/>
          <p:nvPr/>
        </p:nvSpPr>
        <p:spPr>
          <a:xfrm>
            <a:off x="822959" y="4709160"/>
            <a:ext cx="4937760" cy="365760"/>
          </a:xfrm>
          <a:prstGeom prst="rect">
            <a:avLst/>
          </a:prstGeom>
          <a:noFill/>
        </p:spPr>
        <p:txBody>
          <a:bodyPr wrap="square" anchor="t" lIns="0" rIns="0" tIns="0" bIns="0">
            <a:spAutoFit/>
          </a:bodyPr>
          <a:lstStyle/>
          <a:p>
            <a:pPr algn="l"/>
            <a:r>
              <a:rPr sz="1500" b="1" i="0">
                <a:solidFill>
                  <a:srgbClr val="1B2A33"/>
                </a:solidFill>
                <a:latin typeface="Calibri"/>
                <a:ea typeface="Apple SD Gothic Neo"/>
                <a:cs typeface="Calibri"/>
              </a:rPr>
              <a:t>Open model, top-tier agent</a:t>
            </a:r>
          </a:p>
        </p:txBody>
      </p:sp>
      <p:sp>
        <p:nvSpPr>
          <p:cNvPr id="17" name="TextBox 16"/>
          <p:cNvSpPr txBox="1"/>
          <p:nvPr/>
        </p:nvSpPr>
        <p:spPr>
          <a:xfrm>
            <a:off x="822959" y="5120640"/>
            <a:ext cx="4937760" cy="868680"/>
          </a:xfrm>
          <a:prstGeom prst="rect">
            <a:avLst/>
          </a:prstGeom>
          <a:noFill/>
        </p:spPr>
        <p:txBody>
          <a:bodyPr wrap="square" anchor="t" lIns="0" rIns="0" tIns="0" bIns="0">
            <a:spAutoFit/>
          </a:bodyPr>
          <a:lstStyle/>
          <a:p>
            <a:pPr algn="l"/>
            <a:r>
              <a:rPr sz="1250" b="0" i="0">
                <a:solidFill>
                  <a:srgbClr val="1B2A33"/>
                </a:solidFill>
                <a:latin typeface="Calibri"/>
                <a:ea typeface="Apple SD Gothic Neo"/>
                <a:cs typeface="Calibri"/>
              </a:rPr>
              <a:t>On the AppWorld leaderboard, ACE with open-source DeepSeek-V3.1 surpasses the top-ranked production agent (IBM-CUGA, built on GPT-4.1).</a:t>
            </a:r>
          </a:p>
        </p:txBody>
      </p:sp>
      <p:sp>
        <p:nvSpPr>
          <p:cNvPr id="18" name="Rounded Rectangle 17"/>
          <p:cNvSpPr/>
          <p:nvPr/>
        </p:nvSpPr>
        <p:spPr>
          <a:xfrm>
            <a:off x="6355079" y="3886200"/>
            <a:ext cx="5440680" cy="2148840"/>
          </a:xfrm>
          <a:prstGeom prst="roundRect">
            <a:avLst>
              <a:gd name="adj" fmla="val 3404"/>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399" y="4069080"/>
            <a:ext cx="4937760" cy="594360"/>
          </a:xfrm>
          <a:prstGeom prst="rect">
            <a:avLst/>
          </a:prstGeom>
          <a:noFill/>
        </p:spPr>
        <p:txBody>
          <a:bodyPr wrap="square" anchor="t" lIns="0" rIns="0" tIns="0" bIns="0">
            <a:spAutoFit/>
          </a:bodyPr>
          <a:lstStyle/>
          <a:p>
            <a:pPr algn="l"/>
            <a:r>
              <a:rPr sz="2600" b="1" i="0">
                <a:solidFill>
                  <a:srgbClr val="D1495B"/>
                </a:solidFill>
                <a:latin typeface="Cambria"/>
                <a:ea typeface="Apple SD Gothic Neo"/>
                <a:cs typeface="Cambria"/>
              </a:rPr>
              <a:t>Cheaper</a:t>
            </a:r>
          </a:p>
        </p:txBody>
      </p:sp>
      <p:sp>
        <p:nvSpPr>
          <p:cNvPr id="20" name="TextBox 19"/>
          <p:cNvSpPr txBox="1"/>
          <p:nvPr/>
        </p:nvSpPr>
        <p:spPr>
          <a:xfrm>
            <a:off x="6629399" y="4709160"/>
            <a:ext cx="4937760" cy="365760"/>
          </a:xfrm>
          <a:prstGeom prst="rect">
            <a:avLst/>
          </a:prstGeom>
          <a:noFill/>
        </p:spPr>
        <p:txBody>
          <a:bodyPr wrap="square" anchor="t" lIns="0" rIns="0" tIns="0" bIns="0">
            <a:spAutoFit/>
          </a:bodyPr>
          <a:lstStyle/>
          <a:p>
            <a:pPr algn="l"/>
            <a:r>
              <a:rPr sz="1500" b="1" i="0">
                <a:solidFill>
                  <a:srgbClr val="1B2A33"/>
                </a:solidFill>
                <a:latin typeface="Calibri"/>
                <a:ea typeface="Apple SD Gothic Neo"/>
                <a:cs typeface="Calibri"/>
              </a:rPr>
              <a:t>Fewer rollouts, lower latency</a:t>
            </a:r>
          </a:p>
        </p:txBody>
      </p:sp>
      <p:sp>
        <p:nvSpPr>
          <p:cNvPr id="21" name="TextBox 20"/>
          <p:cNvSpPr txBox="1"/>
          <p:nvPr/>
        </p:nvSpPr>
        <p:spPr>
          <a:xfrm>
            <a:off x="6629399" y="5120640"/>
            <a:ext cx="4937760" cy="868680"/>
          </a:xfrm>
          <a:prstGeom prst="rect">
            <a:avLst/>
          </a:prstGeom>
          <a:noFill/>
        </p:spPr>
        <p:txBody>
          <a:bodyPr wrap="square" anchor="t" lIns="0" rIns="0" tIns="0" bIns="0">
            <a:spAutoFit/>
          </a:bodyPr>
          <a:lstStyle/>
          <a:p>
            <a:pPr algn="l"/>
            <a:r>
              <a:rPr sz="1250" b="0" i="0">
                <a:solidFill>
                  <a:srgbClr val="1B2A33"/>
                </a:solidFill>
                <a:latin typeface="Calibri"/>
                <a:ea typeface="Apple SD Gothic Neo"/>
                <a:cs typeface="Calibri"/>
              </a:rPr>
              <a:t>ACE needs fewer rollouts and adapts faster than existing adaptive methods, so the gains do not come at higher cost.</a:t>
            </a:r>
          </a:p>
        </p:txBody>
      </p:sp>
      <p:sp>
        <p:nvSpPr>
          <p:cNvPr id="22" name="TextBox 21"/>
          <p:cNvSpPr txBox="1"/>
          <p:nvPr/>
        </p:nvSpPr>
        <p:spPr>
          <a:xfrm>
            <a:off x="548640" y="6355080"/>
            <a:ext cx="11094415" cy="365760"/>
          </a:xfrm>
          <a:prstGeom prst="rect">
            <a:avLst/>
          </a:prstGeom>
          <a:noFill/>
        </p:spPr>
        <p:txBody>
          <a:bodyPr wrap="square" anchor="t" lIns="0" rIns="0" tIns="0" bIns="0">
            <a:spAutoFit/>
          </a:bodyPr>
          <a:lstStyle/>
          <a:p>
            <a:pPr algn="l"/>
            <a:r>
              <a:rPr sz="1000" b="0" i="0">
                <a:solidFill>
                  <a:srgbClr val="5C6B73"/>
                </a:solidFill>
                <a:latin typeface="Calibri"/>
                <a:ea typeface="Apple SD Gothic Neo"/>
                <a:cs typeface="Calibri"/>
              </a:rPr>
              <a:t>The percentages are relative to the paper’s strongest baselines. Source: Zhang et al., “Agentic Context Engineering: Evolving Contexts for Self-Improving Language Models”, ICLR 2026 (arXiv 2510.04618), Section 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0" rIns="0" tIns="0" bIns="0">
            <a:spAutoFit/>
          </a:bodyPr>
          <a:lstStyle/>
          <a:p>
            <a:pPr algn="l"/>
            <a:r>
              <a:rPr sz="2600" b="1" i="0">
                <a:solidFill>
                  <a:srgbClr val="1B2A33"/>
                </a:solidFill>
                <a:latin typeface="Cambria"/>
                <a:ea typeface="Apple SD Gothic Neo"/>
                <a:cs typeface="Cambria"/>
              </a:rPr>
              <a:t>Terms used in these paragraphs</a:t>
            </a:r>
          </a:p>
        </p:txBody>
      </p:sp>
      <p:sp>
        <p:nvSpPr>
          <p:cNvPr id="3" name="TextBox 2"/>
          <p:cNvSpPr txBox="1"/>
          <p:nvPr/>
        </p:nvSpPr>
        <p:spPr>
          <a:xfrm>
            <a:off x="548640" y="1005840"/>
            <a:ext cx="11094415" cy="365760"/>
          </a:xfrm>
          <a:prstGeom prst="rect">
            <a:avLst/>
          </a:prstGeom>
          <a:noFill/>
        </p:spPr>
        <p:txBody>
          <a:bodyPr wrap="square" anchor="t" lIns="0" rIns="0" tIns="0" bIns="0">
            <a:spAutoFit/>
          </a:bodyPr>
          <a:lstStyle/>
          <a:p>
            <a:pPr algn="l"/>
            <a:r>
              <a:rPr sz="1300" b="0" i="0">
                <a:solidFill>
                  <a:srgbClr val="5C6B73"/>
                </a:solidFill>
                <a:latin typeface="Calibri"/>
                <a:ea typeface="Apple SD Gothic Neo"/>
                <a:cs typeface="Calibri"/>
              </a:rPr>
              <a:t>Short definitions to keep at hand while reading</a:t>
            </a:r>
          </a:p>
        </p:txBody>
      </p:sp>
      <p:sp>
        <p:nvSpPr>
          <p:cNvPr id="4" name="Rounded Rectangle 3"/>
          <p:cNvSpPr/>
          <p:nvPr/>
        </p:nvSpPr>
        <p:spPr>
          <a:xfrm>
            <a:off x="548640" y="1554480"/>
            <a:ext cx="3520440" cy="1371600"/>
          </a:xfrm>
          <a:prstGeom prst="roundRect">
            <a:avLst>
              <a:gd name="adj" fmla="val 5333"/>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682495"/>
            <a:ext cx="3108960" cy="365760"/>
          </a:xfrm>
          <a:prstGeom prst="rect">
            <a:avLst/>
          </a:prstGeom>
          <a:noFill/>
        </p:spPr>
        <p:txBody>
          <a:bodyPr wrap="square" anchor="t" lIns="0" rIns="0" tIns="0" bIns="0">
            <a:spAutoFit/>
          </a:bodyPr>
          <a:lstStyle/>
          <a:p>
            <a:pPr algn="l"/>
            <a:r>
              <a:rPr sz="1400" b="1" i="0">
                <a:solidFill>
                  <a:srgbClr val="D1495B"/>
                </a:solidFill>
                <a:latin typeface="Calibri"/>
                <a:ea typeface="Apple SD Gothic Neo"/>
                <a:cs typeface="Calibri"/>
              </a:rPr>
              <a:t>Context adaptation</a:t>
            </a:r>
          </a:p>
        </p:txBody>
      </p:sp>
      <p:sp>
        <p:nvSpPr>
          <p:cNvPr id="6" name="TextBox 5"/>
          <p:cNvSpPr txBox="1"/>
          <p:nvPr/>
        </p:nvSpPr>
        <p:spPr>
          <a:xfrm>
            <a:off x="749808" y="2057400"/>
            <a:ext cx="3108960" cy="822960"/>
          </a:xfrm>
          <a:prstGeom prst="rect">
            <a:avLst/>
          </a:prstGeom>
          <a:noFill/>
        </p:spPr>
        <p:txBody>
          <a:bodyPr wrap="square" anchor="t" lIns="0" rIns="0" tIns="0" bIns="0">
            <a:spAutoFit/>
          </a:bodyPr>
          <a:lstStyle/>
          <a:p>
            <a:pPr algn="l"/>
            <a:r>
              <a:rPr sz="1200" b="0" i="0">
                <a:solidFill>
                  <a:srgbClr val="1B2A33"/>
                </a:solidFill>
                <a:latin typeface="Calibri"/>
                <a:ea typeface="Apple SD Gothic Neo"/>
                <a:cs typeface="Calibri"/>
              </a:rPr>
              <a:t>Improving a model by changing its inputs (instructions, memory, evidence) instead of its weights.</a:t>
            </a:r>
          </a:p>
        </p:txBody>
      </p:sp>
      <p:sp>
        <p:nvSpPr>
          <p:cNvPr id="7" name="Rounded Rectangle 6"/>
          <p:cNvSpPr/>
          <p:nvPr/>
        </p:nvSpPr>
        <p:spPr>
          <a:xfrm>
            <a:off x="4297679" y="1554480"/>
            <a:ext cx="3520440" cy="1371600"/>
          </a:xfrm>
          <a:prstGeom prst="roundRect">
            <a:avLst>
              <a:gd name="adj" fmla="val 5333"/>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98847" y="1682495"/>
            <a:ext cx="3108960" cy="365760"/>
          </a:xfrm>
          <a:prstGeom prst="rect">
            <a:avLst/>
          </a:prstGeom>
          <a:noFill/>
        </p:spPr>
        <p:txBody>
          <a:bodyPr wrap="square" anchor="t" lIns="0" rIns="0" tIns="0" bIns="0">
            <a:spAutoFit/>
          </a:bodyPr>
          <a:lstStyle/>
          <a:p>
            <a:pPr algn="l"/>
            <a:r>
              <a:rPr sz="1400" b="1" i="0">
                <a:solidFill>
                  <a:srgbClr val="D1495B"/>
                </a:solidFill>
                <a:latin typeface="Calibri"/>
                <a:ea typeface="Apple SD Gothic Neo"/>
                <a:cs typeface="Calibri"/>
              </a:rPr>
              <a:t>Playbook</a:t>
            </a:r>
          </a:p>
        </p:txBody>
      </p:sp>
      <p:sp>
        <p:nvSpPr>
          <p:cNvPr id="9" name="TextBox 8"/>
          <p:cNvSpPr txBox="1"/>
          <p:nvPr/>
        </p:nvSpPr>
        <p:spPr>
          <a:xfrm>
            <a:off x="4498847" y="2057400"/>
            <a:ext cx="3108960" cy="822960"/>
          </a:xfrm>
          <a:prstGeom prst="rect">
            <a:avLst/>
          </a:prstGeom>
          <a:noFill/>
        </p:spPr>
        <p:txBody>
          <a:bodyPr wrap="square" anchor="t" lIns="0" rIns="0" tIns="0" bIns="0">
            <a:spAutoFit/>
          </a:bodyPr>
          <a:lstStyle/>
          <a:p>
            <a:pPr algn="l"/>
            <a:r>
              <a:rPr sz="1200" b="0" i="0">
                <a:solidFill>
                  <a:srgbClr val="1B2A33"/>
                </a:solidFill>
                <a:latin typeface="Calibri"/>
                <a:ea typeface="Apple SD Gothic Neo"/>
                <a:cs typeface="Calibri"/>
              </a:rPr>
              <a:t>ACE’s context: a growing, itemized list of strategies, rules and pitfalls, each with usage counters.</a:t>
            </a:r>
          </a:p>
        </p:txBody>
      </p:sp>
      <p:sp>
        <p:nvSpPr>
          <p:cNvPr id="10" name="Rounded Rectangle 9"/>
          <p:cNvSpPr/>
          <p:nvPr/>
        </p:nvSpPr>
        <p:spPr>
          <a:xfrm>
            <a:off x="8046719" y="1554480"/>
            <a:ext cx="3520440" cy="1371600"/>
          </a:xfrm>
          <a:prstGeom prst="roundRect">
            <a:avLst>
              <a:gd name="adj" fmla="val 5333"/>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47888" y="1682495"/>
            <a:ext cx="3108960" cy="365760"/>
          </a:xfrm>
          <a:prstGeom prst="rect">
            <a:avLst/>
          </a:prstGeom>
          <a:noFill/>
        </p:spPr>
        <p:txBody>
          <a:bodyPr wrap="square" anchor="t" lIns="0" rIns="0" tIns="0" bIns="0">
            <a:spAutoFit/>
          </a:bodyPr>
          <a:lstStyle/>
          <a:p>
            <a:pPr algn="l"/>
            <a:r>
              <a:rPr sz="1400" b="1" i="0">
                <a:solidFill>
                  <a:srgbClr val="D1495B"/>
                </a:solidFill>
                <a:latin typeface="Calibri"/>
                <a:ea typeface="Apple SD Gothic Neo"/>
                <a:cs typeface="Calibri"/>
              </a:rPr>
              <a:t>Brevity bias</a:t>
            </a:r>
          </a:p>
        </p:txBody>
      </p:sp>
      <p:sp>
        <p:nvSpPr>
          <p:cNvPr id="12" name="TextBox 11"/>
          <p:cNvSpPr txBox="1"/>
          <p:nvPr/>
        </p:nvSpPr>
        <p:spPr>
          <a:xfrm>
            <a:off x="8247888" y="2057400"/>
            <a:ext cx="3108960" cy="822960"/>
          </a:xfrm>
          <a:prstGeom prst="rect">
            <a:avLst/>
          </a:prstGeom>
          <a:noFill/>
        </p:spPr>
        <p:txBody>
          <a:bodyPr wrap="square" anchor="t" lIns="0" rIns="0" tIns="0" bIns="0">
            <a:spAutoFit/>
          </a:bodyPr>
          <a:lstStyle/>
          <a:p>
            <a:pPr algn="l"/>
            <a:r>
              <a:rPr sz="1200" b="0" i="0">
                <a:solidFill>
                  <a:srgbClr val="1B2A33"/>
                </a:solidFill>
                <a:latin typeface="Calibri"/>
                <a:ea typeface="Apple SD Gothic Neo"/>
                <a:cs typeface="Calibri"/>
              </a:rPr>
              <a:t>The tendency of prompt optimizers to favour short instructions, losing detailed knowledge.</a:t>
            </a:r>
          </a:p>
        </p:txBody>
      </p:sp>
      <p:sp>
        <p:nvSpPr>
          <p:cNvPr id="13" name="Rounded Rectangle 12"/>
          <p:cNvSpPr/>
          <p:nvPr/>
        </p:nvSpPr>
        <p:spPr>
          <a:xfrm>
            <a:off x="548640" y="3108960"/>
            <a:ext cx="3520440" cy="1371600"/>
          </a:xfrm>
          <a:prstGeom prst="roundRect">
            <a:avLst>
              <a:gd name="adj" fmla="val 5333"/>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236976"/>
            <a:ext cx="3108960" cy="365760"/>
          </a:xfrm>
          <a:prstGeom prst="rect">
            <a:avLst/>
          </a:prstGeom>
          <a:noFill/>
        </p:spPr>
        <p:txBody>
          <a:bodyPr wrap="square" anchor="t" lIns="0" rIns="0" tIns="0" bIns="0">
            <a:spAutoFit/>
          </a:bodyPr>
          <a:lstStyle/>
          <a:p>
            <a:pPr algn="l"/>
            <a:r>
              <a:rPr sz="1400" b="1" i="0">
                <a:solidFill>
                  <a:srgbClr val="D1495B"/>
                </a:solidFill>
                <a:latin typeface="Calibri"/>
                <a:ea typeface="Apple SD Gothic Neo"/>
                <a:cs typeface="Calibri"/>
              </a:rPr>
              <a:t>Context collapse</a:t>
            </a:r>
          </a:p>
        </p:txBody>
      </p:sp>
      <p:sp>
        <p:nvSpPr>
          <p:cNvPr id="15" name="TextBox 14"/>
          <p:cNvSpPr txBox="1"/>
          <p:nvPr/>
        </p:nvSpPr>
        <p:spPr>
          <a:xfrm>
            <a:off x="749808" y="3611880"/>
            <a:ext cx="3108960" cy="822960"/>
          </a:xfrm>
          <a:prstGeom prst="rect">
            <a:avLst/>
          </a:prstGeom>
          <a:noFill/>
        </p:spPr>
        <p:txBody>
          <a:bodyPr wrap="square" anchor="t" lIns="0" rIns="0" tIns="0" bIns="0">
            <a:spAutoFit/>
          </a:bodyPr>
          <a:lstStyle/>
          <a:p>
            <a:pPr algn="l"/>
            <a:r>
              <a:rPr sz="1200" b="0" i="0">
                <a:solidFill>
                  <a:srgbClr val="1B2A33"/>
                </a:solidFill>
                <a:latin typeface="Calibri"/>
                <a:ea typeface="Apple SD Gothic Neo"/>
                <a:cs typeface="Calibri"/>
              </a:rPr>
              <a:t>Loss of information when an LLM repeatedly rewrites the whole context into a shorter one.</a:t>
            </a:r>
          </a:p>
        </p:txBody>
      </p:sp>
      <p:sp>
        <p:nvSpPr>
          <p:cNvPr id="16" name="Rounded Rectangle 15"/>
          <p:cNvSpPr/>
          <p:nvPr/>
        </p:nvSpPr>
        <p:spPr>
          <a:xfrm>
            <a:off x="4297679" y="3108960"/>
            <a:ext cx="3520440" cy="1371600"/>
          </a:xfrm>
          <a:prstGeom prst="roundRect">
            <a:avLst>
              <a:gd name="adj" fmla="val 5333"/>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98847" y="3236976"/>
            <a:ext cx="3108960" cy="365760"/>
          </a:xfrm>
          <a:prstGeom prst="rect">
            <a:avLst/>
          </a:prstGeom>
          <a:noFill/>
        </p:spPr>
        <p:txBody>
          <a:bodyPr wrap="square" anchor="t" lIns="0" rIns="0" tIns="0" bIns="0">
            <a:spAutoFit/>
          </a:bodyPr>
          <a:lstStyle/>
          <a:p>
            <a:pPr algn="l"/>
            <a:r>
              <a:rPr sz="1400" b="1" i="0">
                <a:solidFill>
                  <a:srgbClr val="D1495B"/>
                </a:solidFill>
                <a:latin typeface="Calibri"/>
                <a:ea typeface="Apple SD Gothic Neo"/>
                <a:cs typeface="Calibri"/>
              </a:rPr>
              <a:t>Delta update</a:t>
            </a:r>
          </a:p>
        </p:txBody>
      </p:sp>
      <p:sp>
        <p:nvSpPr>
          <p:cNvPr id="18" name="TextBox 17"/>
          <p:cNvSpPr txBox="1"/>
          <p:nvPr/>
        </p:nvSpPr>
        <p:spPr>
          <a:xfrm>
            <a:off x="4498847" y="3611880"/>
            <a:ext cx="3108960" cy="822960"/>
          </a:xfrm>
          <a:prstGeom prst="rect">
            <a:avLst/>
          </a:prstGeom>
          <a:noFill/>
        </p:spPr>
        <p:txBody>
          <a:bodyPr wrap="square" anchor="t" lIns="0" rIns="0" tIns="0" bIns="0">
            <a:spAutoFit/>
          </a:bodyPr>
          <a:lstStyle/>
          <a:p>
            <a:pPr algn="l"/>
            <a:r>
              <a:rPr sz="1200" b="0" i="0">
                <a:solidFill>
                  <a:srgbClr val="1B2A33"/>
                </a:solidFill>
                <a:latin typeface="Calibri"/>
                <a:ea typeface="Apple SD Gothic Neo"/>
                <a:cs typeface="Calibri"/>
              </a:rPr>
              <a:t>A small, itemized change (add or edit one bullet) merged into the playbook without a rewrite.</a:t>
            </a:r>
          </a:p>
        </p:txBody>
      </p:sp>
      <p:sp>
        <p:nvSpPr>
          <p:cNvPr id="19" name="Rounded Rectangle 18"/>
          <p:cNvSpPr/>
          <p:nvPr/>
        </p:nvSpPr>
        <p:spPr>
          <a:xfrm>
            <a:off x="8046719" y="3108960"/>
            <a:ext cx="3520440" cy="1371600"/>
          </a:xfrm>
          <a:prstGeom prst="roundRect">
            <a:avLst>
              <a:gd name="adj" fmla="val 5333"/>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7888" y="3236976"/>
            <a:ext cx="3108960" cy="365760"/>
          </a:xfrm>
          <a:prstGeom prst="rect">
            <a:avLst/>
          </a:prstGeom>
          <a:noFill/>
        </p:spPr>
        <p:txBody>
          <a:bodyPr wrap="square" anchor="t" lIns="0" rIns="0" tIns="0" bIns="0">
            <a:spAutoFit/>
          </a:bodyPr>
          <a:lstStyle/>
          <a:p>
            <a:pPr algn="l"/>
            <a:r>
              <a:rPr sz="1400" b="1" i="0">
                <a:solidFill>
                  <a:srgbClr val="D1495B"/>
                </a:solidFill>
                <a:latin typeface="Calibri"/>
                <a:ea typeface="Apple SD Gothic Neo"/>
                <a:cs typeface="Calibri"/>
              </a:rPr>
              <a:t>Grow-and-refine</a:t>
            </a:r>
          </a:p>
        </p:txBody>
      </p:sp>
      <p:sp>
        <p:nvSpPr>
          <p:cNvPr id="21" name="TextBox 20"/>
          <p:cNvSpPr txBox="1"/>
          <p:nvPr/>
        </p:nvSpPr>
        <p:spPr>
          <a:xfrm>
            <a:off x="8247888" y="3611880"/>
            <a:ext cx="3108960" cy="822960"/>
          </a:xfrm>
          <a:prstGeom prst="rect">
            <a:avLst/>
          </a:prstGeom>
          <a:noFill/>
        </p:spPr>
        <p:txBody>
          <a:bodyPr wrap="square" anchor="t" lIns="0" rIns="0" tIns="0" bIns="0">
            <a:spAutoFit/>
          </a:bodyPr>
          <a:lstStyle/>
          <a:p>
            <a:pPr algn="l"/>
            <a:r>
              <a:rPr sz="1200" b="0" i="0">
                <a:solidFill>
                  <a:srgbClr val="1B2A33"/>
                </a:solidFill>
                <a:latin typeface="Calibri"/>
                <a:ea typeface="Apple SD Gothic Neo"/>
                <a:cs typeface="Calibri"/>
              </a:rPr>
              <a:t>Keep adding new items while periodically refining (merging or de-duplicating) existing ones.</a:t>
            </a:r>
          </a:p>
        </p:txBody>
      </p:sp>
      <p:sp>
        <p:nvSpPr>
          <p:cNvPr id="22" name="Rounded Rectangle 21"/>
          <p:cNvSpPr/>
          <p:nvPr/>
        </p:nvSpPr>
        <p:spPr>
          <a:xfrm>
            <a:off x="548640" y="4663440"/>
            <a:ext cx="3520440" cy="1371600"/>
          </a:xfrm>
          <a:prstGeom prst="roundRect">
            <a:avLst>
              <a:gd name="adj" fmla="val 5333"/>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791455"/>
            <a:ext cx="3108960" cy="365760"/>
          </a:xfrm>
          <a:prstGeom prst="rect">
            <a:avLst/>
          </a:prstGeom>
          <a:noFill/>
        </p:spPr>
        <p:txBody>
          <a:bodyPr wrap="square" anchor="t" lIns="0" rIns="0" tIns="0" bIns="0">
            <a:spAutoFit/>
          </a:bodyPr>
          <a:lstStyle/>
          <a:p>
            <a:pPr algn="l"/>
            <a:r>
              <a:rPr sz="1400" b="1" i="0">
                <a:solidFill>
                  <a:srgbClr val="D1495B"/>
                </a:solidFill>
                <a:latin typeface="Calibri"/>
                <a:ea typeface="Apple SD Gothic Neo"/>
                <a:cs typeface="Calibri"/>
              </a:rPr>
              <a:t>Offline / online</a:t>
            </a:r>
          </a:p>
        </p:txBody>
      </p:sp>
      <p:sp>
        <p:nvSpPr>
          <p:cNvPr id="24" name="TextBox 23"/>
          <p:cNvSpPr txBox="1"/>
          <p:nvPr/>
        </p:nvSpPr>
        <p:spPr>
          <a:xfrm>
            <a:off x="749808" y="5166359"/>
            <a:ext cx="3108960" cy="822960"/>
          </a:xfrm>
          <a:prstGeom prst="rect">
            <a:avLst/>
          </a:prstGeom>
          <a:noFill/>
        </p:spPr>
        <p:txBody>
          <a:bodyPr wrap="square" anchor="t" lIns="0" rIns="0" tIns="0" bIns="0">
            <a:spAutoFit/>
          </a:bodyPr>
          <a:lstStyle/>
          <a:p>
            <a:pPr algn="l"/>
            <a:r>
              <a:rPr sz="1200" b="0" i="0">
                <a:solidFill>
                  <a:srgbClr val="1B2A33"/>
                </a:solidFill>
                <a:latin typeface="Calibri"/>
                <a:ea typeface="Apple SD Gothic Neo"/>
                <a:cs typeface="Calibri"/>
              </a:rPr>
              <a:t>Adapt before deployment on training data, or adapt during use, one test item at a time.</a:t>
            </a:r>
          </a:p>
        </p:txBody>
      </p:sp>
      <p:sp>
        <p:nvSpPr>
          <p:cNvPr id="25" name="Rounded Rectangle 24"/>
          <p:cNvSpPr/>
          <p:nvPr/>
        </p:nvSpPr>
        <p:spPr>
          <a:xfrm>
            <a:off x="4297679" y="4663440"/>
            <a:ext cx="3520440" cy="1371600"/>
          </a:xfrm>
          <a:prstGeom prst="roundRect">
            <a:avLst>
              <a:gd name="adj" fmla="val 5333"/>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98847" y="4791455"/>
            <a:ext cx="3108960" cy="365760"/>
          </a:xfrm>
          <a:prstGeom prst="rect">
            <a:avLst/>
          </a:prstGeom>
          <a:noFill/>
        </p:spPr>
        <p:txBody>
          <a:bodyPr wrap="square" anchor="t" lIns="0" rIns="0" tIns="0" bIns="0">
            <a:spAutoFit/>
          </a:bodyPr>
          <a:lstStyle/>
          <a:p>
            <a:pPr algn="l"/>
            <a:r>
              <a:rPr sz="1400" b="1" i="0">
                <a:solidFill>
                  <a:srgbClr val="D1495B"/>
                </a:solidFill>
                <a:latin typeface="Calibri"/>
                <a:ea typeface="Apple SD Gothic Neo"/>
                <a:cs typeface="Calibri"/>
              </a:rPr>
              <a:t>Execution feedback</a:t>
            </a:r>
          </a:p>
        </p:txBody>
      </p:sp>
      <p:sp>
        <p:nvSpPr>
          <p:cNvPr id="27" name="TextBox 26"/>
          <p:cNvSpPr txBox="1"/>
          <p:nvPr/>
        </p:nvSpPr>
        <p:spPr>
          <a:xfrm>
            <a:off x="4498847" y="5166359"/>
            <a:ext cx="3108960" cy="822960"/>
          </a:xfrm>
          <a:prstGeom prst="rect">
            <a:avLst/>
          </a:prstGeom>
          <a:noFill/>
        </p:spPr>
        <p:txBody>
          <a:bodyPr wrap="square" anchor="t" lIns="0" rIns="0" tIns="0" bIns="0">
            <a:spAutoFit/>
          </a:bodyPr>
          <a:lstStyle/>
          <a:p>
            <a:pPr algn="l"/>
            <a:r>
              <a:rPr sz="1200" b="0" i="0">
                <a:solidFill>
                  <a:srgbClr val="1B2A33"/>
                </a:solidFill>
                <a:latin typeface="Calibri"/>
                <a:ea typeface="Apple SD Gothic Neo"/>
                <a:cs typeface="Calibri"/>
              </a:rPr>
              <a:t>Signals from running the task (errors, tool outputs, test results) used instead of labels.</a:t>
            </a:r>
          </a:p>
        </p:txBody>
      </p:sp>
      <p:sp>
        <p:nvSpPr>
          <p:cNvPr id="28" name="Rounded Rectangle 27"/>
          <p:cNvSpPr/>
          <p:nvPr/>
        </p:nvSpPr>
        <p:spPr>
          <a:xfrm>
            <a:off x="8046719" y="4663440"/>
            <a:ext cx="3520440" cy="1371600"/>
          </a:xfrm>
          <a:prstGeom prst="roundRect">
            <a:avLst>
              <a:gd name="adj" fmla="val 5333"/>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47888" y="4791455"/>
            <a:ext cx="3108960" cy="365760"/>
          </a:xfrm>
          <a:prstGeom prst="rect">
            <a:avLst/>
          </a:prstGeom>
          <a:noFill/>
        </p:spPr>
        <p:txBody>
          <a:bodyPr wrap="square" anchor="t" lIns="0" rIns="0" tIns="0" bIns="0">
            <a:spAutoFit/>
          </a:bodyPr>
          <a:lstStyle/>
          <a:p>
            <a:pPr algn="l"/>
            <a:r>
              <a:rPr sz="1400" b="1" i="0">
                <a:solidFill>
                  <a:srgbClr val="D1495B"/>
                </a:solidFill>
                <a:latin typeface="Calibri"/>
                <a:ea typeface="Apple SD Gothic Neo"/>
                <a:cs typeface="Calibri"/>
              </a:rPr>
              <a:t>Rollout</a:t>
            </a:r>
          </a:p>
        </p:txBody>
      </p:sp>
      <p:sp>
        <p:nvSpPr>
          <p:cNvPr id="30" name="TextBox 29"/>
          <p:cNvSpPr txBox="1"/>
          <p:nvPr/>
        </p:nvSpPr>
        <p:spPr>
          <a:xfrm>
            <a:off x="8247888" y="5166359"/>
            <a:ext cx="3108960" cy="822960"/>
          </a:xfrm>
          <a:prstGeom prst="rect">
            <a:avLst/>
          </a:prstGeom>
          <a:noFill/>
        </p:spPr>
        <p:txBody>
          <a:bodyPr wrap="square" anchor="t" lIns="0" rIns="0" tIns="0" bIns="0">
            <a:spAutoFit/>
          </a:bodyPr>
          <a:lstStyle/>
          <a:p>
            <a:pPr algn="l"/>
            <a:r>
              <a:rPr sz="1200" b="0" i="0">
                <a:solidFill>
                  <a:srgbClr val="1B2A33"/>
                </a:solidFill>
                <a:latin typeface="Calibri"/>
                <a:ea typeface="Apple SD Gothic Neo"/>
                <a:cs typeface="Calibri"/>
              </a:rPr>
              <a:t>One full attempt at a task by the model; fewer rollouts means cheaper adaptation.</a:t>
            </a:r>
          </a:p>
        </p:txBody>
      </p:sp>
      <p:sp>
        <p:nvSpPr>
          <p:cNvPr id="31" name="TextBox 30"/>
          <p:cNvSpPr txBox="1"/>
          <p:nvPr/>
        </p:nvSpPr>
        <p:spPr>
          <a:xfrm>
            <a:off x="548640" y="6355080"/>
            <a:ext cx="11094415" cy="365760"/>
          </a:xfrm>
          <a:prstGeom prst="rect">
            <a:avLst/>
          </a:prstGeom>
          <a:noFill/>
        </p:spPr>
        <p:txBody>
          <a:bodyPr wrap="square" anchor="t" lIns="0" rIns="0" tIns="0" bIns="0">
            <a:spAutoFit/>
          </a:bodyPr>
          <a:lstStyle/>
          <a:p>
            <a:pPr algn="l"/>
            <a:r>
              <a:rPr sz="1000" b="0" i="0">
                <a:solidFill>
                  <a:srgbClr val="5C6B73"/>
                </a:solidFill>
                <a:latin typeface="Calibri"/>
                <a:ea typeface="Apple SD Gothic Neo"/>
                <a:cs typeface="Calibri"/>
              </a:rPr>
              <a:t>Source: Zhang et al., “Agentic Context Engineering: Evolving Contexts for Self-Improving Language Models”, ICLR 2026 (arXiv 2510.04618), Section 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0" rIns="0" tIns="0" bIns="0">
            <a:spAutoFit/>
          </a:bodyPr>
          <a:lstStyle/>
          <a:p>
            <a:pPr algn="l"/>
            <a:r>
              <a:rPr sz="2600" b="1" i="0">
                <a:solidFill>
                  <a:srgbClr val="1B2A33"/>
                </a:solidFill>
                <a:latin typeface="Cambria"/>
                <a:ea typeface="Apple SD Gothic Neo"/>
                <a:cs typeface="Cambria"/>
              </a:rPr>
              <a:t>How the claims compare with what we see (Qwen3-8B)</a:t>
            </a:r>
          </a:p>
        </p:txBody>
      </p:sp>
      <p:sp>
        <p:nvSpPr>
          <p:cNvPr id="3" name="TextBox 2"/>
          <p:cNvSpPr txBox="1"/>
          <p:nvPr/>
        </p:nvSpPr>
        <p:spPr>
          <a:xfrm>
            <a:off x="548640" y="1005840"/>
            <a:ext cx="11094415" cy="365760"/>
          </a:xfrm>
          <a:prstGeom prst="rect">
            <a:avLst/>
          </a:prstGeom>
          <a:noFill/>
        </p:spPr>
        <p:txBody>
          <a:bodyPr wrap="square" anchor="t" lIns="0" rIns="0" tIns="0" bIns="0">
            <a:spAutoFit/>
          </a:bodyPr>
          <a:lstStyle/>
          <a:p>
            <a:pPr algn="l"/>
            <a:r>
              <a:rPr sz="1300" b="0" i="0">
                <a:solidFill>
                  <a:srgbClr val="5C6B73"/>
                </a:solidFill>
                <a:latin typeface="Calibri"/>
                <a:ea typeface="Apple SD Gothic Neo"/>
                <a:cs typeface="Calibri"/>
              </a:rPr>
              <a:t>Internal working observations from our v5 panel and the ongoing AppWorld reproduction; not manuscript evidence</a:t>
            </a:r>
          </a:p>
        </p:txBody>
      </p:sp>
      <p:graphicFrame>
        <p:nvGraphicFramePr>
          <p:cNvPr id="4" name="Table 3"/>
          <p:cNvGraphicFramePr>
            <a:graphicFrameLocks noGrp="1"/>
          </p:cNvGraphicFramePr>
          <p:nvPr/>
        </p:nvGraphicFramePr>
        <p:xfrm>
          <a:off x="548640" y="1554480"/>
          <a:ext cx="11109960" cy="3246120"/>
        </p:xfrm>
        <a:graphic>
          <a:graphicData uri="http://schemas.openxmlformats.org/drawingml/2006/table">
            <a:tbl>
              <a:tblPr firstRow="1" bandRow="1">
                <a:tableStyleId>{5C22544A-7EE6-4342-B048-85BDC9FD1C3A}</a:tableStyleId>
              </a:tblPr>
              <a:tblGrid>
                <a:gridCol w="3383280"/>
                <a:gridCol w="6355080"/>
                <a:gridCol w="1371600"/>
              </a:tblGrid>
              <a:tr h="411480">
                <a:tc>
                  <a:txBody>
                    <a:bodyPr wrap="square"/>
                    <a:lstStyle/>
                    <a:p>
                      <a:r>
                        <a:rPr sz="1200" b="1" i="0">
                          <a:solidFill>
                            <a:srgbClr val="FFFFFF"/>
                          </a:solidFill>
                          <a:latin typeface="Calibri"/>
                          <a:ea typeface="Apple SD Gothic Neo"/>
                          <a:cs typeface="Calibri"/>
                        </a:rPr>
                        <a:t>Claim in these paragraphs</a:t>
                      </a:r>
                    </a:p>
                  </a:txBody>
                  <a:tcPr marL="109728" marR="109728" marT="36576" marB="36576" anchor="ctr">
                    <a:solidFill>
                      <a:srgbClr val="1B2A33"/>
                    </a:solidFill>
                  </a:tcPr>
                </a:tc>
                <a:tc>
                  <a:txBody>
                    <a:bodyPr wrap="square"/>
                    <a:lstStyle/>
                    <a:p>
                      <a:r>
                        <a:rPr sz="1200" b="1" i="0">
                          <a:solidFill>
                            <a:srgbClr val="FFFFFF"/>
                          </a:solidFill>
                          <a:latin typeface="Calibri"/>
                          <a:ea typeface="Apple SD Gothic Neo"/>
                          <a:cs typeface="Calibri"/>
                        </a:rPr>
                        <a:t>What we observe</a:t>
                      </a:r>
                    </a:p>
                  </a:txBody>
                  <a:tcPr marL="109728" marR="109728" marT="36576" marB="36576" anchor="ctr">
                    <a:solidFill>
                      <a:srgbClr val="1B2A33"/>
                    </a:solidFill>
                  </a:tcPr>
                </a:tc>
                <a:tc>
                  <a:txBody>
                    <a:bodyPr wrap="square"/>
                    <a:lstStyle/>
                    <a:p>
                      <a:r>
                        <a:rPr sz="1200" b="1" i="0">
                          <a:solidFill>
                            <a:srgbClr val="FFFFFF"/>
                          </a:solidFill>
                          <a:latin typeface="Calibri"/>
                          <a:ea typeface="Apple SD Gothic Neo"/>
                          <a:cs typeface="Calibri"/>
                        </a:rPr>
                        <a:t>Status</a:t>
                      </a:r>
                    </a:p>
                  </a:txBody>
                  <a:tcPr marL="109728" marR="109728" marT="36576" marB="36576" anchor="ctr">
                    <a:solidFill>
                      <a:srgbClr val="1B2A33"/>
                    </a:solidFill>
                  </a:tcPr>
                </a:tc>
              </a:tr>
              <a:tr h="566928">
                <a:tc>
                  <a:txBody>
                    <a:bodyPr wrap="square"/>
                    <a:lstStyle/>
                    <a:p>
                      <a:r>
                        <a:rPr sz="1200" b="0" i="0">
                          <a:solidFill>
                            <a:srgbClr val="1B2A33"/>
                          </a:solidFill>
                          <a:latin typeface="Calibri"/>
                          <a:ea typeface="Apple SD Gothic Neo"/>
                          <a:cs typeface="Calibri"/>
                        </a:rPr>
                        <a:t>Contexts should be detailed and well organized (¶1–2)</a:t>
                      </a:r>
                    </a:p>
                  </a:txBody>
                  <a:tcPr marL="109728" marR="109728" marT="36576" marB="36576" anchor="ctr">
                    <a:solidFill>
                      <a:srgbClr val="FFFFFF"/>
                    </a:solidFill>
                  </a:tcPr>
                </a:tc>
                <a:tc>
                  <a:txBody>
                    <a:bodyPr wrap="square"/>
                    <a:lstStyle/>
                    <a:p>
                      <a:r>
                        <a:rPr sz="1200" b="0" i="0">
                          <a:solidFill>
                            <a:srgbClr val="1B2A33"/>
                          </a:solidFill>
                          <a:latin typeface="Calibri"/>
                          <a:ea typeface="Apple SD Gothic Neo"/>
                          <a:cs typeface="Calibri"/>
                        </a:rPr>
                        <a:t>Dreaddit playbooks are detailed (36–63 bullets) but poorly organized: 198 of 200 bullets sit in one section and one formula repeats nine times (refine step off).</a:t>
                      </a:r>
                    </a:p>
                  </a:txBody>
                  <a:tcPr marL="109728" marR="109728" marT="36576" marB="36576" anchor="ctr">
                    <a:solidFill>
                      <a:srgbClr val="FFFFFF"/>
                    </a:solidFill>
                  </a:tcPr>
                </a:tc>
                <a:tc>
                  <a:txBody>
                    <a:bodyPr wrap="square"/>
                    <a:lstStyle/>
                    <a:p>
                      <a:r>
                        <a:rPr sz="1200" b="1" i="0">
                          <a:solidFill>
                            <a:srgbClr val="1B2A33"/>
                          </a:solidFill>
                          <a:latin typeface="Calibri"/>
                          <a:ea typeface="Apple SD Gothic Neo"/>
                          <a:cs typeface="Calibri"/>
                        </a:rPr>
                        <a:t>Partly</a:t>
                      </a:r>
                    </a:p>
                  </a:txBody>
                  <a:tcPr marL="109728" marR="109728" marT="36576" marB="36576" anchor="ctr">
                    <a:solidFill>
                      <a:srgbClr val="FBE3E6"/>
                    </a:solidFill>
                  </a:tcPr>
                </a:tc>
              </a:tr>
              <a:tr h="566928">
                <a:tc>
                  <a:txBody>
                    <a:bodyPr wrap="square"/>
                    <a:lstStyle/>
                    <a:p>
                      <a:r>
                        <a:rPr sz="1200" b="0" i="0">
                          <a:solidFill>
                            <a:srgbClr val="1B2A33"/>
                          </a:solidFill>
                          <a:latin typeface="Calibri"/>
                          <a:ea typeface="Apple SD Gothic Neo"/>
                          <a:cs typeface="Calibri"/>
                        </a:rPr>
                        <a:t>ACE beats strong baselines (¶3, finding 1)</a:t>
                      </a:r>
                    </a:p>
                  </a:txBody>
                  <a:tcPr marL="109728" marR="109728" marT="36576" marB="36576" anchor="ctr">
                    <a:solidFill>
                      <a:srgbClr val="FFFFFF"/>
                    </a:solidFill>
                  </a:tcPr>
                </a:tc>
                <a:tc>
                  <a:txBody>
                    <a:bodyPr wrap="square"/>
                    <a:lstStyle/>
                    <a:p>
                      <a:r>
                        <a:rPr sz="1200" b="0" i="0">
                          <a:solidFill>
                            <a:srgbClr val="1B2A33"/>
                          </a:solidFill>
                          <a:latin typeface="Calibri"/>
                          <a:ea typeface="Apple SD Gothic Neo"/>
                          <a:cs typeface="Calibri"/>
                        </a:rPr>
                        <a:t>On Dreaddit all four ACE conditions beat Base by 7.0–11.3 points, but GEPA (+9.7) is close: it beats both ACE conditions without labels and trails the best ACE condition by 1.7.</a:t>
                      </a:r>
                    </a:p>
                  </a:txBody>
                  <a:tcPr marL="109728" marR="109728" marT="36576" marB="36576" anchor="ctr">
                    <a:solidFill>
                      <a:srgbClr val="FFFFFF"/>
                    </a:solidFill>
                  </a:tcPr>
                </a:tc>
                <a:tc>
                  <a:txBody>
                    <a:bodyPr wrap="square"/>
                    <a:lstStyle/>
                    <a:p>
                      <a:r>
                        <a:rPr sz="1200" b="1" i="0">
                          <a:solidFill>
                            <a:srgbClr val="1B2A33"/>
                          </a:solidFill>
                          <a:latin typeface="Calibri"/>
                          <a:ea typeface="Apple SD Gothic Neo"/>
                          <a:cs typeface="Calibri"/>
                        </a:rPr>
                        <a:t>Partly</a:t>
                      </a:r>
                    </a:p>
                  </a:txBody>
                  <a:tcPr marL="109728" marR="109728" marT="36576" marB="36576" anchor="ctr">
                    <a:solidFill>
                      <a:srgbClr val="FBE3E6"/>
                    </a:solidFill>
                  </a:tcPr>
                </a:tc>
              </a:tr>
              <a:tr h="566928">
                <a:tc>
                  <a:txBody>
                    <a:bodyPr wrap="square"/>
                    <a:lstStyle/>
                    <a:p>
                      <a:r>
                        <a:rPr sz="1200" b="0" i="0">
                          <a:solidFill>
                            <a:srgbClr val="1B2A33"/>
                          </a:solidFill>
                          <a:latin typeface="Calibri"/>
                          <a:ea typeface="Apple SD Gothic Neo"/>
                          <a:cs typeface="Calibri"/>
                        </a:rPr>
                        <a:t>No labels needed (¶3, finding 2)</a:t>
                      </a:r>
                    </a:p>
                  </a:txBody>
                  <a:tcPr marL="109728" marR="109728" marT="36576" marB="36576" anchor="ctr">
                    <a:solidFill>
                      <a:srgbClr val="FFFFFF"/>
                    </a:solidFill>
                  </a:tcPr>
                </a:tc>
                <a:tc>
                  <a:txBody>
                    <a:bodyPr wrap="square"/>
                    <a:lstStyle/>
                    <a:p>
                      <a:r>
                        <a:rPr sz="1200" b="0" i="0">
                          <a:solidFill>
                            <a:srgbClr val="1B2A33"/>
                          </a:solidFill>
                          <a:latin typeface="Calibri"/>
                          <a:ea typeface="Apple SD Gothic Neo"/>
                          <a:cs typeface="Calibri"/>
                        </a:rPr>
                        <a:t>Dreaddit ACE without labels: +7.3 (offline) and +7.0 (online) points over Base.</a:t>
                      </a:r>
                    </a:p>
                  </a:txBody>
                  <a:tcPr marL="109728" marR="109728" marT="36576" marB="36576" anchor="ctr">
                    <a:solidFill>
                      <a:srgbClr val="FFFFFF"/>
                    </a:solidFill>
                  </a:tcPr>
                </a:tc>
                <a:tc>
                  <a:txBody>
                    <a:bodyPr wrap="square"/>
                    <a:lstStyle/>
                    <a:p>
                      <a:r>
                        <a:rPr sz="1200" b="1" i="0">
                          <a:solidFill>
                            <a:srgbClr val="1B2A33"/>
                          </a:solidFill>
                          <a:latin typeface="Calibri"/>
                          <a:ea typeface="Apple SD Gothic Neo"/>
                          <a:cs typeface="Calibri"/>
                        </a:rPr>
                        <a:t>Consistent</a:t>
                      </a:r>
                    </a:p>
                  </a:txBody>
                  <a:tcPr marL="109728" marR="109728" marT="36576" marB="36576" anchor="ctr">
                    <a:solidFill>
                      <a:srgbClr val="E3F1F2"/>
                    </a:solidFill>
                  </a:tcPr>
                </a:tc>
              </a:tr>
              <a:tr h="566928">
                <a:tc>
                  <a:txBody>
                    <a:bodyPr wrap="square"/>
                    <a:lstStyle/>
                    <a:p>
                      <a:r>
                        <a:rPr sz="1200" b="0" i="0">
                          <a:solidFill>
                            <a:srgbClr val="1B2A33"/>
                          </a:solidFill>
                          <a:latin typeface="Calibri"/>
                          <a:ea typeface="Apple SD Gothic Neo"/>
                          <a:cs typeface="Calibri"/>
                        </a:rPr>
                        <a:t>Agents benefit most (¶3)</a:t>
                      </a:r>
                    </a:p>
                  </a:txBody>
                  <a:tcPr marL="109728" marR="109728" marT="36576" marB="36576" anchor="ctr">
                    <a:solidFill>
                      <a:srgbClr val="FFFFFF"/>
                    </a:solidFill>
                  </a:tcPr>
                </a:tc>
                <a:tc>
                  <a:txBody>
                    <a:bodyPr wrap="square"/>
                    <a:lstStyle/>
                    <a:p>
                      <a:r>
                        <a:rPr sz="1200" b="0" i="0">
                          <a:solidFill>
                            <a:srgbClr val="1B2A33"/>
                          </a:solidFill>
                          <a:latin typeface="Calibri"/>
                          <a:ea typeface="Apple SD Gothic Neo"/>
                          <a:cs typeface="Calibri"/>
                        </a:rPr>
                        <a:t>AppWorld reproduction with only the model swapped to Qwen3-8B is running; offline playbooks are growing.</a:t>
                      </a:r>
                    </a:p>
                  </a:txBody>
                  <a:tcPr marL="109728" marR="109728" marT="36576" marB="36576" anchor="ctr">
                    <a:solidFill>
                      <a:srgbClr val="FFFFFF"/>
                    </a:solidFill>
                  </a:tcPr>
                </a:tc>
                <a:tc>
                  <a:txBody>
                    <a:bodyPr wrap="square"/>
                    <a:lstStyle/>
                    <a:p>
                      <a:r>
                        <a:rPr sz="1200" b="1" i="0">
                          <a:solidFill>
                            <a:srgbClr val="1B2A33"/>
                          </a:solidFill>
                          <a:latin typeface="Calibri"/>
                          <a:ea typeface="Apple SD Gothic Neo"/>
                          <a:cs typeface="Calibri"/>
                        </a:rPr>
                        <a:t>Running</a:t>
                      </a:r>
                    </a:p>
                  </a:txBody>
                  <a:tcPr marL="109728" marR="109728" marT="36576" marB="36576" anchor="ctr">
                    <a:solidFill>
                      <a:srgbClr val="F1F4F6"/>
                    </a:solidFill>
                  </a:tcPr>
                </a:tc>
              </a:tr>
              <a:tr h="566928">
                <a:tc>
                  <a:txBody>
                    <a:bodyPr wrap="square"/>
                    <a:lstStyle/>
                    <a:p>
                      <a:r>
                        <a:rPr sz="1200" b="0" i="0">
                          <a:solidFill>
                            <a:srgbClr val="1B2A33"/>
                          </a:solidFill>
                          <a:latin typeface="Calibri"/>
                          <a:ea typeface="Apple SD Gothic Neo"/>
                          <a:cs typeface="Calibri"/>
                        </a:rPr>
                        <a:t>Fewer rollouts, lower cost (¶3, finding 4)</a:t>
                      </a:r>
                    </a:p>
                  </a:txBody>
                  <a:tcPr marL="109728" marR="109728" marT="36576" marB="36576" anchor="ctr">
                    <a:solidFill>
                      <a:srgbClr val="FFFFFF"/>
                    </a:solidFill>
                  </a:tcPr>
                </a:tc>
                <a:tc>
                  <a:txBody>
                    <a:bodyPr wrap="square"/>
                    <a:lstStyle/>
                    <a:p>
                      <a:r>
                        <a:rPr sz="1200" b="0" i="0">
                          <a:solidFill>
                            <a:srgbClr val="1B2A33"/>
                          </a:solidFill>
                          <a:latin typeface="Calibri"/>
                          <a:ea typeface="Apple SD Gothic Neo"/>
                          <a:cs typeface="Calibri"/>
                        </a:rPr>
                        <a:t>Not measured in our setup.</a:t>
                      </a:r>
                    </a:p>
                  </a:txBody>
                  <a:tcPr marL="109728" marR="109728" marT="36576" marB="36576" anchor="ctr">
                    <a:solidFill>
                      <a:srgbClr val="FFFFFF"/>
                    </a:solidFill>
                  </a:tcPr>
                </a:tc>
                <a:tc>
                  <a:txBody>
                    <a:bodyPr wrap="square"/>
                    <a:lstStyle/>
                    <a:p>
                      <a:r>
                        <a:rPr sz="1200" b="1" i="0">
                          <a:solidFill>
                            <a:srgbClr val="1B2A33"/>
                          </a:solidFill>
                          <a:latin typeface="Calibri"/>
                          <a:ea typeface="Apple SD Gothic Neo"/>
                          <a:cs typeface="Calibri"/>
                        </a:rPr>
                        <a:t>Not tested</a:t>
                      </a:r>
                    </a:p>
                  </a:txBody>
                  <a:tcPr marL="109728" marR="109728" marT="36576" marB="36576" anchor="ctr">
                    <a:solidFill>
                      <a:srgbClr val="F1F4F6"/>
                    </a:solidFill>
                  </a:tcPr>
                </a:tc>
              </a:tr>
            </a:tbl>
          </a:graphicData>
        </a:graphic>
      </p:graphicFrame>
      <p:sp>
        <p:nvSpPr>
          <p:cNvPr id="5" name="Rounded Rectangle 4"/>
          <p:cNvSpPr/>
          <p:nvPr/>
        </p:nvSpPr>
        <p:spPr>
          <a:xfrm>
            <a:off x="548640" y="5074920"/>
            <a:ext cx="11109960" cy="1143000"/>
          </a:xfrm>
          <a:prstGeom prst="roundRect">
            <a:avLst>
              <a:gd name="adj" fmla="val 6400"/>
            </a:avLst>
          </a:prstGeom>
          <a:solidFill>
            <a:srgbClr val="E3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5202936"/>
            <a:ext cx="10707624" cy="274320"/>
          </a:xfrm>
          <a:prstGeom prst="rect">
            <a:avLst/>
          </a:prstGeom>
          <a:noFill/>
        </p:spPr>
        <p:txBody>
          <a:bodyPr wrap="square" anchor="t" lIns="0" rIns="0" tIns="0" bIns="0">
            <a:spAutoFit/>
          </a:bodyPr>
          <a:lstStyle/>
          <a:p>
            <a:pPr algn="l"/>
            <a:r>
              <a:rPr sz="1200" b="1" i="0">
                <a:solidFill>
                  <a:srgbClr val="2A7F86"/>
                </a:solidFill>
                <a:latin typeface="Calibri"/>
                <a:ea typeface="Apple SD Gothic Neo"/>
                <a:cs typeface="Calibri"/>
              </a:rPr>
              <a:t>What this means</a:t>
            </a:r>
          </a:p>
        </p:txBody>
      </p:sp>
      <p:sp>
        <p:nvSpPr>
          <p:cNvPr id="7" name="TextBox 6"/>
          <p:cNvSpPr txBox="1"/>
          <p:nvPr/>
        </p:nvSpPr>
        <p:spPr>
          <a:xfrm>
            <a:off x="749808" y="5532120"/>
            <a:ext cx="10707624" cy="594360"/>
          </a:xfrm>
          <a:prstGeom prst="rect">
            <a:avLst/>
          </a:prstGeom>
          <a:noFill/>
        </p:spPr>
        <p:txBody>
          <a:bodyPr wrap="square" anchor="t" lIns="0" rIns="0" tIns="0" bIns="0">
            <a:spAutoFit/>
          </a:bodyPr>
          <a:lstStyle/>
          <a:p>
            <a:pPr algn="l"/>
            <a:r>
              <a:rPr sz="1250" b="0" i="0">
                <a:solidFill>
                  <a:srgbClr val="1B2A33"/>
                </a:solidFill>
                <a:latin typeface="Calibri"/>
                <a:ea typeface="Apple SD Gothic Neo"/>
                <a:cs typeface="Calibri"/>
              </a:rPr>
              <a:t>With an 8B model the headline claims mostly hold on Dreaddit, but the playbooks do not look like the organized, multi-section documents the paper describes. That gap (organization and deduplication) is where a smaller backbone seems to differ, and AppWorld will show whether the agent results carry over.</a:t>
            </a:r>
          </a:p>
        </p:txBody>
      </p:sp>
      <p:sp>
        <p:nvSpPr>
          <p:cNvPr id="8" name="TextBox 7"/>
          <p:cNvSpPr txBox="1"/>
          <p:nvPr/>
        </p:nvSpPr>
        <p:spPr>
          <a:xfrm>
            <a:off x="548640" y="6355080"/>
            <a:ext cx="11094415" cy="365760"/>
          </a:xfrm>
          <a:prstGeom prst="rect">
            <a:avLst/>
          </a:prstGeom>
          <a:noFill/>
        </p:spPr>
        <p:txBody>
          <a:bodyPr wrap="square" anchor="t" lIns="0" rIns="0" tIns="0" bIns="0">
            <a:spAutoFit/>
          </a:bodyPr>
          <a:lstStyle/>
          <a:p>
            <a:pPr algn="l"/>
            <a:r>
              <a:rPr sz="1000" b="0" i="0">
                <a:solidFill>
                  <a:srgbClr val="5C6B73"/>
                </a:solidFill>
                <a:latin typeface="Calibri"/>
                <a:ea typeface="Apple SD Gothic Neo"/>
                <a:cs typeface="Calibri"/>
              </a:rPr>
              <a:t>Our numbers: v5 server panel, Qwen3-8B, Dreaddit test set (100 posts × 3 seeds). AppWorld: ace-appworld paper-release code with only the LLM replaced.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
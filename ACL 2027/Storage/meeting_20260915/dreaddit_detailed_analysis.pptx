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ACE</c:v>
                </c:pt>
              </c:strCache>
            </c:strRef>
          </c:tx>
          <c:spPr>
            <a:solidFill>
              <a:srgbClr val="D1495B"/>
            </a:solidFill>
          </c:spPr>
          <c:cat>
            <c:strRef>
              <c:f>Sheet1!$A$2:$A$11</c:f>
              <c:strCache>
                <c:ptCount val="10"/>
                <c:pt idx="0">
                  <c:v>Online ACE · GT ✓</c:v>
                </c:pt>
                <c:pt idx="1">
                  <c:v>Offline ACE · GT ✓</c:v>
                </c:pt>
                <c:pt idx="2">
                  <c:v>Offline GEPA · GT ✓</c:v>
                </c:pt>
                <c:pt idx="3">
                  <c:v>Offline ACE · GT ✗</c:v>
                </c:pt>
                <c:pt idx="4">
                  <c:v>Online ACE · GT ✗</c:v>
                </c:pt>
                <c:pt idx="5">
                  <c:v>Offline MIPROv2 · GT ✓</c:v>
                </c:pt>
                <c:pt idx="6">
                  <c:v>Base (zero-shot)</c:v>
                </c:pt>
                <c:pt idx="7">
                  <c:v>Offline ICL · GT ✓</c:v>
                </c:pt>
                <c:pt idx="8">
                  <c:v>Online DC · GT ✓</c:v>
                </c:pt>
                <c:pt idx="9">
                  <c:v>Online DC · GT ✗</c:v>
                </c:pt>
              </c:strCache>
            </c:strRef>
          </c:cat>
          <c:val>
            <c:numRef>
              <c:f>Sheet1!$B$2:$B$11</c:f>
              <c:numCache>
                <c:formatCode>General</c:formatCode>
                <c:ptCount val="10"/>
                <c:pt idx="0">
                  <c:v>80.0</c:v>
                </c:pt>
                <c:pt idx="1">
                  <c:v>79.66666666666667</c:v>
                </c:pt>
                <c:pt idx="2">
                  <c:v>0</c:v>
                </c:pt>
                <c:pt idx="3">
                  <c:v>76.0</c:v>
                </c:pt>
                <c:pt idx="4">
                  <c:v>75.66666666666667</c:v>
                </c:pt>
                <c:pt idx="5">
                  <c:v>0</c:v>
                </c:pt>
                <c:pt idx="6">
                  <c:v>0</c:v>
                </c:pt>
                <c:pt idx="7">
                  <c:v>0</c:v>
                </c:pt>
                <c:pt idx="8">
                  <c:v>0</c:v>
                </c:pt>
                <c:pt idx="9">
                  <c:v>0</c:v>
                </c:pt>
              </c:numCache>
            </c:numRef>
          </c:val>
        </c:ser>
        <c:ser>
          <c:idx val="1"/>
          <c:order val="1"/>
          <c:tx>
            <c:strRef>
              <c:f>Sheet1!$C$1</c:f>
              <c:strCache>
                <c:ptCount val="1"/>
                <c:pt idx="0">
                  <c:v>Other methods</c:v>
                </c:pt>
              </c:strCache>
            </c:strRef>
          </c:tx>
          <c:spPr>
            <a:solidFill>
              <a:srgbClr val="7D8F98"/>
            </a:solidFill>
          </c:spPr>
          <c:cat>
            <c:strRef>
              <c:f>Sheet1!$A$2:$A$11</c:f>
              <c:strCache>
                <c:ptCount val="10"/>
                <c:pt idx="0">
                  <c:v>Online ACE · GT ✓</c:v>
                </c:pt>
                <c:pt idx="1">
                  <c:v>Offline ACE · GT ✓</c:v>
                </c:pt>
                <c:pt idx="2">
                  <c:v>Offline GEPA · GT ✓</c:v>
                </c:pt>
                <c:pt idx="3">
                  <c:v>Offline ACE · GT ✗</c:v>
                </c:pt>
                <c:pt idx="4">
                  <c:v>Online ACE · GT ✗</c:v>
                </c:pt>
                <c:pt idx="5">
                  <c:v>Offline MIPROv2 · GT ✓</c:v>
                </c:pt>
                <c:pt idx="6">
                  <c:v>Base (zero-shot)</c:v>
                </c:pt>
                <c:pt idx="7">
                  <c:v>Offline ICL · GT ✓</c:v>
                </c:pt>
                <c:pt idx="8">
                  <c:v>Online DC · GT ✓</c:v>
                </c:pt>
                <c:pt idx="9">
                  <c:v>Online DC · GT ✗</c:v>
                </c:pt>
              </c:strCache>
            </c:strRef>
          </c:cat>
          <c:val>
            <c:numRef>
              <c:f>Sheet1!$C$2:$C$11</c:f>
              <c:numCache>
                <c:formatCode>General</c:formatCode>
                <c:ptCount val="10"/>
                <c:pt idx="0">
                  <c:v>0</c:v>
                </c:pt>
                <c:pt idx="1">
                  <c:v>0</c:v>
                </c:pt>
                <c:pt idx="2">
                  <c:v>78.33333333333333</c:v>
                </c:pt>
                <c:pt idx="3">
                  <c:v>0</c:v>
                </c:pt>
                <c:pt idx="4">
                  <c:v>0</c:v>
                </c:pt>
                <c:pt idx="5">
                  <c:v>70.0</c:v>
                </c:pt>
                <c:pt idx="6">
                  <c:v>68.66666666666667</c:v>
                </c:pt>
                <c:pt idx="7">
                  <c:v>66.33333333333333</c:v>
                </c:pt>
                <c:pt idx="8">
                  <c:v>63.666666666666664</c:v>
                </c:pt>
                <c:pt idx="9">
                  <c:v>62.333333333333336</c:v>
                </c:pt>
              </c:numCache>
            </c:numRef>
          </c:val>
        </c:ser>
        <c:dLbls>
          <c:numFmt formatCode="0.0;;;" sourceLinked="0"/>
          <c:txPr>
            <a:bodyPr/>
            <a:lstStyle/>
            <a:p>
              <a:pPr>
                <a:defRPr sz="1200" b="1">
                  <a:solidFill>
                    <a:srgbClr val="FFFFFF"/>
                  </a:solidFill>
                </a:defRPr>
              </a:pPr>
            </a:p>
          </c:txPr>
          <c:dLblPos val="inEnd"/>
          <c:showLegendKey val="0"/>
          <c:showVal val="1"/>
          <c:showCatName val="0"/>
          <c:showSerName val="0"/>
          <c:showPercent val="0"/>
          <c:showBubbleSize val="0"/>
          <c:showLeaderLines val="1"/>
        </c:dLbls>
        <c:gapWidth val="45"/>
        <c:overlap val="100"/>
        <c:axId val="-2068027336"/>
        <c:axId val="-2113994440"/>
      </c:barChart>
      <c:catAx>
        <c:axId val="-2068027336"/>
        <c:scaling>
          <c:orientation val="maxMin"/>
        </c:scaling>
        <c:delete val="0"/>
        <c:axPos val="l"/>
        <c:majorTickMark val="out"/>
        <c:minorTickMark val="none"/>
        <c:tickLblPos val="nextTo"/>
        <c:spPr>
          <a:ln>
            <a:solidFill>
              <a:srgbClr val="DDE3E6"/>
            </a:solidFill>
          </a:ln>
        </c:spPr>
        <c:txPr>
          <a:bodyPr/>
          <a:lstStyle/>
          <a:p>
            <a:pPr>
              <a:defRPr sz="1200">
                <a:solidFill>
                  <a:srgbClr val="1B2A33"/>
                </a:solidFill>
              </a:defRPr>
            </a:pPr>
          </a:p>
        </c:txPr>
        <c:crossAx val="-2113994440"/>
        <c:crosses val="autoZero"/>
        <c:auto val="1"/>
        <c:lblAlgn val="ctr"/>
        <c:lblOffset val="100"/>
        <c:noMultiLvlLbl val="0"/>
      </c:catAx>
      <c:valAx>
        <c:axId val="-2113994440"/>
        <c:scaling>
          <c:max val="100.0"/>
          <c:min val="0.0"/>
        </c:scaling>
        <c:delete val="0"/>
        <c:axPos val="b"/>
        <c:majorGridlines>
          <c:spPr>
            <a:ln w="6350">
              <a:solidFill>
                <a:srgbClr val="DDE3E6"/>
              </a:solidFill>
            </a:ln>
          </c:spPr>
        </c:majorGridlines>
        <c:majorTickMark val="out"/>
        <c:minorTickMark val="none"/>
        <c:tickLblPos val="nextTo"/>
        <c:spPr>
          <a:ln>
            <a:noFill/>
          </a:ln>
        </c:spPr>
        <c:txPr>
          <a:bodyPr/>
          <a:lstStyle/>
          <a:p>
            <a:pPr>
              <a:defRPr sz="1000">
                <a:solidFill>
                  <a:srgbClr val="5C6B73"/>
                </a:solidFill>
              </a:defRPr>
            </a:pPr>
          </a:p>
        </c:txPr>
        <c:crossAx val="-2068027336"/>
        <c:crosses val="autoZero"/>
        <c:majorUnit val="20.0"/>
      </c:valAx>
    </c:plotArea>
    <c:legend>
      <c:legendPos val="b"/>
      <c:overlay val="0"/>
      <c:txPr>
        <a:bodyPr/>
        <a:lstStyle/>
        <a:p>
          <a:pPr>
            <a:defRPr sz="1100">
              <a:solidFill>
                <a:srgbClr val="1B2A33"/>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seed 42</c:v>
                </c:pt>
              </c:strCache>
            </c:strRef>
          </c:tx>
          <c:spPr>
            <a:ln>
              <a:noFill/>
            </a:ln>
          </c:spPr>
          <c:marker>
            <c:symbol val="circle"/>
            <c:size val="9"/>
            <c:spPr>
              <a:solidFill>
                <a:srgbClr val="7D8F98"/>
              </a:solidFill>
              <a:ln>
                <a:solidFill>
                  <a:srgbClr val="FFFFFF"/>
                </a:solidFill>
              </a:ln>
            </c:spPr>
          </c:marker>
          <c:cat>
            <c:strRef>
              <c:f>Sheet1!$A$2:$A$11</c:f>
              <c:strCache>
                <c:ptCount val="10"/>
                <c:pt idx="0">
                  <c:v>Online ACE
GT ✓</c:v>
                </c:pt>
                <c:pt idx="1">
                  <c:v>Offline ACE
GT ✓</c:v>
                </c:pt>
                <c:pt idx="2">
                  <c:v>GEPA
GT ✓</c:v>
                </c:pt>
                <c:pt idx="3">
                  <c:v>Offline ACE
GT ✗</c:v>
                </c:pt>
                <c:pt idx="4">
                  <c:v>Online ACE
GT ✗</c:v>
                </c:pt>
                <c:pt idx="5">
                  <c:v>MIPROv2
GT ✓</c:v>
                </c:pt>
                <c:pt idx="6">
                  <c:v>Base</c:v>
                </c:pt>
                <c:pt idx="7">
                  <c:v>ICL
GT ✓</c:v>
                </c:pt>
                <c:pt idx="8">
                  <c:v>Online DC
GT ✓</c:v>
                </c:pt>
                <c:pt idx="9">
                  <c:v>Online DC
GT ✗</c:v>
                </c:pt>
              </c:strCache>
            </c:strRef>
          </c:cat>
          <c:val>
            <c:numRef>
              <c:f>Sheet1!$B$2:$B$11</c:f>
              <c:numCache>
                <c:formatCode>General</c:formatCode>
                <c:ptCount val="10"/>
                <c:pt idx="0">
                  <c:v>77.0</c:v>
                </c:pt>
                <c:pt idx="1">
                  <c:v>78.0</c:v>
                </c:pt>
                <c:pt idx="2">
                  <c:v>76.0</c:v>
                </c:pt>
                <c:pt idx="3">
                  <c:v>78.0</c:v>
                </c:pt>
                <c:pt idx="4">
                  <c:v>72.0</c:v>
                </c:pt>
                <c:pt idx="5">
                  <c:v>71.0</c:v>
                </c:pt>
                <c:pt idx="6">
                  <c:v>70.0</c:v>
                </c:pt>
                <c:pt idx="7">
                  <c:v>66.0</c:v>
                </c:pt>
                <c:pt idx="8">
                  <c:v>64.0</c:v>
                </c:pt>
                <c:pt idx="9">
                  <c:v>62.0</c:v>
                </c:pt>
              </c:numCache>
            </c:numRef>
          </c:val>
          <c:smooth val="0"/>
        </c:ser>
        <c:ser>
          <c:idx val="1"/>
          <c:order val="1"/>
          <c:tx>
            <c:strRef>
              <c:f>Sheet1!$C$1</c:f>
              <c:strCache>
                <c:ptCount val="1"/>
                <c:pt idx="0">
                  <c:v>seed 43</c:v>
                </c:pt>
              </c:strCache>
            </c:strRef>
          </c:tx>
          <c:spPr>
            <a:ln>
              <a:noFill/>
            </a:ln>
          </c:spPr>
          <c:marker>
            <c:symbol val="circle"/>
            <c:size val="9"/>
            <c:spPr>
              <a:solidFill>
                <a:srgbClr val="7D8F98"/>
              </a:solidFill>
              <a:ln>
                <a:solidFill>
                  <a:srgbClr val="FFFFFF"/>
                </a:solidFill>
              </a:ln>
            </c:spPr>
          </c:marker>
          <c:cat>
            <c:strRef>
              <c:f>Sheet1!$A$2:$A$11</c:f>
              <c:strCache>
                <c:ptCount val="10"/>
                <c:pt idx="0">
                  <c:v>Online ACE
GT ✓</c:v>
                </c:pt>
                <c:pt idx="1">
                  <c:v>Offline ACE
GT ✓</c:v>
                </c:pt>
                <c:pt idx="2">
                  <c:v>GEPA
GT ✓</c:v>
                </c:pt>
                <c:pt idx="3">
                  <c:v>Offline ACE
GT ✗</c:v>
                </c:pt>
                <c:pt idx="4">
                  <c:v>Online ACE
GT ✗</c:v>
                </c:pt>
                <c:pt idx="5">
                  <c:v>MIPROv2
GT ✓</c:v>
                </c:pt>
                <c:pt idx="6">
                  <c:v>Base</c:v>
                </c:pt>
                <c:pt idx="7">
                  <c:v>ICL
GT ✓</c:v>
                </c:pt>
                <c:pt idx="8">
                  <c:v>Online DC
GT ✓</c:v>
                </c:pt>
                <c:pt idx="9">
                  <c:v>Online DC
GT ✗</c:v>
                </c:pt>
              </c:strCache>
            </c:strRef>
          </c:cat>
          <c:val>
            <c:numRef>
              <c:f>Sheet1!$C$2:$C$11</c:f>
              <c:numCache>
                <c:formatCode>General</c:formatCode>
                <c:ptCount val="10"/>
                <c:pt idx="0">
                  <c:v>82.0</c:v>
                </c:pt>
                <c:pt idx="1">
                  <c:v>78.0</c:v>
                </c:pt>
                <c:pt idx="2">
                  <c:v>79.0</c:v>
                </c:pt>
                <c:pt idx="3">
                  <c:v>81.0</c:v>
                </c:pt>
                <c:pt idx="4">
                  <c:v>73.0</c:v>
                </c:pt>
                <c:pt idx="5">
                  <c:v>74.0</c:v>
                </c:pt>
                <c:pt idx="6">
                  <c:v>66.0</c:v>
                </c:pt>
                <c:pt idx="7">
                  <c:v>67.0</c:v>
                </c:pt>
                <c:pt idx="8">
                  <c:v>63.0</c:v>
                </c:pt>
                <c:pt idx="9">
                  <c:v>64.0</c:v>
                </c:pt>
              </c:numCache>
            </c:numRef>
          </c:val>
          <c:smooth val="0"/>
        </c:ser>
        <c:ser>
          <c:idx val="2"/>
          <c:order val="2"/>
          <c:tx>
            <c:strRef>
              <c:f>Sheet1!$D$1</c:f>
              <c:strCache>
                <c:ptCount val="1"/>
                <c:pt idx="0">
                  <c:v>seed 44</c:v>
                </c:pt>
              </c:strCache>
            </c:strRef>
          </c:tx>
          <c:spPr>
            <a:ln>
              <a:noFill/>
            </a:ln>
          </c:spPr>
          <c:marker>
            <c:symbol val="circle"/>
            <c:size val="9"/>
            <c:spPr>
              <a:solidFill>
                <a:srgbClr val="7D8F98"/>
              </a:solidFill>
              <a:ln>
                <a:solidFill>
                  <a:srgbClr val="FFFFFF"/>
                </a:solidFill>
              </a:ln>
            </c:spPr>
          </c:marker>
          <c:cat>
            <c:strRef>
              <c:f>Sheet1!$A$2:$A$11</c:f>
              <c:strCache>
                <c:ptCount val="10"/>
                <c:pt idx="0">
                  <c:v>Online ACE
GT ✓</c:v>
                </c:pt>
                <c:pt idx="1">
                  <c:v>Offline ACE
GT ✓</c:v>
                </c:pt>
                <c:pt idx="2">
                  <c:v>GEPA
GT ✓</c:v>
                </c:pt>
                <c:pt idx="3">
                  <c:v>Offline ACE
GT ✗</c:v>
                </c:pt>
                <c:pt idx="4">
                  <c:v>Online ACE
GT ✗</c:v>
                </c:pt>
                <c:pt idx="5">
                  <c:v>MIPROv2
GT ✓</c:v>
                </c:pt>
                <c:pt idx="6">
                  <c:v>Base</c:v>
                </c:pt>
                <c:pt idx="7">
                  <c:v>ICL
GT ✓</c:v>
                </c:pt>
                <c:pt idx="8">
                  <c:v>Online DC
GT ✓</c:v>
                </c:pt>
                <c:pt idx="9">
                  <c:v>Online DC
GT ✗</c:v>
                </c:pt>
              </c:strCache>
            </c:strRef>
          </c:cat>
          <c:val>
            <c:numRef>
              <c:f>Sheet1!$D$2:$D$11</c:f>
              <c:numCache>
                <c:formatCode>General</c:formatCode>
                <c:ptCount val="10"/>
                <c:pt idx="0">
                  <c:v>81.0</c:v>
                </c:pt>
                <c:pt idx="1">
                  <c:v>83.0</c:v>
                </c:pt>
                <c:pt idx="2">
                  <c:v>80.0</c:v>
                </c:pt>
                <c:pt idx="3">
                  <c:v>69.0</c:v>
                </c:pt>
                <c:pt idx="4">
                  <c:v>82.0</c:v>
                </c:pt>
                <c:pt idx="5">
                  <c:v>65.0</c:v>
                </c:pt>
                <c:pt idx="6">
                  <c:v>70.0</c:v>
                </c:pt>
                <c:pt idx="7">
                  <c:v>66.0</c:v>
                </c:pt>
                <c:pt idx="8">
                  <c:v>64.0</c:v>
                </c:pt>
                <c:pt idx="9">
                  <c:v>61.0</c:v>
                </c:pt>
              </c:numCache>
            </c:numRef>
          </c:val>
          <c:smooth val="0"/>
        </c:ser>
        <c:ser>
          <c:idx val="3"/>
          <c:order val="3"/>
          <c:tx>
            <c:strRef>
              <c:f>Sheet1!$E$1</c:f>
              <c:strCache>
                <c:ptCount val="1"/>
                <c:pt idx="0">
                  <c:v>mean</c:v>
                </c:pt>
              </c:strCache>
            </c:strRef>
          </c:tx>
          <c:spPr>
            <a:ln>
              <a:noFill/>
            </a:ln>
          </c:spPr>
          <c:marker>
            <c:symbol val="dash"/>
            <c:size val="20"/>
            <c:spPr>
              <a:solidFill>
                <a:srgbClr val="D1495B"/>
              </a:solidFill>
              <a:ln>
                <a:solidFill>
                  <a:srgbClr val="D1495B"/>
                </a:solidFill>
              </a:ln>
            </c:spPr>
          </c:marker>
          <c:cat>
            <c:strRef>
              <c:f>Sheet1!$A$2:$A$11</c:f>
              <c:strCache>
                <c:ptCount val="10"/>
                <c:pt idx="0">
                  <c:v>Online ACE
GT ✓</c:v>
                </c:pt>
                <c:pt idx="1">
                  <c:v>Offline ACE
GT ✓</c:v>
                </c:pt>
                <c:pt idx="2">
                  <c:v>GEPA
GT ✓</c:v>
                </c:pt>
                <c:pt idx="3">
                  <c:v>Offline ACE
GT ✗</c:v>
                </c:pt>
                <c:pt idx="4">
                  <c:v>Online ACE
GT ✗</c:v>
                </c:pt>
                <c:pt idx="5">
                  <c:v>MIPROv2
GT ✓</c:v>
                </c:pt>
                <c:pt idx="6">
                  <c:v>Base</c:v>
                </c:pt>
                <c:pt idx="7">
                  <c:v>ICL
GT ✓</c:v>
                </c:pt>
                <c:pt idx="8">
                  <c:v>Online DC
GT ✓</c:v>
                </c:pt>
                <c:pt idx="9">
                  <c:v>Online DC
GT ✗</c:v>
                </c:pt>
              </c:strCache>
            </c:strRef>
          </c:cat>
          <c:val>
            <c:numRef>
              <c:f>Sheet1!$E$2:$E$11</c:f>
              <c:numCache>
                <c:formatCode>General</c:formatCode>
                <c:ptCount val="10"/>
                <c:pt idx="0">
                  <c:v>80.0</c:v>
                </c:pt>
                <c:pt idx="1">
                  <c:v>79.66666666666667</c:v>
                </c:pt>
                <c:pt idx="2">
                  <c:v>78.33333333333333</c:v>
                </c:pt>
                <c:pt idx="3">
                  <c:v>76.0</c:v>
                </c:pt>
                <c:pt idx="4">
                  <c:v>75.66666666666667</c:v>
                </c:pt>
                <c:pt idx="5">
                  <c:v>70.0</c:v>
                </c:pt>
                <c:pt idx="6">
                  <c:v>68.66666666666667</c:v>
                </c:pt>
                <c:pt idx="7">
                  <c:v>66.33333333333333</c:v>
                </c:pt>
                <c:pt idx="8">
                  <c:v>63.666666666666664</c:v>
                </c:pt>
                <c:pt idx="9">
                  <c:v>62.333333333333336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6"/>
            </a:solidFill>
          </a:ln>
        </c:spPr>
        <c:txPr>
          <a:bodyPr/>
          <a:lstStyle/>
          <a:p>
            <a:pPr>
              <a:defRPr sz="1000">
                <a:solidFill>
                  <a:srgbClr val="1B2A33"/>
                </a:solidFill>
              </a:defRPr>
            </a:pPr>
          </a:p>
        </c:txPr>
        <c:crossAx val="2140495176"/>
        <c:crosses val="autoZero"/>
        <c:auto val="1"/>
        <c:lblAlgn val="ctr"/>
        <c:lblOffset val="100"/>
        <c:noMultiLvlLbl val="0"/>
      </c:catAx>
      <c:valAx>
        <c:axId val="2140495176"/>
        <c:scaling>
          <c:max val="90.0"/>
          <c:min val="55.0"/>
        </c:scaling>
        <c:delete val="0"/>
        <c:axPos val="l"/>
        <c:majorGridlines>
          <c:spPr>
            <a:ln w="6350">
              <a:solidFill>
                <a:srgbClr val="DDE3E6"/>
              </a:solidFill>
            </a:ln>
          </c:spPr>
        </c:majorGridlines>
        <c:majorTickMark val="out"/>
        <c:minorTickMark val="none"/>
        <c:tickLblPos val="nextTo"/>
        <c:spPr>
          <a:ln>
            <a:noFill/>
          </a:ln>
        </c:spPr>
        <c:txPr>
          <a:bodyPr/>
          <a:lstStyle/>
          <a:p>
            <a:pPr>
              <a:defRPr sz="1000">
                <a:solidFill>
                  <a:srgbClr val="5C6B73"/>
                </a:solidFill>
              </a:defRPr>
            </a:pPr>
          </a:p>
        </c:txPr>
        <c:crossAx val="2118791784"/>
        <c:crosses val="autoZero"/>
        <c:majorUnit val="5.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Stressed posts caught (recall)</c:v>
                </c:pt>
              </c:strCache>
            </c:strRef>
          </c:tx>
          <c:spPr>
            <a:solidFill>
              <a:srgbClr val="7D8F98"/>
            </a:solidFill>
          </c:spPr>
          <c:cat>
            <c:strRef>
              <c:f>Sheet1!$A$2:$A$11</c:f>
              <c:strCache>
                <c:ptCount val="10"/>
                <c:pt idx="0">
                  <c:v>Online ACE · GT ✓</c:v>
                </c:pt>
                <c:pt idx="1">
                  <c:v>Offline ACE · GT ✓</c:v>
                </c:pt>
                <c:pt idx="2">
                  <c:v>Offline GEPA · GT ✓</c:v>
                </c:pt>
                <c:pt idx="3">
                  <c:v>Offline ACE · GT ✗</c:v>
                </c:pt>
                <c:pt idx="4">
                  <c:v>Online ACE · GT ✗</c:v>
                </c:pt>
                <c:pt idx="5">
                  <c:v>Offline MIPROv2 · GT ✓</c:v>
                </c:pt>
                <c:pt idx="6">
                  <c:v>Base (zero-shot)</c:v>
                </c:pt>
                <c:pt idx="7">
                  <c:v>Offline ICL · GT ✓</c:v>
                </c:pt>
                <c:pt idx="8">
                  <c:v>Online DC · GT ✓</c:v>
                </c:pt>
                <c:pt idx="9">
                  <c:v>Online DC · GT ✗</c:v>
                </c:pt>
              </c:strCache>
            </c:strRef>
          </c:cat>
          <c:val>
            <c:numRef>
              <c:f>Sheet1!$B$2:$B$11</c:f>
              <c:numCache>
                <c:formatCode>General</c:formatCode>
                <c:ptCount val="10"/>
                <c:pt idx="0">
                  <c:v>84.02777777777777</c:v>
                </c:pt>
                <c:pt idx="1">
                  <c:v>72.91666666666666</c:v>
                </c:pt>
                <c:pt idx="2">
                  <c:v>82.63888888888889</c:v>
                </c:pt>
                <c:pt idx="3">
                  <c:v>94.44444444444444</c:v>
                </c:pt>
                <c:pt idx="4">
                  <c:v>93.05555555555556</c:v>
                </c:pt>
                <c:pt idx="5">
                  <c:v>93.75</c:v>
                </c:pt>
                <c:pt idx="6">
                  <c:v>93.75</c:v>
                </c:pt>
                <c:pt idx="7">
                  <c:v>96.52777777777777</c:v>
                </c:pt>
                <c:pt idx="8">
                  <c:v>95.83333333333333</c:v>
                </c:pt>
                <c:pt idx="9">
                  <c:v>95.13888888888889</c:v>
                </c:pt>
              </c:numCache>
            </c:numRef>
          </c:val>
        </c:ser>
        <c:ser>
          <c:idx val="1"/>
          <c:order val="1"/>
          <c:tx>
            <c:strRef>
              <c:f>Sheet1!$C$1</c:f>
              <c:strCache>
                <c:ptCount val="1"/>
                <c:pt idx="0">
                  <c:v>Non-stressed posts cleared (specificity)</c:v>
                </c:pt>
              </c:strCache>
            </c:strRef>
          </c:tx>
          <c:spPr>
            <a:solidFill>
              <a:srgbClr val="D9822B"/>
            </a:solidFill>
          </c:spPr>
          <c:cat>
            <c:strRef>
              <c:f>Sheet1!$A$2:$A$11</c:f>
              <c:strCache>
                <c:ptCount val="10"/>
                <c:pt idx="0">
                  <c:v>Online ACE · GT ✓</c:v>
                </c:pt>
                <c:pt idx="1">
                  <c:v>Offline ACE · GT ✓</c:v>
                </c:pt>
                <c:pt idx="2">
                  <c:v>Offline GEPA · GT ✓</c:v>
                </c:pt>
                <c:pt idx="3">
                  <c:v>Offline ACE · GT ✗</c:v>
                </c:pt>
                <c:pt idx="4">
                  <c:v>Online ACE · GT ✗</c:v>
                </c:pt>
                <c:pt idx="5">
                  <c:v>Offline MIPROv2 · GT ✓</c:v>
                </c:pt>
                <c:pt idx="6">
                  <c:v>Base (zero-shot)</c:v>
                </c:pt>
                <c:pt idx="7">
                  <c:v>Offline ICL · GT ✓</c:v>
                </c:pt>
                <c:pt idx="8">
                  <c:v>Online DC · GT ✓</c:v>
                </c:pt>
                <c:pt idx="9">
                  <c:v>Online DC · GT ✗</c:v>
                </c:pt>
              </c:strCache>
            </c:strRef>
          </c:cat>
          <c:val>
            <c:numRef>
              <c:f>Sheet1!$C$2:$C$11</c:f>
              <c:numCache>
                <c:formatCode>General</c:formatCode>
                <c:ptCount val="10"/>
                <c:pt idx="0">
                  <c:v>76.28205128205128</c:v>
                </c:pt>
                <c:pt idx="1">
                  <c:v>85.8974358974359</c:v>
                </c:pt>
                <c:pt idx="2">
                  <c:v>74.35897435897436</c:v>
                </c:pt>
                <c:pt idx="3">
                  <c:v>58.97435897435898</c:v>
                </c:pt>
                <c:pt idx="4">
                  <c:v>59.61538461538461</c:v>
                </c:pt>
                <c:pt idx="5">
                  <c:v>48.07692307692307</c:v>
                </c:pt>
                <c:pt idx="6">
                  <c:v>45.51282051282051</c:v>
                </c:pt>
                <c:pt idx="7">
                  <c:v>38.46153846153846</c:v>
                </c:pt>
                <c:pt idx="8">
                  <c:v>33.97435897435897</c:v>
                </c:pt>
                <c:pt idx="9">
                  <c:v>32.05128205128205</c:v>
                </c:pt>
              </c:numCache>
            </c:numRef>
          </c:val>
        </c:ser>
        <c:dLbls>
          <c:numFmt formatCode="0" sourceLinked="0"/>
          <c:txPr>
            <a:bodyPr/>
            <a:lstStyle/>
            <a:p>
              <a:pPr>
                <a:defRPr sz="1000">
                  <a:solidFill>
                    <a:srgbClr val="1B2A33"/>
                  </a:solidFill>
                </a:defRPr>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axMin"/>
        </c:scaling>
        <c:delete val="0"/>
        <c:axPos val="l"/>
        <c:majorTickMark val="out"/>
        <c:minorTickMark val="none"/>
        <c:tickLblPos val="nextTo"/>
        <c:spPr>
          <a:ln>
            <a:solidFill>
              <a:srgbClr val="DDE3E6"/>
            </a:solidFill>
          </a:ln>
        </c:spPr>
        <c:txPr>
          <a:bodyPr/>
          <a:lstStyle/>
          <a:p>
            <a:pPr>
              <a:defRPr sz="1100">
                <a:solidFill>
                  <a:srgbClr val="1B2A33"/>
                </a:solidFill>
              </a:defRPr>
            </a:pPr>
          </a:p>
        </c:txPr>
        <c:crossAx val="-2113994440"/>
        <c:crosses val="autoZero"/>
        <c:auto val="1"/>
        <c:lblAlgn val="ctr"/>
        <c:lblOffset val="100"/>
        <c:noMultiLvlLbl val="0"/>
      </c:catAx>
      <c:valAx>
        <c:axId val="-2113994440"/>
        <c:scaling>
          <c:max val="100.0"/>
          <c:min val="0.0"/>
        </c:scaling>
        <c:delete val="0"/>
        <c:axPos val="b"/>
        <c:majorGridlines>
          <c:spPr>
            <a:ln w="6350">
              <a:solidFill>
                <a:srgbClr val="DDE3E6"/>
              </a:solidFill>
            </a:ln>
          </c:spPr>
        </c:majorGridlines>
        <c:majorTickMark val="out"/>
        <c:minorTickMark val="none"/>
        <c:tickLblPos val="nextTo"/>
        <c:spPr>
          <a:ln>
            <a:noFill/>
          </a:ln>
        </c:spPr>
        <c:txPr>
          <a:bodyPr/>
          <a:lstStyle/>
          <a:p>
            <a:pPr>
              <a:defRPr sz="1000">
                <a:solidFill>
                  <a:srgbClr val="5C6B73"/>
                </a:solidFill>
              </a:defRPr>
            </a:pPr>
          </a:p>
        </c:txPr>
        <c:crossAx val="-2068027336"/>
        <c:crosses val="autoZero"/>
        <c:majorUnit val="20.0"/>
      </c:valAx>
    </c:plotArea>
    <c:legend>
      <c:legendPos val="b"/>
      <c:overlay val="0"/>
      <c:txPr>
        <a:bodyPr/>
        <a:lstStyle/>
        <a:p>
          <a:pPr>
            <a:defRPr sz="1100">
              <a:solidFill>
                <a:srgbClr val="1B2A33"/>
              </a:solidFil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ACE</c:v>
                </c:pt>
              </c:strCache>
            </c:strRef>
          </c:tx>
          <c:spPr>
            <a:ln w="47625">
              <a:noFill/>
            </a:ln>
          </c:spPr>
          <c:marker>
            <c:symbol val="circle"/>
            <c:size val="11"/>
            <c:spPr>
              <a:solidFill>
                <a:srgbClr val="D1495B"/>
              </a:solidFill>
              <a:ln>
                <a:solidFill>
                  <a:srgbClr val="FFFFFF"/>
                </a:solidFill>
              </a:ln>
            </c:spPr>
          </c:marker>
          <c:dLbls>
            <c:dLbl>
              <c:idx val="0"/>
              <c:tx>
                <c:rich>
                  <a:bodyPr/>
                  <a:lstStyle/>
                  <a:p>
                    <a:r>
                      <a:rPr sz="1000">
                        <a:solidFill>
                          <a:srgbClr val="1B2A33"/>
                        </a:solidFill>
                      </a:rPr>
                      <a:t>Online ACE GT ✓</a:t>
                    </a:r>
                  </a:p>
                </c:rich>
              </c:tx>
              <c:dLblPos val="r"/>
              <c:showLegendKey val="0"/>
              <c:showVal val="1"/>
              <c:showCatName val="0"/>
              <c:showSerName val="0"/>
              <c:showPercent val="0"/>
              <c:showBubbleSize val="0"/>
            </c:dLbl>
            <c:dLbl>
              <c:idx val="1"/>
              <c:tx>
                <c:rich>
                  <a:bodyPr/>
                  <a:lstStyle/>
                  <a:p>
                    <a:r>
                      <a:rPr sz="1000">
                        <a:solidFill>
                          <a:srgbClr val="1B2A33"/>
                        </a:solidFill>
                      </a:rPr>
                      <a:t>Offline ACE GT ✓</a:t>
                    </a:r>
                  </a:p>
                </c:rich>
              </c:tx>
              <c:dLblPos val="l"/>
              <c:showLegendKey val="0"/>
              <c:showVal val="1"/>
              <c:showCatName val="0"/>
              <c:showSerName val="0"/>
              <c:showPercent val="0"/>
              <c:showBubbleSize val="0"/>
            </c:dLbl>
            <c:dLbl>
              <c:idx val="2"/>
              <c:tx>
                <c:rich>
                  <a:bodyPr/>
                  <a:lstStyle/>
                  <a:p>
                    <a:r>
                      <a:rPr sz="1000">
                        <a:solidFill>
                          <a:srgbClr val="1B2A33"/>
                        </a:solidFill>
                      </a:rPr>
                      <a:t>Offline ACE GT ✗</a:t>
                    </a:r>
                  </a:p>
                </c:rich>
              </c:tx>
              <c:dLblPos val="t"/>
              <c:showLegendKey val="0"/>
              <c:showVal val="1"/>
              <c:showCatName val="0"/>
              <c:showSerName val="0"/>
              <c:showPercent val="0"/>
              <c:showBubbleSize val="0"/>
            </c:dLbl>
            <c:dLbl>
              <c:idx val="3"/>
              <c:tx>
                <c:rich>
                  <a:bodyPr/>
                  <a:lstStyle/>
                  <a:p>
                    <a:r>
                      <a:rPr sz="1000">
                        <a:solidFill>
                          <a:srgbClr val="1B2A33"/>
                        </a:solidFill>
                      </a:rPr>
                      <a:t>Online ACE GT ✗</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Sheet1!$A$2:$A$5</c:f>
              <c:numCache>
                <c:formatCode>General</c:formatCode>
                <c:ptCount val="4"/>
                <c:pt idx="0">
                  <c:v>80.0</c:v>
                </c:pt>
                <c:pt idx="1">
                  <c:v>79.66666666666667</c:v>
                </c:pt>
                <c:pt idx="2">
                  <c:v>76.0</c:v>
                </c:pt>
                <c:pt idx="3">
                  <c:v>75.66666666666667</c:v>
                </c:pt>
              </c:numCache>
            </c:numRef>
          </c:xVal>
          <c:yVal>
            <c:numRef>
              <c:f>Sheet1!$B$2:$B$5</c:f>
              <c:numCache>
                <c:formatCode>General</c:formatCode>
                <c:ptCount val="4"/>
                <c:pt idx="0">
                  <c:v>89.0</c:v>
                </c:pt>
                <c:pt idx="1">
                  <c:v>76.0</c:v>
                </c:pt>
                <c:pt idx="2">
                  <c:v>93.66666666666667</c:v>
                </c:pt>
                <c:pt idx="3">
                  <c:v>90.66666666666667</c:v>
                </c:pt>
              </c:numCache>
            </c:numRef>
          </c:yVal>
          <c:smooth val="0"/>
        </c:ser>
        <c:ser>
          <c:idx val="1"/>
          <c:order val="1"/>
          <c:tx>
            <c:strRef>
              <c:f>Sheet1!$B$7</c:f>
              <c:strCache>
                <c:ptCount val="1"/>
                <c:pt idx="0">
                  <c:v>Other methods</c:v>
                </c:pt>
              </c:strCache>
            </c:strRef>
          </c:tx>
          <c:spPr>
            <a:ln w="47625">
              <a:noFill/>
            </a:ln>
          </c:spPr>
          <c:marker>
            <c:symbol val="circle"/>
            <c:size val="11"/>
            <c:spPr>
              <a:solidFill>
                <a:srgbClr val="7D8F98"/>
              </a:solidFill>
              <a:ln>
                <a:solidFill>
                  <a:srgbClr val="FFFFFF"/>
                </a:solidFill>
              </a:ln>
            </c:spPr>
          </c:marker>
          <c:dLbls>
            <c:dLbl>
              <c:idx val="0"/>
              <c:tx>
                <c:rich>
                  <a:bodyPr/>
                  <a:lstStyle/>
                  <a:p>
                    <a:r>
                      <a:rPr sz="1000">
                        <a:solidFill>
                          <a:srgbClr val="1B2A33"/>
                        </a:solidFill>
                      </a:rPr>
                      <a:t>Offline GEPA GT ✓</a:t>
                    </a:r>
                  </a:p>
                </c:rich>
              </c:tx>
              <c:dLblPos val="r"/>
              <c:showLegendKey val="0"/>
              <c:showVal val="1"/>
              <c:showCatName val="0"/>
              <c:showSerName val="0"/>
              <c:showPercent val="0"/>
              <c:showBubbleSize val="0"/>
            </c:dLbl>
            <c:dLbl>
              <c:idx val="1"/>
              <c:tx>
                <c:rich>
                  <a:bodyPr/>
                  <a:lstStyle/>
                  <a:p>
                    <a:r>
                      <a:rPr sz="1000">
                        <a:solidFill>
                          <a:srgbClr val="1B2A33"/>
                        </a:solidFill>
                      </a:rPr>
                      <a:t>Offline MIPROv2 GT ✓</a:t>
                    </a:r>
                  </a:p>
                </c:rich>
              </c:tx>
              <c:dLblPos val="r"/>
              <c:showLegendKey val="0"/>
              <c:showVal val="1"/>
              <c:showCatName val="0"/>
              <c:showSerName val="0"/>
              <c:showPercent val="0"/>
              <c:showBubbleSize val="0"/>
            </c:dLbl>
            <c:dLbl>
              <c:idx val="2"/>
              <c:tx>
                <c:rich>
                  <a:bodyPr/>
                  <a:lstStyle/>
                  <a:p>
                    <a:r>
                      <a:rPr sz="1000">
                        <a:solidFill>
                          <a:srgbClr val="1B2A33"/>
                        </a:solidFill>
                      </a:rPr>
                      <a:t>Base (zero-shot)</a:t>
                    </a:r>
                  </a:p>
                </c:rich>
              </c:tx>
              <c:dLblPos val="r"/>
              <c:showLegendKey val="0"/>
              <c:showVal val="1"/>
              <c:showCatName val="0"/>
              <c:showSerName val="0"/>
              <c:showPercent val="0"/>
              <c:showBubbleSize val="0"/>
            </c:dLbl>
            <c:dLbl>
              <c:idx val="3"/>
              <c:tx>
                <c:rich>
                  <a:bodyPr/>
                  <a:lstStyle/>
                  <a:p>
                    <a:r>
                      <a:rPr sz="1000">
                        <a:solidFill>
                          <a:srgbClr val="1B2A33"/>
                        </a:solidFill>
                      </a:rPr>
                      <a:t>Offline ICL GT ✓</a:t>
                    </a:r>
                  </a:p>
                </c:rich>
              </c:tx>
              <c:dLblPos val="r"/>
              <c:showLegendKey val="0"/>
              <c:showVal val="1"/>
              <c:showCatName val="0"/>
              <c:showSerName val="0"/>
              <c:showPercent val="0"/>
              <c:showBubbleSize val="0"/>
            </c:dLbl>
            <c:dLbl>
              <c:idx val="4"/>
              <c:tx>
                <c:rich>
                  <a:bodyPr/>
                  <a:lstStyle/>
                  <a:p>
                    <a:r>
                      <a:rPr sz="1000">
                        <a:solidFill>
                          <a:srgbClr val="1B2A33"/>
                        </a:solidFill>
                      </a:rPr>
                      <a:t>Online DC GT ✓</a:t>
                    </a:r>
                  </a:p>
                </c:rich>
              </c:tx>
              <c:dLblPos val="t"/>
              <c:showLegendKey val="0"/>
              <c:showVal val="1"/>
              <c:showCatName val="0"/>
              <c:showSerName val="0"/>
              <c:showPercent val="0"/>
              <c:showBubbleSize val="0"/>
            </c:dLbl>
            <c:dLbl>
              <c:idx val="5"/>
              <c:tx>
                <c:rich>
                  <a:bodyPr/>
                  <a:lstStyle/>
                  <a:p>
                    <a:r>
                      <a:rPr sz="1000">
                        <a:solidFill>
                          <a:srgbClr val="1B2A33"/>
                        </a:solidFill>
                      </a:rPr>
                      <a:t>Online DC GT ✗</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Sheet1!$A$8:$A$13</c:f>
              <c:numCache>
                <c:formatCode>General</c:formatCode>
                <c:ptCount val="6"/>
                <c:pt idx="0">
                  <c:v>78.33333333333333</c:v>
                </c:pt>
                <c:pt idx="1">
                  <c:v>70.0</c:v>
                </c:pt>
                <c:pt idx="2">
                  <c:v>68.66666666666667</c:v>
                </c:pt>
                <c:pt idx="3">
                  <c:v>66.33333333333333</c:v>
                </c:pt>
                <c:pt idx="4">
                  <c:v>63.666666666666664</c:v>
                </c:pt>
                <c:pt idx="5">
                  <c:v>62.333333333333336</c:v>
                </c:pt>
              </c:numCache>
            </c:numRef>
          </c:xVal>
          <c:yVal>
            <c:numRef>
              <c:f>Sheet1!$B$8:$B$13</c:f>
              <c:numCache>
                <c:formatCode>General</c:formatCode>
                <c:ptCount val="6"/>
                <c:pt idx="0">
                  <c:v>92.33333333333333</c:v>
                </c:pt>
                <c:pt idx="1">
                  <c:v>97.66666666666667</c:v>
                </c:pt>
                <c:pt idx="2">
                  <c:v>91.33333333333333</c:v>
                </c:pt>
                <c:pt idx="3">
                  <c:v>83.33333333333333</c:v>
                </c:pt>
                <c:pt idx="4">
                  <c:v>94.66666666666667</c:v>
                </c:pt>
                <c:pt idx="5">
                  <c:v>91.33333333333333</c:v>
                </c:pt>
              </c:numCache>
            </c:numRef>
          </c:yVal>
          <c:smooth val="0"/>
        </c:ser>
        <c:axId val="-2128940872"/>
        <c:axId val="-2129643912"/>
      </c:scatterChart>
      <c:valAx>
        <c:axId val="-2128940872"/>
        <c:scaling>
          <c:orientation val="minMax"/>
          <c:max val="85.0"/>
          <c:min val="55.0"/>
        </c:scaling>
        <c:delete val="0"/>
        <c:axPos val="b"/>
        <c:majorGridlines>
          <c:spPr>
            <a:ln w="6350">
              <a:solidFill>
                <a:srgbClr val="DDE3E6"/>
              </a:solidFill>
            </a:ln>
          </c:spPr>
        </c:majorGridlines>
        <c:numFmt formatCode="General" sourceLinked="1"/>
        <c:majorTickMark val="out"/>
        <c:minorTickMark val="none"/>
        <c:tickLblPos val="nextTo"/>
        <c:spPr>
          <a:ln>
            <a:solidFill>
              <a:srgbClr val="DDE3E6"/>
            </a:solidFill>
          </a:ln>
        </c:spPr>
        <c:txPr>
          <a:bodyPr/>
          <a:lstStyle/>
          <a:p>
            <a:pPr>
              <a:defRPr sz="1000">
                <a:solidFill>
                  <a:srgbClr val="5C6B73"/>
                </a:solidFill>
              </a:defRPr>
            </a:pPr>
          </a:p>
        </c:txPr>
        <c:crossAx val="-2129643912"/>
        <c:crosses val="autoZero"/>
        <c:crossBetween val="midCat"/>
        <c:majorUnit val="5.0"/>
      </c:valAx>
      <c:valAx>
        <c:axId val="-2129643912"/>
        <c:scaling>
          <c:orientation val="minMax"/>
          <c:max val="100.0"/>
          <c:min val="70.0"/>
        </c:scaling>
        <c:delete val="0"/>
        <c:axPos val="l"/>
        <c:majorGridlines>
          <c:spPr>
            <a:ln w="6350">
              <a:solidFill>
                <a:srgbClr val="DDE3E6"/>
              </a:solidFill>
            </a:ln>
          </c:spPr>
        </c:majorGridlines>
        <c:numFmt formatCode="General" sourceLinked="1"/>
        <c:majorTickMark val="out"/>
        <c:minorTickMark val="none"/>
        <c:tickLblPos val="nextTo"/>
        <c:spPr>
          <a:ln>
            <a:solidFill>
              <a:srgbClr val="DDE3E6"/>
            </a:solidFill>
          </a:ln>
        </c:spPr>
        <c:txPr>
          <a:bodyPr/>
          <a:lstStyle/>
          <a:p>
            <a:pPr>
              <a:defRPr sz="1000">
                <a:solidFill>
                  <a:srgbClr val="5C6B73"/>
                </a:solidFill>
              </a:defRPr>
            </a:pPr>
          </a:p>
        </c:txPr>
        <c:crossAx val="-2128940872"/>
        <c:crosses val="autoZero"/>
        <c:crossBetween val="midCat"/>
        <c:majorUnit val="5.0"/>
      </c:valAx>
    </c:plotArea>
    <c:legend>
      <c:legendPos val="b"/>
      <c:layout/>
      <c:overlay val="0"/>
      <c:txPr>
        <a:bodyPr/>
        <a:lstStyle/>
        <a:p>
          <a:pPr>
            <a:defRPr sz="1100">
              <a:solidFill>
                <a:srgbClr val="1B2A33"/>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Companion to the six-slide summary deck. Every number is computed from Storage/v5_results.md, the stage metrics.json files and the judge results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message is the second one: accuracy differences are mostly explained by whether a method can label a non-stressed post as non-stressed. The following slides show the evidence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ACE vs DC: DC rewrites its whole cheatsheet each time; ACE adds or edits individual bullets (delta updates). That difference is what the ACE paper credits with preventing context collapse.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the four Conformability dimensions, attribution and no-unsupported-claims are at the maximum (2.0) in nearly every run. The real differences come from factual support and evidence relevance (slide 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Bars are three-seed means. The ACE vs non-ACE split is far larger than the GT ✓ vs GT ✗ split. Gains of 7+ points without labels (GT ✗) echo the ACE paper claim that playbooks can be built without labeled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Exception worth noting: Offline ACE GT ✗ seed 44 (69%) is essentially the Base mean (68.7%). A single ACE run can show almost no gain, which is why all three seeds are reported.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(recall × 48 + specificity × 52) / 100. Recall barely differs between methods while specificity differs a lot, so the accuracy ranking is almost the specificity ranking. Qwen3-8B leans towards calling stress by default.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method, same training data; only the order (seed) changed, and the playbook ended up encoding the opposite bias. The next analysis step is to open the seed-43 playbook and find which bullets pushed towards “no stress”.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grounding means the explanation and quotes match the post, not that the label is right. A post wrongly labeled stressed can still pass if its quotes are accurate.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Caution when reading the counters: a high helpful count means the Reflector (the same Qwen3-8B) rated it so; it is not causal evidence that the bullet raised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text of the bullets shown:</a:t>
            </a:r>
          </a:p>
          <a:p>
            <a:r>
              <a:t>[calc-00001] helpful=26 harmful=0 :: Stress Level Calculation: Stress Level = (Uncertainty Score + Seeking Advice Score + Decision Complexity Score) / 3. If the result is ≤ 1.5, classify as 0 (no stress); if ≥ 2.5, classify as 1 (stress).</a:t>
            </a:r>
          </a:p>
          <a:p>
            <a:r>
              <a:t>[calc-00007] helpful=11 harmful=0 :: Stress Level = (Uncertainty Score + Seeking Advice Score + Decision Complexity Score + Emotional Language Intensity Score + Contextual Stress Indicator Score) / 5. If the result is ≤ 1.5, classify as 0 (no stress); if ≥ 2.5, classify as 1 (stress). Emotional Language Intensity Score: 1 if the text contains strong emotional expressions (e.g., “…”, “…”), 0 otherwise. Contextual Stress Indicator Score: 1 if the text reflects on personal expression, potential conflict, or financial strain, 0 otherwise.</a:t>
            </a:r>
          </a:p>
          <a:p>
            <a:r>
              <a:t>[calc-00013] helpful=5 harmful=0 :: Stress Level = (Uncertainty Score + Seeking Advice Score + Decision Complexity Score + Emotional Language Intensity Score + Contextual Stress Indicator Score) / 5. If the result is ≤ 1.5, classify as 0 (no stress); if ≥ 2.5, classify as 1 (stress). This formula ensures a structured and precise classification by requiring the explicit calculation of the stress score based on all contributing factors, with a clear threshold for stress classification.</a:t>
            </a:r>
          </a:p>
          <a:p>
            <a:r>
              <a:t>[calc-00024] helpful=4 harmful=0 :: Stress Level = (Uncertainty Score + Seeking Advice Score + Decision Complexity Score + Emotional Language Intensity Score + Contextual Stress Indicator Score) / 5. If the result is ≤ 1.5, classify as 0 (no stress); if ≥ 2.5, classify as 1 (stress). Emotional Language Intensity Score: 1 if the text contains strong emotional expressions (e.g., “…”, “…”, “…”), 0 otherwise. Contextual Stress Indicator Score: 1 if the text reflects on personal expression, potential conflict, or emotional distress, 0 otherwise.</a:t>
            </a:r>
          </a:p>
          <a:p>
            <a:r>
              <a:t>[ctx-00002] helpful=8 harmful=10 :: Identify stress through emotional language and contextual cues, such as phrases like “…” or “…”, which indicate emotional distress and anxiety.</a:t>
            </a:r>
          </a:p>
          <a:p>
            <a:r>
              <a:t>[calc-00001] helpful=37 harmful=0 :: Identify indirect signs of stress such as uncertainty, indecision, and seeking advice. These can be strong indicators of stress even if the author does not explicitly state it.</a:t>
            </a:r>
          </a:p>
          <a:p>
            <a:r>
              <a:t>[calc-00016] helpful=20 harmful=0 :: When the author explicitly expresses self-blame and self-hatred, prioritize these as the strongest indicators of stress, as they directly reflect emotional distress and align with the playbook's guidance to focus on the most direct and emotionally charged quotes.</a:t>
            </a:r>
          </a:p>
          <a:p>
            <a:r>
              <a:t>[calc-00017] helpful=20 harmful=0 :: When the author explicitly expresses emotional distress (e.g., self-criticism, pain, crying in pain), prioritize these as the strongest indicators of stress, as they directly reflect the author's emotional state and align with the playbook's guidance to focus on the most direct and emotionally charged quotes.</a:t>
            </a:r>
          </a:p>
          <a:p>
            <a:r>
              <a:t>[calc-00002] helpful=3 harmful=6 :: Consider both direct and indirect signs of stress, and evaluate the context of the text more thoroughly. Be aware that the presence of indirect signs may not be sufficient to label the text as stress without further contextual analysis.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text of the bullets shown:</a:t>
            </a:r>
          </a:p>
          <a:p>
            <a:r>
              <a:t>[calc-00015] helpful=22 harmful=3 :: Use a binary classification system where the presence of any explicit stress indicators, including events that 'blindsided' the author or indicate lack of preparedness, is sufficient to classify the text as 'stress'. This approach prioritizes the presence of stress-inducing events over the absence of explicit emotional indicators.</a:t>
            </a:r>
          </a:p>
          <a:p>
            <a:r>
              <a:t>[calc-00019] helpful=8 harmful=11 :: Use a binary classification system where the presence of any explicit stress indicators such as frustration, fatigue, anger, or sensory overload is sufficient to classify the text as 'stress'. The absence of these indicators, even if other emotional states are present, classifies the text as 'no stress'.</a:t>
            </a:r>
          </a:p>
          <a:p>
            <a:r>
              <a:t>[calc-00032] helpful=6 harmful=0 :: Use a simplified binary classification system where the absence of explicit stress indicators (e.g., frustration, anger, sensory overload) is sufficient to classify the text as 'no stress'. This approach avoids overcomplication and ensures alignment with the ground truth by focusing on clear, direct indicators.</a:t>
            </a:r>
          </a:p>
          <a:p>
            <a:r>
              <a:t>[calc-00019] helpful=25 harmful=0 :: Ensure that the final label always matches the reasoning and that the evidence supports the label. If multiple stress indicators are present, classify as 'stress' (label 1) regardless of the author's denial or minimization.</a:t>
            </a:r>
          </a:p>
          <a:p>
            <a:r>
              <a:t>[ctx-00001] helpful=15 harmful=0 :: Always reference playbook bullets when available to ensure that the reasoning is aligned with the expected framework and to improve the accuracy of the answer.</a:t>
            </a:r>
          </a:p>
          <a:p>
            <a:r>
              <a:t>[calc-00014] helpful=9 harmful=0 :: Prioritize the presence of multiple stress indicators over any denial or minimization by the author. If multiple stress indicators are present, classify as 'stress' (label 1) regardless of the author's denial.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33"/>
        </a:solidFill>
        <a:effectLst/>
      </p:bgPr>
    </p:bg>
    <p:spTree>
      <p:nvGrpSpPr>
        <p:cNvPr id="1" name=""/>
        <p:cNvGrpSpPr/>
        <p:nvPr/>
      </p:nvGrpSpPr>
      <p:grpSpPr/>
      <p:sp>
        <p:nvSpPr>
          <p:cNvPr id="2" name="TextBox 1"/>
          <p:cNvSpPr txBox="1"/>
          <p:nvPr/>
        </p:nvSpPr>
        <p:spPr>
          <a:xfrm>
            <a:off x="731520" y="2103120"/>
            <a:ext cx="10515600" cy="914400"/>
          </a:xfrm>
          <a:prstGeom prst="rect">
            <a:avLst/>
          </a:prstGeom>
          <a:noFill/>
        </p:spPr>
        <p:txBody>
          <a:bodyPr wrap="square" anchor="t" lIns="0" rIns="0" tIns="0" bIns="0">
            <a:spAutoFit/>
          </a:bodyPr>
          <a:lstStyle/>
          <a:p>
            <a:pPr algn="l"/>
            <a:r>
              <a:rPr sz="4000" b="1" i="0">
                <a:solidFill>
                  <a:srgbClr val="FFFFFF"/>
                </a:solidFill>
                <a:latin typeface="Cambria"/>
                <a:ea typeface="Apple SD Gothic Neo"/>
                <a:cs typeface="Cambria"/>
              </a:rPr>
              <a:t>Dreaddit results, explained</a:t>
            </a:r>
          </a:p>
        </p:txBody>
      </p:sp>
      <p:sp>
        <p:nvSpPr>
          <p:cNvPr id="3" name="TextBox 2"/>
          <p:cNvSpPr txBox="1"/>
          <p:nvPr/>
        </p:nvSpPr>
        <p:spPr>
          <a:xfrm>
            <a:off x="731520" y="3063240"/>
            <a:ext cx="10515600" cy="457200"/>
          </a:xfrm>
          <a:prstGeom prst="rect">
            <a:avLst/>
          </a:prstGeom>
          <a:noFill/>
        </p:spPr>
        <p:txBody>
          <a:bodyPr wrap="square" anchor="t" lIns="0" rIns="0" tIns="0" bIns="0">
            <a:spAutoFit/>
          </a:bodyPr>
          <a:lstStyle/>
          <a:p>
            <a:pPr algn="l"/>
            <a:r>
              <a:rPr sz="1800" b="0" i="0">
                <a:solidFill>
                  <a:srgbClr val="CFD8DC"/>
                </a:solidFill>
                <a:latin typeface="Calibri"/>
                <a:ea typeface="Apple SD Gothic Neo"/>
                <a:cs typeface="Calibri"/>
              </a:rPr>
              <a:t>What each number means, why it came out that way, and what the ACE playbooks learned</a:t>
            </a:r>
          </a:p>
        </p:txBody>
      </p:sp>
      <p:sp>
        <p:nvSpPr>
          <p:cNvPr id="4" name="TextBox 3"/>
          <p:cNvSpPr txBox="1"/>
          <p:nvPr/>
        </p:nvSpPr>
        <p:spPr>
          <a:xfrm>
            <a:off x="731520" y="5394960"/>
            <a:ext cx="10515600" cy="365760"/>
          </a:xfrm>
          <a:prstGeom prst="rect">
            <a:avLst/>
          </a:prstGeom>
          <a:noFill/>
        </p:spPr>
        <p:txBody>
          <a:bodyPr wrap="square" anchor="t" lIns="0" rIns="0" tIns="0" bIns="0">
            <a:spAutoFit/>
          </a:bodyPr>
          <a:lstStyle/>
          <a:p>
            <a:pPr algn="l"/>
            <a:r>
              <a:rPr sz="1300" b="0" i="0">
                <a:solidFill>
                  <a:srgbClr val="9FB0B8"/>
                </a:solidFill>
                <a:latin typeface="Calibri"/>
                <a:ea typeface="Apple SD Gothic Neo"/>
                <a:cs typeface="Calibri"/>
              </a:rPr>
              <a:t>Qwen3-8B · v5 server panel · 100 test posts × 3 seeds · internal working results, not manuscript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At a glance: three messages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Where the differences between methods come from on Dreaddit stress detection</a:t>
            </a:r>
          </a:p>
        </p:txBody>
      </p:sp>
      <p:sp>
        <p:nvSpPr>
          <p:cNvPr id="4" name="Rounded Rectangle 3"/>
          <p:cNvSpPr/>
          <p:nvPr/>
        </p:nvSpPr>
        <p:spPr>
          <a:xfrm>
            <a:off x="548640" y="1600200"/>
            <a:ext cx="3520440" cy="3657600"/>
          </a:xfrm>
          <a:prstGeom prst="roundRect">
            <a:avLst>
              <a:gd name="adj" fmla="val 207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3017520" cy="731520"/>
          </a:xfrm>
          <a:prstGeom prst="rect">
            <a:avLst/>
          </a:prstGeom>
          <a:noFill/>
        </p:spPr>
        <p:txBody>
          <a:bodyPr wrap="square" anchor="t" lIns="0" rIns="0" tIns="0" bIns="0">
            <a:spAutoFit/>
          </a:bodyPr>
          <a:lstStyle/>
          <a:p>
            <a:pPr algn="l"/>
            <a:r>
              <a:rPr sz="3000" b="1" i="0">
                <a:solidFill>
                  <a:srgbClr val="D1495B"/>
                </a:solidFill>
                <a:latin typeface="Cambria"/>
                <a:ea typeface="Apple SD Gothic Neo"/>
                <a:cs typeface="Cambria"/>
              </a:rPr>
              <a:t>+7–11 pp</a:t>
            </a:r>
          </a:p>
        </p:txBody>
      </p:sp>
      <p:sp>
        <p:nvSpPr>
          <p:cNvPr id="6" name="TextBox 5"/>
          <p:cNvSpPr txBox="1"/>
          <p:nvPr/>
        </p:nvSpPr>
        <p:spPr>
          <a:xfrm>
            <a:off x="822959" y="2606040"/>
            <a:ext cx="3017520" cy="8229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ACE and GEPA clearly beat the base model</a:t>
            </a:r>
          </a:p>
        </p:txBody>
      </p:sp>
      <p:sp>
        <p:nvSpPr>
          <p:cNvPr id="7" name="TextBox 6"/>
          <p:cNvSpPr txBox="1"/>
          <p:nvPr/>
        </p:nvSpPr>
        <p:spPr>
          <a:xfrm>
            <a:off x="822959" y="3474720"/>
            <a:ext cx="3017520" cy="16916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All four ACE conditions score 7.0–11.3 points above Base; GEPA, a label-driven prompt optimizer, +9.7. ICL, MIPROv2 and DC stay within 1.3 points of Base or fall below it.</a:t>
            </a:r>
          </a:p>
        </p:txBody>
      </p:sp>
      <p:sp>
        <p:nvSpPr>
          <p:cNvPr id="8" name="Rounded Rectangle 7"/>
          <p:cNvSpPr/>
          <p:nvPr/>
        </p:nvSpPr>
        <p:spPr>
          <a:xfrm>
            <a:off x="4297679" y="1600200"/>
            <a:ext cx="3520440" cy="3657600"/>
          </a:xfrm>
          <a:prstGeom prst="roundRect">
            <a:avLst>
              <a:gd name="adj" fmla="val 207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1999" y="1783080"/>
            <a:ext cx="3017520" cy="731520"/>
          </a:xfrm>
          <a:prstGeom prst="rect">
            <a:avLst/>
          </a:prstGeom>
          <a:noFill/>
        </p:spPr>
        <p:txBody>
          <a:bodyPr wrap="square" anchor="t" lIns="0" rIns="0" tIns="0" bIns="0">
            <a:spAutoFit/>
          </a:bodyPr>
          <a:lstStyle/>
          <a:p>
            <a:pPr algn="l"/>
            <a:r>
              <a:rPr sz="3000" b="1" i="0">
                <a:solidFill>
                  <a:srgbClr val="D1495B"/>
                </a:solidFill>
                <a:latin typeface="Cambria"/>
                <a:ea typeface="Apple SD Gothic Neo"/>
                <a:cs typeface="Cambria"/>
              </a:rPr>
              <a:t>46% → 59–86%</a:t>
            </a:r>
          </a:p>
        </p:txBody>
      </p:sp>
      <p:sp>
        <p:nvSpPr>
          <p:cNvPr id="10" name="TextBox 9"/>
          <p:cNvSpPr txBox="1"/>
          <p:nvPr/>
        </p:nvSpPr>
        <p:spPr>
          <a:xfrm>
            <a:off x="4571999" y="2606040"/>
            <a:ext cx="3017520" cy="8229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The gains come from recognising “no stress”</a:t>
            </a:r>
          </a:p>
        </p:txBody>
      </p:sp>
      <p:sp>
        <p:nvSpPr>
          <p:cNvPr id="11" name="TextBox 10"/>
          <p:cNvSpPr txBox="1"/>
          <p:nvPr/>
        </p:nvSpPr>
        <p:spPr>
          <a:xfrm>
            <a:off x="4571999" y="3474720"/>
            <a:ext cx="3017520" cy="16916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Base labels 73 of 100 posts as stressed; only 48 are. Most methods catch over 90% of stressed posts, but how often they correctly clear a non-stressed post (specificity) varies widely.</a:t>
            </a:r>
          </a:p>
        </p:txBody>
      </p:sp>
      <p:sp>
        <p:nvSpPr>
          <p:cNvPr id="12" name="Rounded Rectangle 11"/>
          <p:cNvSpPr/>
          <p:nvPr/>
        </p:nvSpPr>
        <p:spPr>
          <a:xfrm>
            <a:off x="8046719" y="1600200"/>
            <a:ext cx="3520440" cy="3657600"/>
          </a:xfrm>
          <a:prstGeom prst="roundRect">
            <a:avLst>
              <a:gd name="adj" fmla="val 207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783080"/>
            <a:ext cx="3017520" cy="731520"/>
          </a:xfrm>
          <a:prstGeom prst="rect">
            <a:avLst/>
          </a:prstGeom>
          <a:noFill/>
        </p:spPr>
        <p:txBody>
          <a:bodyPr wrap="square" anchor="t" lIns="0" rIns="0" tIns="0" bIns="0">
            <a:spAutoFit/>
          </a:bodyPr>
          <a:lstStyle/>
          <a:p>
            <a:pPr algn="l"/>
            <a:r>
              <a:rPr sz="3000" b="1" i="0">
                <a:solidFill>
                  <a:srgbClr val="D1495B"/>
                </a:solidFill>
                <a:latin typeface="Cambria"/>
                <a:ea typeface="Apple SD Gothic Neo"/>
                <a:cs typeface="Cambria"/>
              </a:rPr>
              <a:t>Acc ≠ grounding</a:t>
            </a:r>
          </a:p>
        </p:txBody>
      </p:sp>
      <p:sp>
        <p:nvSpPr>
          <p:cNvPr id="14" name="TextBox 13"/>
          <p:cNvSpPr txBox="1"/>
          <p:nvPr/>
        </p:nvSpPr>
        <p:spPr>
          <a:xfrm>
            <a:off x="8321040" y="2606040"/>
            <a:ext cx="3017520" cy="8229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Grounding (Conformability) moves separately from accuracy</a:t>
            </a:r>
          </a:p>
        </p:txBody>
      </p:sp>
      <p:sp>
        <p:nvSpPr>
          <p:cNvPr id="15" name="TextBox 14"/>
          <p:cNvSpPr txBox="1"/>
          <p:nvPr/>
        </p:nvSpPr>
        <p:spPr>
          <a:xfrm>
            <a:off x="8321040" y="3474720"/>
            <a:ext cx="3017520" cy="16916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MIPROv2 is the best grounded (97.7%) but only mid-pack on accuracy. Offline ACE with GT is near the top on accuracy yet the least grounded (76%), driven by one seed at 54%.</a:t>
            </a:r>
          </a:p>
        </p:txBody>
      </p:sp>
      <p:sp>
        <p:nvSpPr>
          <p:cNvPr id="16" name="TextBox 15"/>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pp = percentage points. All values are means over three seeds.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What was compared: task, model, methods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Every method uses the same model (Qwen3-8B) and the same 100 test posts. Only “what extra the model is given” changes.</a:t>
            </a:r>
          </a:p>
        </p:txBody>
      </p:sp>
      <p:sp>
        <p:nvSpPr>
          <p:cNvPr id="4" name="Rounded Rectangle 3"/>
          <p:cNvSpPr/>
          <p:nvPr/>
        </p:nvSpPr>
        <p:spPr>
          <a:xfrm>
            <a:off x="548640" y="1600200"/>
            <a:ext cx="3657600" cy="4526280"/>
          </a:xfrm>
          <a:prstGeom prst="roundRect">
            <a:avLst>
              <a:gd name="adj" fmla="val 2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3200400" cy="4206240"/>
          </a:xfrm>
          <a:prstGeom prst="rect">
            <a:avLst/>
          </a:prstGeom>
          <a:noFill/>
        </p:spPr>
        <p:txBody>
          <a:bodyPr wrap="square" anchor="t" lIns="0" rIns="0" tIns="0" bIns="0">
            <a:spAutoFit/>
          </a:bodyPr>
          <a:lstStyle/>
          <a:p>
            <a:pPr algn="l">
              <a:spcAft>
                <a:spcPts val="600"/>
              </a:spcAft>
            </a:pPr>
            <a:r>
              <a:rPr sz="1500" b="1" i="0">
                <a:solidFill>
                  <a:srgbClr val="1B2A33"/>
                </a:solidFill>
                <a:latin typeface="Calibri"/>
                <a:ea typeface="Apple SD Gothic Neo"/>
                <a:cs typeface="Calibri"/>
              </a:rPr>
              <a:t>Task</a:t>
            </a:r>
          </a:p>
          <a:p>
            <a:pPr algn="l">
              <a:spcAft>
                <a:spcPts val="600"/>
              </a:spcAft>
            </a:pPr>
            <a:r>
              <a:rPr sz="1250" b="0" i="0">
                <a:solidFill>
                  <a:srgbClr val="1B2A33"/>
                </a:solidFill>
                <a:latin typeface="Calibri"/>
                <a:ea typeface="Apple SD Gothic Neo"/>
                <a:cs typeface="Calibri"/>
              </a:rPr>
              <a:t>Read a Reddit post and decide whether the author expresses stress (0 = no, 1 = yes).</a:t>
            </a:r>
          </a:p>
          <a:p>
            <a:pPr algn="l">
              <a:spcAft>
                <a:spcPts val="600"/>
              </a:spcAft>
            </a:pPr>
            <a:r>
              <a:rPr sz="1500" b="1" i="0">
                <a:solidFill>
                  <a:srgbClr val="1B2A33"/>
                </a:solidFill>
                <a:latin typeface="Calibri"/>
                <a:ea typeface="Apple SD Gothic Neo"/>
                <a:cs typeface="Calibri"/>
              </a:rPr>
              <a:t>Data</a:t>
            </a:r>
          </a:p>
          <a:p>
            <a:pPr algn="l">
              <a:spcAft>
                <a:spcPts val="600"/>
              </a:spcAft>
            </a:pPr>
            <a:r>
              <a:rPr sz="1250" b="0" i="0">
                <a:solidFill>
                  <a:srgbClr val="1B2A33"/>
                </a:solidFill>
                <a:latin typeface="Calibri"/>
                <a:ea typeface="Apple SD Gothic Neo"/>
                <a:cs typeface="Calibri"/>
              </a:rPr>
              <a:t>100 test posts: 48 stressed, 52 not. A separate 100 for training and 100 for development.</a:t>
            </a:r>
          </a:p>
          <a:p>
            <a:pPr algn="l">
              <a:spcAft>
                <a:spcPts val="600"/>
              </a:spcAft>
            </a:pPr>
            <a:r>
              <a:rPr sz="1500" b="1" i="0">
                <a:solidFill>
                  <a:srgbClr val="1B2A33"/>
                </a:solidFill>
                <a:latin typeface="Calibri"/>
                <a:ea typeface="Apple SD Gothic Neo"/>
                <a:cs typeface="Calibri"/>
              </a:rPr>
              <a:t>Repetitions</a:t>
            </a:r>
          </a:p>
          <a:p>
            <a:pPr algn="l">
              <a:spcAft>
                <a:spcPts val="600"/>
              </a:spcAft>
            </a:pPr>
            <a:r>
              <a:rPr sz="1250" b="0" i="0">
                <a:solidFill>
                  <a:srgbClr val="1B2A33"/>
                </a:solidFill>
                <a:latin typeface="Calibri"/>
                <a:ea typeface="Apple SD Gothic Neo"/>
                <a:cs typeface="Calibri"/>
              </a:rPr>
              <a:t>Three runs per condition (seeds 42, 43, 44) on the same 100 posts; only order and optimizer randomness differ. The SD is run-to-run variation, not sampling error.</a:t>
            </a:r>
          </a:p>
          <a:p>
            <a:pPr algn="l">
              <a:spcAft>
                <a:spcPts val="600"/>
              </a:spcAft>
            </a:pPr>
            <a:r>
              <a:rPr sz="1500" b="1" i="0">
                <a:solidFill>
                  <a:srgbClr val="1B2A33"/>
                </a:solidFill>
                <a:latin typeface="Calibri"/>
                <a:ea typeface="Apple SD Gothic Neo"/>
                <a:cs typeface="Calibri"/>
              </a:rPr>
              <a:t>GT ✓ / ✗</a:t>
            </a:r>
          </a:p>
          <a:p>
            <a:pPr algn="l">
              <a:spcAft>
                <a:spcPts val="600"/>
              </a:spcAft>
            </a:pPr>
            <a:r>
              <a:rPr sz="1250" b="0" i="0">
                <a:solidFill>
                  <a:srgbClr val="1B2A33"/>
                </a:solidFill>
                <a:latin typeface="Calibri"/>
                <a:ea typeface="Apple SD Gothic Neo"/>
                <a:cs typeface="Calibri"/>
              </a:rPr>
              <a:t>Whether true labels are shown during adaptation. Scoring always uses the true labels.</a:t>
            </a:r>
          </a:p>
        </p:txBody>
      </p:sp>
      <p:graphicFrame>
        <p:nvGraphicFramePr>
          <p:cNvPr id="6" name="Table 5"/>
          <p:cNvGraphicFramePr>
            <a:graphicFrameLocks noGrp="1"/>
          </p:cNvGraphicFramePr>
          <p:nvPr/>
        </p:nvGraphicFramePr>
        <p:xfrm>
          <a:off x="4526280" y="1600200"/>
          <a:ext cx="7132320" cy="3328416"/>
        </p:xfrm>
        <a:graphic>
          <a:graphicData uri="http://schemas.openxmlformats.org/drawingml/2006/table">
            <a:tbl>
              <a:tblPr firstRow="1" bandRow="1">
                <a:tableStyleId>{5C22544A-7EE6-4342-B048-85BDC9FD1C3A}</a:tableStyleId>
              </a:tblPr>
              <a:tblGrid>
                <a:gridCol w="1097280"/>
                <a:gridCol w="4389120"/>
                <a:gridCol w="1645920"/>
              </a:tblGrid>
              <a:tr h="475488">
                <a:tc>
                  <a:txBody>
                    <a:bodyPr/>
                    <a:lstStyle/>
                    <a:p>
                      <a:r>
                        <a:rPr sz="1200" b="1" i="0">
                          <a:solidFill>
                            <a:srgbClr val="FFFFFF"/>
                          </a:solidFill>
                          <a:latin typeface="Calibri"/>
                          <a:ea typeface="Apple SD Gothic Neo"/>
                          <a:cs typeface="Calibri"/>
                        </a:rPr>
                        <a:t>Method</a:t>
                      </a:r>
                    </a:p>
                  </a:txBody>
                  <a:tcPr marL="91440" marR="91440" marT="0" marB="0" anchor="ctr">
                    <a:solidFill>
                      <a:srgbClr val="1B2A33"/>
                    </a:solidFill>
                  </a:tcPr>
                </a:tc>
                <a:tc>
                  <a:txBody>
                    <a:bodyPr/>
                    <a:lstStyle/>
                    <a:p>
                      <a:r>
                        <a:rPr sz="1200" b="1" i="0">
                          <a:solidFill>
                            <a:srgbClr val="FFFFFF"/>
                          </a:solidFill>
                          <a:latin typeface="Calibri"/>
                          <a:ea typeface="Apple SD Gothic Neo"/>
                          <a:cs typeface="Calibri"/>
                        </a:rPr>
                        <a:t>What the model is additionally given</a:t>
                      </a:r>
                    </a:p>
                  </a:txBody>
                  <a:tcPr marL="91440" marR="91440" marT="0" marB="0" anchor="ctr">
                    <a:solidFill>
                      <a:srgbClr val="1B2A33"/>
                    </a:solidFill>
                  </a:tcPr>
                </a:tc>
                <a:tc>
                  <a:txBody>
                    <a:bodyPr/>
                    <a:lstStyle/>
                    <a:p>
                      <a:r>
                        <a:rPr sz="1200" b="1" i="0">
                          <a:solidFill>
                            <a:srgbClr val="FFFFFF"/>
                          </a:solidFill>
                          <a:latin typeface="Calibri"/>
                          <a:ea typeface="Apple SD Gothic Neo"/>
                          <a:cs typeface="Calibri"/>
                        </a:rPr>
                        <a:t>When it learns</a:t>
                      </a:r>
                    </a:p>
                  </a:txBody>
                  <a:tcPr marL="91440" marR="91440" marT="0" marB="0" anchor="ctr">
                    <a:solidFill>
                      <a:srgbClr val="1B2A33"/>
                    </a:solidFill>
                  </a:tcPr>
                </a:tc>
              </a:tr>
              <a:tr h="475488">
                <a:tc>
                  <a:txBody>
                    <a:bodyPr/>
                    <a:lstStyle/>
                    <a:p>
                      <a:r>
                        <a:rPr sz="1200" b="1" i="0">
                          <a:solidFill>
                            <a:srgbClr val="1B2A33"/>
                          </a:solidFill>
                          <a:latin typeface="Calibri"/>
                          <a:ea typeface="Apple SD Gothic Neo"/>
                          <a:cs typeface="Calibri"/>
                        </a:rPr>
                        <a:t>Base</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Nothing beyond the task instruction</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a:t>
                      </a:r>
                    </a:p>
                  </a:txBody>
                  <a:tcPr marL="91440" marR="91440" marT="0" marB="0" anchor="ctr">
                    <a:solidFill>
                      <a:srgbClr val="FFFFFF"/>
                    </a:solidFill>
                  </a:tcPr>
                </a:tc>
              </a:tr>
              <a:tr h="475488">
                <a:tc>
                  <a:txBody>
                    <a:bodyPr/>
                    <a:lstStyle/>
                    <a:p>
                      <a:r>
                        <a:rPr sz="1200" b="1" i="0">
                          <a:solidFill>
                            <a:srgbClr val="1B2A33"/>
                          </a:solidFill>
                          <a:latin typeface="Calibri"/>
                          <a:ea typeface="Apple SD Gothic Neo"/>
                          <a:cs typeface="Calibri"/>
                        </a:rPr>
                        <a:t>ICL</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Eight labeled training examples in the prompt</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offline</a:t>
                      </a:r>
                    </a:p>
                  </a:txBody>
                  <a:tcPr marL="91440" marR="91440" marT="0" marB="0" anchor="ctr">
                    <a:solidFill>
                      <a:srgbClr val="FFFFFF"/>
                    </a:solidFill>
                  </a:tcPr>
                </a:tc>
              </a:tr>
              <a:tr h="475488">
                <a:tc>
                  <a:txBody>
                    <a:bodyPr/>
                    <a:lstStyle/>
                    <a:p>
                      <a:r>
                        <a:rPr sz="1200" b="1" i="0">
                          <a:solidFill>
                            <a:srgbClr val="1B2A33"/>
                          </a:solidFill>
                          <a:latin typeface="Calibri"/>
                          <a:ea typeface="Apple SD Gothic Neo"/>
                          <a:cs typeface="Calibri"/>
                        </a:rPr>
                        <a:t>MIPROv2</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Searched instruction + example combination with the best development F1</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offline</a:t>
                      </a:r>
                    </a:p>
                  </a:txBody>
                  <a:tcPr marL="91440" marR="91440" marT="0" marB="0" anchor="ctr">
                    <a:solidFill>
                      <a:srgbClr val="FFFFFF"/>
                    </a:solidFill>
                  </a:tcPr>
                </a:tc>
              </a:tr>
              <a:tr h="475488">
                <a:tc>
                  <a:txBody>
                    <a:bodyPr/>
                    <a:lstStyle/>
                    <a:p>
                      <a:r>
                        <a:rPr sz="1200" b="1" i="0">
                          <a:solidFill>
                            <a:srgbClr val="1B2A33"/>
                          </a:solidFill>
                          <a:latin typeface="Calibri"/>
                          <a:ea typeface="Apple SD Gothic Neo"/>
                          <a:cs typeface="Calibri"/>
                        </a:rPr>
                        <a:t>GEPA</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An instruction evolved by reflecting on failures, then selected</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offline</a:t>
                      </a:r>
                    </a:p>
                  </a:txBody>
                  <a:tcPr marL="91440" marR="91440" marT="0" marB="0" anchor="ctr">
                    <a:solidFill>
                      <a:srgbClr val="FFFFFF"/>
                    </a:solidFill>
                  </a:tcPr>
                </a:tc>
              </a:tr>
              <a:tr h="475488">
                <a:tc>
                  <a:txBody>
                    <a:bodyPr/>
                    <a:lstStyle/>
                    <a:p>
                      <a:r>
                        <a:rPr sz="1200" b="1" i="0">
                          <a:solidFill>
                            <a:srgbClr val="1B2A33"/>
                          </a:solidFill>
                          <a:latin typeface="Calibri"/>
                          <a:ea typeface="Apple SD Gothic Neo"/>
                          <a:cs typeface="Calibri"/>
                        </a:rPr>
                        <a:t>ACE</a:t>
                      </a:r>
                    </a:p>
                  </a:txBody>
                  <a:tcPr marL="91440" marR="91440" marT="0" marB="0" anchor="ctr">
                    <a:solidFill>
                      <a:srgbClr val="FBEAED"/>
                    </a:solidFill>
                  </a:tcPr>
                </a:tc>
                <a:tc>
                  <a:txBody>
                    <a:bodyPr/>
                    <a:lstStyle/>
                    <a:p>
                      <a:r>
                        <a:rPr sz="1200" b="0" i="0">
                          <a:solidFill>
                            <a:srgbClr val="1B2A33"/>
                          </a:solidFill>
                          <a:latin typeface="Calibri"/>
                          <a:ea typeface="Apple SD Gothic Neo"/>
                          <a:cs typeface="Calibri"/>
                        </a:rPr>
                        <a:t>A playbook: strategy bullets accumulated by generate → reflect → curate</a:t>
                      </a:r>
                    </a:p>
                  </a:txBody>
                  <a:tcPr marL="91440" marR="91440" marT="0" marB="0" anchor="ctr">
                    <a:solidFill>
                      <a:srgbClr val="FBEAED"/>
                    </a:solidFill>
                  </a:tcPr>
                </a:tc>
                <a:tc>
                  <a:txBody>
                    <a:bodyPr/>
                    <a:lstStyle/>
                    <a:p>
                      <a:r>
                        <a:rPr sz="1200" b="0" i="0">
                          <a:solidFill>
                            <a:srgbClr val="1B2A33"/>
                          </a:solidFill>
                          <a:latin typeface="Calibri"/>
                          <a:ea typeface="Apple SD Gothic Neo"/>
                          <a:cs typeface="Calibri"/>
                        </a:rPr>
                        <a:t>offline / online</a:t>
                      </a:r>
                    </a:p>
                  </a:txBody>
                  <a:tcPr marL="91440" marR="91440" marT="0" marB="0" anchor="ctr">
                    <a:solidFill>
                      <a:srgbClr val="FBEAED"/>
                    </a:solidFill>
                  </a:tcPr>
                </a:tc>
              </a:tr>
              <a:tr h="475488">
                <a:tc>
                  <a:txBody>
                    <a:bodyPr/>
                    <a:lstStyle/>
                    <a:p>
                      <a:r>
                        <a:rPr sz="1200" b="1" i="0">
                          <a:solidFill>
                            <a:srgbClr val="1B2A33"/>
                          </a:solidFill>
                          <a:latin typeface="Calibri"/>
                          <a:ea typeface="Apple SD Gothic Neo"/>
                          <a:cs typeface="Calibri"/>
                        </a:rPr>
                        <a:t>DC (CU)</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A cheatsheet memory rewritten as a whole after every item</a:t>
                      </a:r>
                    </a:p>
                  </a:txBody>
                  <a:tcPr marL="91440" marR="91440" marT="0" marB="0" anchor="ctr">
                    <a:solidFill>
                      <a:srgbClr val="FFFFFF"/>
                    </a:solidFill>
                  </a:tcPr>
                </a:tc>
                <a:tc>
                  <a:txBody>
                    <a:bodyPr/>
                    <a:lstStyle/>
                    <a:p>
                      <a:r>
                        <a:rPr sz="1200" b="0" i="0">
                          <a:solidFill>
                            <a:srgbClr val="1B2A33"/>
                          </a:solidFill>
                          <a:latin typeface="Calibri"/>
                          <a:ea typeface="Apple SD Gothic Neo"/>
                          <a:cs typeface="Calibri"/>
                        </a:rPr>
                        <a:t>online</a:t>
                      </a:r>
                    </a:p>
                  </a:txBody>
                  <a:tcPr marL="91440" marR="91440" marT="0" marB="0" anchor="ctr">
                    <a:solidFill>
                      <a:srgbClr val="FFFFFF"/>
                    </a:solidFill>
                  </a:tcPr>
                </a:tc>
              </a:tr>
            </a:tbl>
          </a:graphicData>
        </a:graphic>
      </p:graphicFrame>
      <p:sp>
        <p:nvSpPr>
          <p:cNvPr id="7" name="Rounded Rectangle 6"/>
          <p:cNvSpPr/>
          <p:nvPr/>
        </p:nvSpPr>
        <p:spPr>
          <a:xfrm>
            <a:off x="4526280" y="5074920"/>
            <a:ext cx="7132320" cy="1051560"/>
          </a:xfrm>
          <a:prstGeom prst="roundRect">
            <a:avLst>
              <a:gd name="adj" fmla="val 6956"/>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27448" y="5202936"/>
            <a:ext cx="6729983"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Terms</a:t>
            </a:r>
          </a:p>
        </p:txBody>
      </p:sp>
      <p:sp>
        <p:nvSpPr>
          <p:cNvPr id="9" name="TextBox 8"/>
          <p:cNvSpPr txBox="1"/>
          <p:nvPr/>
        </p:nvSpPr>
        <p:spPr>
          <a:xfrm>
            <a:off x="4727448" y="5532120"/>
            <a:ext cx="6729983" cy="502919"/>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Offline = learn from the 100 training posts first, freeze, then test. Online = update after every test item (with GT ✓ the label is revealed only after the prediction is saved). ACE and DC build a memory; the others select a prompt.</a:t>
            </a:r>
          </a:p>
        </p:txBody>
      </p:sp>
      <p:sp>
        <p:nvSpPr>
          <p:cNvPr id="10" name="TextBox 9"/>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ICL, MIPROv2 and GEPA need labels, so they run with GT ✓ only. The same Qwen3-8B plays every role (generation, reflection, curation).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How to read the metrics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What each number in the results table measures</a:t>
            </a:r>
          </a:p>
        </p:txBody>
      </p:sp>
      <p:sp>
        <p:nvSpPr>
          <p:cNvPr id="4" name="Rounded Rectangle 3"/>
          <p:cNvSpPr/>
          <p:nvPr/>
        </p:nvSpPr>
        <p:spPr>
          <a:xfrm>
            <a:off x="548640" y="160020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4937760" cy="3657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Accuracy</a:t>
            </a:r>
          </a:p>
        </p:txBody>
      </p:sp>
      <p:sp>
        <p:nvSpPr>
          <p:cNvPr id="6" name="TextBox 5"/>
          <p:cNvSpPr txBox="1"/>
          <p:nvPr/>
        </p:nvSpPr>
        <p:spPr>
          <a:xfrm>
            <a:off x="822959" y="2240280"/>
            <a:ext cx="4937760" cy="82296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Share of the 100 posts labeled correctly. A malformed (invalid) output counts as wrong.</a:t>
            </a:r>
          </a:p>
        </p:txBody>
      </p:sp>
      <p:sp>
        <p:nvSpPr>
          <p:cNvPr id="7" name="TextBox 6"/>
          <p:cNvSpPr txBox="1"/>
          <p:nvPr/>
        </p:nvSpPr>
        <p:spPr>
          <a:xfrm>
            <a:off x="822959" y="3108960"/>
            <a:ext cx="4937760" cy="548640"/>
          </a:xfrm>
          <a:prstGeom prst="rect">
            <a:avLst/>
          </a:prstGeom>
          <a:noFill/>
        </p:spPr>
        <p:txBody>
          <a:bodyPr wrap="square" anchor="t" lIns="0" rIns="0" tIns="0" bIns="0">
            <a:spAutoFit/>
          </a:bodyPr>
          <a:lstStyle/>
          <a:p>
            <a:pPr algn="l"/>
            <a:r>
              <a:rPr sz="1250" b="1" i="0">
                <a:solidFill>
                  <a:srgbClr val="2A7F86"/>
                </a:solidFill>
                <a:latin typeface="Calibri"/>
                <a:ea typeface="Apple SD Gothic Neo"/>
                <a:cs typeface="Calibri"/>
              </a:rPr>
              <a:t>How to read  </a:t>
            </a:r>
            <a:r>
              <a:rPr sz="1250" b="0" i="0">
                <a:solidFill>
                  <a:srgbClr val="1B2A33"/>
                </a:solidFill>
                <a:latin typeface="Calibri"/>
                <a:ea typeface="Apple SD Gothic Neo"/>
                <a:cs typeface="Calibri"/>
              </a:rPr>
              <a:t>The most intuitive number, but it hides a one-sided labeling bias.</a:t>
            </a:r>
          </a:p>
        </p:txBody>
      </p:sp>
      <p:sp>
        <p:nvSpPr>
          <p:cNvPr id="8" name="Rounded Rectangle 7"/>
          <p:cNvSpPr/>
          <p:nvPr/>
        </p:nvSpPr>
        <p:spPr>
          <a:xfrm>
            <a:off x="6355079" y="160020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399" y="1783080"/>
            <a:ext cx="4937760" cy="3657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Macro-F1</a:t>
            </a:r>
          </a:p>
        </p:txBody>
      </p:sp>
      <p:sp>
        <p:nvSpPr>
          <p:cNvPr id="10" name="TextBox 9"/>
          <p:cNvSpPr txBox="1"/>
          <p:nvPr/>
        </p:nvSpPr>
        <p:spPr>
          <a:xfrm>
            <a:off x="6629399" y="2240280"/>
            <a:ext cx="4937760" cy="82296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The F1 score of each class (stressed / not stressed), averaged.</a:t>
            </a:r>
          </a:p>
        </p:txBody>
      </p:sp>
      <p:sp>
        <p:nvSpPr>
          <p:cNvPr id="11" name="TextBox 10"/>
          <p:cNvSpPr txBox="1"/>
          <p:nvPr/>
        </p:nvSpPr>
        <p:spPr>
          <a:xfrm>
            <a:off x="6629399" y="3108960"/>
            <a:ext cx="4937760" cy="548640"/>
          </a:xfrm>
          <a:prstGeom prst="rect">
            <a:avLst/>
          </a:prstGeom>
          <a:noFill/>
        </p:spPr>
        <p:txBody>
          <a:bodyPr wrap="square" anchor="t" lIns="0" rIns="0" tIns="0" bIns="0">
            <a:spAutoFit/>
          </a:bodyPr>
          <a:lstStyle/>
          <a:p>
            <a:pPr algn="l"/>
            <a:r>
              <a:rPr sz="1250" b="1" i="0">
                <a:solidFill>
                  <a:srgbClr val="2A7F86"/>
                </a:solidFill>
                <a:latin typeface="Calibri"/>
                <a:ea typeface="Apple SD Gothic Neo"/>
                <a:cs typeface="Calibri"/>
              </a:rPr>
              <a:t>How to read  </a:t>
            </a:r>
            <a:r>
              <a:rPr sz="1250" b="0" i="0">
                <a:solidFill>
                  <a:srgbClr val="1B2A33"/>
                </a:solidFill>
                <a:latin typeface="Calibri"/>
                <a:ea typeface="Apple SD Gothic Neo"/>
                <a:cs typeface="Calibri"/>
              </a:rPr>
              <a:t>Clearly below accuracy means one class is handled poorly.</a:t>
            </a:r>
          </a:p>
        </p:txBody>
      </p:sp>
      <p:sp>
        <p:nvSpPr>
          <p:cNvPr id="12" name="Rounded Rectangle 11"/>
          <p:cNvSpPr/>
          <p:nvPr/>
        </p:nvSpPr>
        <p:spPr>
          <a:xfrm>
            <a:off x="548640" y="393192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114800"/>
            <a:ext cx="4937760" cy="3657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Conformability (grounding)</a:t>
            </a:r>
          </a:p>
        </p:txBody>
      </p:sp>
      <p:sp>
        <p:nvSpPr>
          <p:cNvPr id="14" name="TextBox 13"/>
          <p:cNvSpPr txBox="1"/>
          <p:nvPr/>
        </p:nvSpPr>
        <p:spPr>
          <a:xfrm>
            <a:off x="822959" y="4572000"/>
            <a:ext cx="4937760" cy="82296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A judge model scores whether the explanation and quotes are supported by the post on four dimensions (factual support, evidence relevance, attribution, no unsupported claims), 0/1/2 each. A pass needs 2 on all four.</a:t>
            </a:r>
          </a:p>
        </p:txBody>
      </p:sp>
      <p:sp>
        <p:nvSpPr>
          <p:cNvPr id="15" name="TextBox 14"/>
          <p:cNvSpPr txBox="1"/>
          <p:nvPr/>
        </p:nvSpPr>
        <p:spPr>
          <a:xfrm>
            <a:off x="822959" y="5440679"/>
            <a:ext cx="4937760" cy="548640"/>
          </a:xfrm>
          <a:prstGeom prst="rect">
            <a:avLst/>
          </a:prstGeom>
          <a:noFill/>
        </p:spPr>
        <p:txBody>
          <a:bodyPr wrap="square" anchor="t" lIns="0" rIns="0" tIns="0" bIns="0">
            <a:spAutoFit/>
          </a:bodyPr>
          <a:lstStyle/>
          <a:p>
            <a:pPr algn="l"/>
            <a:r>
              <a:rPr sz="1250" b="1" i="0">
                <a:solidFill>
                  <a:srgbClr val="2A7F86"/>
                </a:solidFill>
                <a:latin typeface="Calibri"/>
                <a:ea typeface="Apple SD Gothic Neo"/>
                <a:cs typeface="Calibri"/>
              </a:rPr>
              <a:t>How to read  </a:t>
            </a:r>
            <a:r>
              <a:rPr sz="1250" b="0" i="0">
                <a:solidFill>
                  <a:srgbClr val="1B2A33"/>
                </a:solidFill>
                <a:latin typeface="Calibri"/>
                <a:ea typeface="Apple SD Gothic Neo"/>
                <a:cs typeface="Calibri"/>
              </a:rPr>
              <a:t>Independent of correctness. The judge is the same Qwen3-8B, so it is provisional.</a:t>
            </a:r>
          </a:p>
        </p:txBody>
      </p:sp>
      <p:sp>
        <p:nvSpPr>
          <p:cNvPr id="16" name="Rounded Rectangle 15"/>
          <p:cNvSpPr/>
          <p:nvPr/>
        </p:nvSpPr>
        <p:spPr>
          <a:xfrm>
            <a:off x="6355079" y="3931920"/>
            <a:ext cx="5440680" cy="2148840"/>
          </a:xfrm>
          <a:prstGeom prst="roundRect">
            <a:avLst>
              <a:gd name="adj" fmla="val 3404"/>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399" y="4114800"/>
            <a:ext cx="4937760" cy="3657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Δ Acc · mean ± SD</a:t>
            </a:r>
          </a:p>
        </p:txBody>
      </p:sp>
      <p:sp>
        <p:nvSpPr>
          <p:cNvPr id="18" name="TextBox 17"/>
          <p:cNvSpPr txBox="1"/>
          <p:nvPr/>
        </p:nvSpPr>
        <p:spPr>
          <a:xfrm>
            <a:off x="6629399" y="4572000"/>
            <a:ext cx="4937760" cy="82296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Δ Acc = difference from the Base mean, in points. ± is the SD over the three seeds.</a:t>
            </a:r>
          </a:p>
        </p:txBody>
      </p:sp>
      <p:sp>
        <p:nvSpPr>
          <p:cNvPr id="19" name="TextBox 18"/>
          <p:cNvSpPr txBox="1"/>
          <p:nvPr/>
        </p:nvSpPr>
        <p:spPr>
          <a:xfrm>
            <a:off x="6629399" y="5440679"/>
            <a:ext cx="4937760" cy="548640"/>
          </a:xfrm>
          <a:prstGeom prst="rect">
            <a:avLst/>
          </a:prstGeom>
          <a:noFill/>
        </p:spPr>
        <p:txBody>
          <a:bodyPr wrap="square" anchor="t" lIns="0" rIns="0" tIns="0" bIns="0">
            <a:spAutoFit/>
          </a:bodyPr>
          <a:lstStyle/>
          <a:p>
            <a:pPr algn="l"/>
            <a:r>
              <a:rPr sz="1250" b="1" i="0">
                <a:solidFill>
                  <a:srgbClr val="2A7F86"/>
                </a:solidFill>
                <a:latin typeface="Calibri"/>
                <a:ea typeface="Apple SD Gothic Neo"/>
                <a:cs typeface="Calibri"/>
              </a:rPr>
              <a:t>How to read  </a:t>
            </a:r>
            <a:r>
              <a:rPr sz="1250" b="0" i="0">
                <a:solidFill>
                  <a:srgbClr val="1B2A33"/>
                </a:solidFill>
                <a:latin typeface="Calibri"/>
                <a:ea typeface="Apple SD Gothic Neo"/>
                <a:cs typeface="Calibri"/>
              </a:rPr>
              <a:t>Same 100 posts solved three times, so the SD is how much a run wobbles.</a:t>
            </a:r>
          </a:p>
        </p:txBody>
      </p:sp>
      <p:sp>
        <p:nvSpPr>
          <p:cNvPr id="20" name="TextBox 19"/>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Specificity (accuracy on non-stressed posts) and recall (accuracy on stressed posts) are examined on the error-analysis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Result 1 · Accuracy: ACE and GEPA form the top group</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Mean accuracy over three seeds on the 100 test posts (%)</a:t>
            </a:r>
          </a:p>
        </p:txBody>
      </p:sp>
      <p:graphicFrame>
        <p:nvGraphicFramePr>
          <p:cNvPr id="4" name="Chart 3"/>
          <p:cNvGraphicFramePr>
            <a:graphicFrameLocks noGrp="1"/>
          </p:cNvGraphicFramePr>
          <p:nvPr/>
        </p:nvGraphicFramePr>
        <p:xfrm>
          <a:off x="457200" y="1463040"/>
          <a:ext cx="6949440" cy="4754880"/>
        </p:xfrm>
        <a:graphic>
          <a:graphicData uri="http://schemas.openxmlformats.org/drawingml/2006/chart">
            <c:chart xmlns:c="http://schemas.openxmlformats.org/drawingml/2006/chart" r:id="rId2"/>
          </a:graphicData>
        </a:graphic>
      </p:graphicFrame>
      <p:sp>
        <p:nvSpPr>
          <p:cNvPr id="5" name="Rounded Rectangle 4"/>
          <p:cNvSpPr/>
          <p:nvPr/>
        </p:nvSpPr>
        <p:spPr>
          <a:xfrm>
            <a:off x="7772400" y="1508760"/>
            <a:ext cx="3886200" cy="4663440"/>
          </a:xfrm>
          <a:prstGeom prst="roundRect">
            <a:avLst>
              <a:gd name="adj" fmla="val 1882"/>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73568" y="1636776"/>
            <a:ext cx="348386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7" name="TextBox 6"/>
          <p:cNvSpPr txBox="1"/>
          <p:nvPr/>
        </p:nvSpPr>
        <p:spPr>
          <a:xfrm>
            <a:off x="7973568" y="1965960"/>
            <a:ext cx="3483864" cy="411480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All four ACE conditions reach 75.7–80.0%, 7–11 points above Base (68.7%).</a:t>
            </a:r>
          </a:p>
          <a:p>
            <a:pPr algn="l"/>
            <a:r>
              <a:rPr sz="600" b="0" i="0">
                <a:solidFill>
                  <a:srgbClr val="1B2A33"/>
                </a:solidFill>
                <a:latin typeface="Calibri"/>
                <a:ea typeface="Apple SD Gothic Neo"/>
                <a:cs typeface="Calibri"/>
              </a:rPr>
              <a:t/>
            </a:r>
          </a:p>
          <a:p>
            <a:pPr algn="l"/>
            <a:r>
              <a:rPr sz="1250" b="0" i="0">
                <a:solidFill>
                  <a:srgbClr val="1B2A33"/>
                </a:solidFill>
                <a:latin typeface="Calibri"/>
                <a:ea typeface="Apple SD Gothic Neo"/>
                <a:cs typeface="Calibri"/>
              </a:rPr>
              <a:t>GEPA reaches 78.3%, third overall and above both ACE conditions without labels.</a:t>
            </a:r>
          </a:p>
          <a:p>
            <a:pPr algn="l"/>
            <a:r>
              <a:rPr sz="600" b="0" i="0">
                <a:solidFill>
                  <a:srgbClr val="1B2A33"/>
                </a:solidFill>
                <a:latin typeface="Calibri"/>
                <a:ea typeface="Apple SD Gothic Neo"/>
                <a:cs typeface="Calibri"/>
              </a:rPr>
              <a:t/>
            </a:r>
          </a:p>
          <a:p>
            <a:pPr algn="l"/>
            <a:r>
              <a:rPr sz="1250" b="0" i="0">
                <a:solidFill>
                  <a:srgbClr val="1B2A33"/>
                </a:solidFill>
                <a:latin typeface="Calibri"/>
                <a:ea typeface="Apple SD Gothic Neo"/>
                <a:cs typeface="Calibri"/>
              </a:rPr>
              <a:t>The other prompt methods (ICL, MIPROv2) stay close to Base; ICL is 2.3 points lower.</a:t>
            </a:r>
          </a:p>
          <a:p>
            <a:pPr algn="l"/>
            <a:r>
              <a:rPr sz="600" b="0" i="0">
                <a:solidFill>
                  <a:srgbClr val="1B2A33"/>
                </a:solidFill>
                <a:latin typeface="Calibri"/>
                <a:ea typeface="Apple SD Gothic Neo"/>
                <a:cs typeface="Calibri"/>
              </a:rPr>
              <a:t/>
            </a:r>
          </a:p>
          <a:p>
            <a:pPr algn="l"/>
            <a:r>
              <a:rPr sz="1250" b="0" i="0">
                <a:solidFill>
                  <a:srgbClr val="1B2A33"/>
                </a:solidFill>
                <a:latin typeface="Calibri"/>
                <a:ea typeface="Apple SD Gothic Neo"/>
                <a:cs typeface="Calibri"/>
              </a:rPr>
              <a:t>DC is 5–6 points below Base. Building a memory is not enough on its own; how it is built matters.</a:t>
            </a:r>
          </a:p>
          <a:p>
            <a:pPr algn="l"/>
            <a:r>
              <a:rPr sz="600" b="0" i="0">
                <a:solidFill>
                  <a:srgbClr val="1B2A33"/>
                </a:solidFill>
                <a:latin typeface="Calibri"/>
                <a:ea typeface="Apple SD Gothic Neo"/>
                <a:cs typeface="Calibri"/>
              </a:rPr>
              <a:t/>
            </a:r>
          </a:p>
          <a:p>
            <a:pPr algn="l"/>
            <a:r>
              <a:rPr sz="1250" b="0" i="1">
                <a:solidFill>
                  <a:srgbClr val="5C6B73"/>
                </a:solidFill>
                <a:latin typeface="Calibri"/>
                <a:ea typeface="Apple SD Gothic Neo"/>
                <a:cs typeface="Calibri"/>
              </a:rPr>
              <a:t>Next: how much these means move from seed to seed.</a:t>
            </a:r>
          </a:p>
        </p:txBody>
      </p:sp>
      <p:sp>
        <p:nvSpPr>
          <p:cNvPr id="8" name="TextBox 7"/>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Invalid outputs count as wrong: three in Base seed 43, one in ICL seed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Result 2 · Stability: one method can swing up to 12 points across seeds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Three dots = accuracy of seeds 42, 43, 44; red dash = mean</a:t>
            </a:r>
          </a:p>
        </p:txBody>
      </p:sp>
      <p:graphicFrame>
        <p:nvGraphicFramePr>
          <p:cNvPr id="4" name="Chart 3"/>
          <p:cNvGraphicFramePr>
            <a:graphicFrameLocks noGrp="1"/>
          </p:cNvGraphicFramePr>
          <p:nvPr/>
        </p:nvGraphicFramePr>
        <p:xfrm>
          <a:off x="457200" y="1463040"/>
          <a:ext cx="7589520" cy="4754880"/>
        </p:xfrm>
        <a:graphic>
          <a:graphicData uri="http://schemas.openxmlformats.org/drawingml/2006/chart">
            <c:chart xmlns:c="http://schemas.openxmlformats.org/drawingml/2006/chart" r:id="rId2"/>
          </a:graphicData>
        </a:graphic>
      </p:graphicFrame>
      <p:sp>
        <p:nvSpPr>
          <p:cNvPr id="5" name="Rounded Rectangle 4"/>
          <p:cNvSpPr/>
          <p:nvPr/>
        </p:nvSpPr>
        <p:spPr>
          <a:xfrm>
            <a:off x="8366760" y="1508760"/>
            <a:ext cx="3291840" cy="4663440"/>
          </a:xfrm>
          <a:prstGeom prst="roundRect">
            <a:avLst>
              <a:gd name="adj" fmla="val 2222"/>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67928" y="1636776"/>
            <a:ext cx="288950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7" name="TextBox 6"/>
          <p:cNvSpPr txBox="1"/>
          <p:nvPr/>
        </p:nvSpPr>
        <p:spPr>
          <a:xfrm>
            <a:off x="8567928" y="1965960"/>
            <a:ext cx="2889504" cy="4114800"/>
          </a:xfrm>
          <a:prstGeom prst="rect">
            <a:avLst/>
          </a:prstGeom>
          <a:noFill/>
        </p:spPr>
        <p:txBody>
          <a:bodyPr wrap="square" anchor="t" lIns="0" rIns="0" tIns="0" bIns="0">
            <a:spAutoFit/>
          </a:bodyPr>
          <a:lstStyle/>
          <a:p>
            <a:pPr algn="l"/>
            <a:r>
              <a:rPr sz="1200" b="1" i="0">
                <a:solidFill>
                  <a:srgbClr val="1B2A33"/>
                </a:solidFill>
                <a:latin typeface="Calibri"/>
                <a:ea typeface="Apple SD Gothic Neo"/>
                <a:cs typeface="Calibri"/>
              </a:rPr>
              <a:t>Widest spread</a:t>
            </a:r>
          </a:p>
          <a:p>
            <a:pPr algn="l"/>
            <a:r>
              <a:rPr sz="1200" b="0" i="0">
                <a:solidFill>
                  <a:srgbClr val="1B2A33"/>
                </a:solidFill>
                <a:latin typeface="Calibri"/>
                <a:ea typeface="Apple SD Gothic Neo"/>
                <a:cs typeface="Calibri"/>
              </a:rPr>
              <a:t>Offline ACE · GT ✗: 69–81</a:t>
            </a:r>
          </a:p>
          <a:p>
            <a:pPr algn="l"/>
            <a:r>
              <a:rPr sz="1200" b="0" i="0">
                <a:solidFill>
                  <a:srgbClr val="1B2A33"/>
                </a:solidFill>
                <a:latin typeface="Calibri"/>
                <a:ea typeface="Apple SD Gothic Neo"/>
                <a:cs typeface="Calibri"/>
              </a:rPr>
              <a:t>Online ACE · GT ✗: 72–82</a:t>
            </a:r>
          </a:p>
          <a:p>
            <a:pPr algn="l"/>
            <a:r>
              <a:rPr sz="1200" b="0" i="0">
                <a:solidFill>
                  <a:srgbClr val="1B2A33"/>
                </a:solidFill>
                <a:latin typeface="Calibri"/>
                <a:ea typeface="Apple SD Gothic Neo"/>
                <a:cs typeface="Calibri"/>
              </a:rPr>
              <a:t>Offline MIPROv2 · GT ✓: 65–74</a:t>
            </a:r>
          </a:p>
          <a:p>
            <a:pPr algn="l"/>
            <a:r>
              <a:rPr sz="600" b="0" i="0">
                <a:solidFill>
                  <a:srgbClr val="1B2A33"/>
                </a:solidFill>
                <a:latin typeface="Calibri"/>
                <a:ea typeface="Apple SD Gothic Neo"/>
                <a:cs typeface="Calibri"/>
              </a:rPr>
              <a:t/>
            </a:r>
          </a:p>
          <a:p>
            <a:pPr algn="l"/>
            <a:r>
              <a:rPr sz="1200" b="1" i="0">
                <a:solidFill>
                  <a:srgbClr val="1B2A33"/>
                </a:solidFill>
                <a:latin typeface="Calibri"/>
                <a:ea typeface="Apple SD Gothic Neo"/>
                <a:cs typeface="Calibri"/>
              </a:rPr>
              <a:t>Narrowest spread</a:t>
            </a:r>
          </a:p>
          <a:p>
            <a:pPr algn="l"/>
            <a:r>
              <a:rPr sz="1200" b="0" i="0">
                <a:solidFill>
                  <a:srgbClr val="1B2A33"/>
                </a:solidFill>
                <a:latin typeface="Calibri"/>
                <a:ea typeface="Apple SD Gothic Neo"/>
                <a:cs typeface="Calibri"/>
              </a:rPr>
              <a:t>Online DC · GT ✗: 61–64</a:t>
            </a:r>
          </a:p>
          <a:p>
            <a:pPr algn="l"/>
            <a:r>
              <a:rPr sz="1200" b="0" i="0">
                <a:solidFill>
                  <a:srgbClr val="1B2A33"/>
                </a:solidFill>
                <a:latin typeface="Calibri"/>
                <a:ea typeface="Apple SD Gothic Neo"/>
                <a:cs typeface="Calibri"/>
              </a:rPr>
              <a:t>Offline ICL · GT ✓: 66–67</a:t>
            </a:r>
          </a:p>
          <a:p>
            <a:pPr algn="l"/>
            <a:r>
              <a:rPr sz="1200" b="0" i="0">
                <a:solidFill>
                  <a:srgbClr val="1B2A33"/>
                </a:solidFill>
                <a:latin typeface="Calibri"/>
                <a:ea typeface="Apple SD Gothic Neo"/>
                <a:cs typeface="Calibri"/>
              </a:rPr>
              <a:t>Online DC · GT ✓: 63–64</a:t>
            </a:r>
          </a:p>
          <a:p>
            <a:pPr algn="l"/>
            <a:r>
              <a:rPr sz="600" b="0" i="0">
                <a:solidFill>
                  <a:srgbClr val="1B2A33"/>
                </a:solidFill>
                <a:latin typeface="Calibri"/>
                <a:ea typeface="Apple SD Gothic Neo"/>
                <a:cs typeface="Calibri"/>
              </a:rPr>
              <a:t/>
            </a:r>
          </a:p>
          <a:p>
            <a:pPr algn="l"/>
            <a:r>
              <a:rPr sz="1200" b="0" i="0">
                <a:solidFill>
                  <a:srgbClr val="1B2A33"/>
                </a:solidFill>
                <a:latin typeface="Calibri"/>
                <a:ea typeface="Apple SD Gothic Neo"/>
                <a:cs typeface="Calibri"/>
              </a:rPr>
              <a:t>When the mean gain is smaller than the spread, as for MIPROv2 (+1.3), an effect is hard to claim. Even the worst ACE seed is at or above the Base mean.</a:t>
            </a:r>
          </a:p>
        </p:txBody>
      </p:sp>
      <p:sp>
        <p:nvSpPr>
          <p:cNvPr id="8" name="TextBox 7"/>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The vertical axis starts at 55%: this chart compares dot positions, not bar lengths.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Result 3 · Error analysis: the gap is about recognising “no stress”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Accuracy on stressed posts (recall, n = 48) and on non-stressed posts (specificity, n = 52), mean over three seeds</a:t>
            </a:r>
          </a:p>
        </p:txBody>
      </p:sp>
      <p:graphicFrame>
        <p:nvGraphicFramePr>
          <p:cNvPr id="4" name="Chart 3"/>
          <p:cNvGraphicFramePr>
            <a:graphicFrameLocks noGrp="1"/>
          </p:cNvGraphicFramePr>
          <p:nvPr/>
        </p:nvGraphicFramePr>
        <p:xfrm>
          <a:off x="457200" y="1508760"/>
          <a:ext cx="7406640" cy="4754880"/>
        </p:xfrm>
        <a:graphic>
          <a:graphicData uri="http://schemas.openxmlformats.org/drawingml/2006/chart">
            <c:chart xmlns:c="http://schemas.openxmlformats.org/drawingml/2006/chart" r:id="rId2"/>
          </a:graphicData>
        </a:graphic>
      </p:graphicFrame>
      <p:sp>
        <p:nvSpPr>
          <p:cNvPr id="5" name="Rounded Rectangle 4"/>
          <p:cNvSpPr/>
          <p:nvPr/>
        </p:nvSpPr>
        <p:spPr>
          <a:xfrm>
            <a:off x="8183879" y="1554480"/>
            <a:ext cx="3474720" cy="4663440"/>
          </a:xfrm>
          <a:prstGeom prst="roundRect">
            <a:avLst>
              <a:gd name="adj" fmla="val 2105"/>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5048" y="1682495"/>
            <a:ext cx="307238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7" name="TextBox 6"/>
          <p:cNvSpPr txBox="1"/>
          <p:nvPr/>
        </p:nvSpPr>
        <p:spPr>
          <a:xfrm>
            <a:off x="8385048" y="2011680"/>
            <a:ext cx="3072384" cy="411480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Base calls 73 of 100 posts stressed, though only 48 are.</a:t>
            </a:r>
          </a:p>
          <a:p>
            <a:pPr algn="l"/>
            <a:r>
              <a:rPr sz="600" b="0" i="0">
                <a:solidFill>
                  <a:srgbClr val="1B2A33"/>
                </a:solidFill>
                <a:latin typeface="Calibri"/>
                <a:ea typeface="Apple SD Gothic Neo"/>
                <a:cs typeface="Calibri"/>
              </a:rPr>
              <a:t/>
            </a:r>
          </a:p>
          <a:p>
            <a:pPr algn="l"/>
            <a:r>
              <a:rPr sz="1200" b="0" i="0">
                <a:solidFill>
                  <a:srgbClr val="1B2A33"/>
                </a:solidFill>
                <a:latin typeface="Calibri"/>
                <a:ea typeface="Apple SD Gothic Neo"/>
                <a:cs typeface="Calibri"/>
              </a:rPr>
              <a:t>So it catches nearly every stressed post (recall 94%) but misses more than half of the non-stressed ones (specificity 46%).</a:t>
            </a:r>
          </a:p>
          <a:p>
            <a:pPr algn="l"/>
            <a:r>
              <a:rPr sz="600" b="0" i="0">
                <a:solidFill>
                  <a:srgbClr val="1B2A33"/>
                </a:solidFill>
                <a:latin typeface="Calibri"/>
                <a:ea typeface="Apple SD Gothic Neo"/>
                <a:cs typeface="Calibri"/>
              </a:rPr>
              <a:t/>
            </a:r>
          </a:p>
          <a:p>
            <a:pPr algn="l"/>
            <a:r>
              <a:rPr sz="1200" b="0" i="0">
                <a:solidFill>
                  <a:srgbClr val="1B2A33"/>
                </a:solidFill>
                <a:latin typeface="Calibri"/>
                <a:ea typeface="Apple SD Gothic Neo"/>
                <a:cs typeface="Calibri"/>
              </a:rPr>
              <a:t>DC and ICL push this bias further (specificity 32–38%); ACE (59–86%) and GEPA (74%) reduce it.</a:t>
            </a:r>
          </a:p>
          <a:p>
            <a:pPr algn="l"/>
            <a:r>
              <a:rPr sz="600" b="0" i="0">
                <a:solidFill>
                  <a:srgbClr val="1B2A33"/>
                </a:solidFill>
                <a:latin typeface="Calibri"/>
                <a:ea typeface="Apple SD Gothic Neo"/>
                <a:cs typeface="Calibri"/>
              </a:rPr>
              <a:t/>
            </a:r>
          </a:p>
          <a:p>
            <a:pPr algn="l"/>
            <a:r>
              <a:rPr sz="1200" b="1" i="0">
                <a:solidFill>
                  <a:srgbClr val="1B2A33"/>
                </a:solidFill>
                <a:latin typeface="Calibri"/>
                <a:ea typeface="Apple SD Gothic Neo"/>
                <a:cs typeface="Calibri"/>
              </a:rPr>
              <a:t>Offline ACE with GT overshoots: specificity 86%, but recall falls to 73%.</a:t>
            </a:r>
          </a:p>
        </p:txBody>
      </p:sp>
      <p:sp>
        <p:nvSpPr>
          <p:cNvPr id="8" name="TextBox 7"/>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Invalid outputs count as errors. Bar-end numbers are percentages.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Result 4 · A case study: the same method tipped the other way</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Confusion matrices of Offline ACE with GT by seed. Only seed 43 swung towards “no stress”.</a:t>
            </a:r>
          </a:p>
        </p:txBody>
      </p:sp>
      <p:sp>
        <p:nvSpPr>
          <p:cNvPr id="4" name="Rounded Rectangle 3"/>
          <p:cNvSpPr/>
          <p:nvPr/>
        </p:nvSpPr>
        <p:spPr>
          <a:xfrm>
            <a:off x="548640" y="1554480"/>
            <a:ext cx="3520440" cy="3246120"/>
          </a:xfrm>
          <a:prstGeom prst="roundRect">
            <a:avLst>
              <a:gd name="adj" fmla="val 225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3017520" cy="3657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seed 42</a:t>
            </a:r>
          </a:p>
        </p:txBody>
      </p:sp>
      <p:graphicFrame>
        <p:nvGraphicFramePr>
          <p:cNvPr id="6" name="Table 5"/>
          <p:cNvGraphicFramePr>
            <a:graphicFrameLocks noGrp="1"/>
          </p:cNvGraphicFramePr>
          <p:nvPr/>
        </p:nvGraphicFramePr>
        <p:xfrm>
          <a:off x="777240" y="2148840"/>
          <a:ext cx="3063240" cy="1371600"/>
        </p:xfrm>
        <a:graphic>
          <a:graphicData uri="http://schemas.openxmlformats.org/drawingml/2006/table">
            <a:tbl>
              <a:tblPr firstRow="1" bandRow="1">
                <a:tableStyleId>{5C22544A-7EE6-4342-B048-85BDC9FD1C3A}</a:tableStyleId>
              </a:tblPr>
              <a:tblGrid>
                <a:gridCol w="1234440"/>
                <a:gridCol w="914400"/>
                <a:gridCol w="914400"/>
              </a:tblGrid>
              <a:tr h="457200">
                <a:tc>
                  <a:txBody>
                    <a:bodyPr/>
                    <a:lstStyle/>
                    <a:p>
                      <a:pPr algn="ctr"/>
                      <a:r>
                        <a:rPr sz="1100" b="1" i="0">
                          <a:solidFill>
                            <a:srgbClr val="FFFFFF"/>
                          </a:solidFill>
                          <a:latin typeface="Calibri"/>
                          <a:ea typeface="Apple SD Gothic Neo"/>
                          <a:cs typeface="Calibri"/>
                        </a:rPr>
                        <a:t/>
                      </a:r>
                    </a:p>
                  </a:txBody>
                  <a:tcPr marL="45720" marR="45720" anchor="ctr">
                    <a:solidFill>
                      <a:srgbClr val="1B2A33"/>
                    </a:solidFill>
                  </a:tcPr>
                </a:tc>
                <a:tc>
                  <a:txBody>
                    <a:bodyPr/>
                    <a:lstStyle/>
                    <a:p>
                      <a:pPr algn="ctr"/>
                      <a:r>
                        <a:rPr sz="1100" b="1" i="0">
                          <a:solidFill>
                            <a:srgbClr val="FFFFFF"/>
                          </a:solidFill>
                          <a:latin typeface="Calibri"/>
                          <a:ea typeface="Apple SD Gothic Neo"/>
                          <a:cs typeface="Calibri"/>
                        </a:rPr>
                        <a:t>Pred: no</a:t>
                      </a:r>
                    </a:p>
                  </a:txBody>
                  <a:tcPr marL="45720" marR="45720" anchor="ctr">
                    <a:solidFill>
                      <a:srgbClr val="1B2A33"/>
                    </a:solidFill>
                  </a:tcPr>
                </a:tc>
                <a:tc>
                  <a:txBody>
                    <a:bodyPr/>
                    <a:lstStyle/>
                    <a:p>
                      <a:pPr algn="ctr"/>
                      <a:r>
                        <a:rPr sz="1100" b="1" i="0">
                          <a:solidFill>
                            <a:srgbClr val="FFFFFF"/>
                          </a:solidFill>
                          <a:latin typeface="Calibri"/>
                          <a:ea typeface="Apple SD Gothic Neo"/>
                          <a:cs typeface="Calibri"/>
                        </a:rPr>
                        <a:t>Pred: stress</a:t>
                      </a:r>
                    </a:p>
                  </a:txBody>
                  <a:tcPr marL="45720" marR="45720" anchor="ctr">
                    <a:solidFill>
                      <a:srgbClr val="1B2A33"/>
                    </a:solidFill>
                  </a:tcPr>
                </a:tc>
              </a:tr>
              <a:tr h="457200">
                <a:tc>
                  <a:txBody>
                    <a:bodyPr/>
                    <a:lstStyle/>
                    <a:p>
                      <a:pPr algn="ctr"/>
                      <a:r>
                        <a:rPr sz="1100" b="1" i="0">
                          <a:solidFill>
                            <a:srgbClr val="FFFFFF"/>
                          </a:solidFill>
                          <a:latin typeface="Calibri"/>
                          <a:ea typeface="Apple SD Gothic Neo"/>
                          <a:cs typeface="Calibri"/>
                        </a:rPr>
                        <a:t>True: no</a:t>
                      </a:r>
                    </a:p>
                  </a:txBody>
                  <a:tcPr marL="45720" marR="45720" anchor="ctr">
                    <a:solidFill>
                      <a:srgbClr val="1B2A33"/>
                    </a:solidFill>
                  </a:tcPr>
                </a:tc>
                <a:tc>
                  <a:txBody>
                    <a:bodyPr/>
                    <a:lstStyle/>
                    <a:p>
                      <a:pPr algn="ctr"/>
                      <a:r>
                        <a:rPr sz="1600" b="1" i="0">
                          <a:solidFill>
                            <a:srgbClr val="1B2A33"/>
                          </a:solidFill>
                          <a:latin typeface="Calibri"/>
                          <a:ea typeface="Apple SD Gothic Neo"/>
                          <a:cs typeface="Calibri"/>
                        </a:rPr>
                        <a:t>33</a:t>
                      </a:r>
                    </a:p>
                  </a:txBody>
                  <a:tcPr marL="45720" marR="45720" anchor="ctr">
                    <a:solidFill>
                      <a:srgbClr val="FFFFFF"/>
                    </a:solidFill>
                  </a:tcPr>
                </a:tc>
                <a:tc>
                  <a:txBody>
                    <a:bodyPr/>
                    <a:lstStyle/>
                    <a:p>
                      <a:pPr algn="ctr"/>
                      <a:r>
                        <a:rPr sz="1600" b="1" i="0">
                          <a:solidFill>
                            <a:srgbClr val="1B2A33"/>
                          </a:solidFill>
                          <a:latin typeface="Calibri"/>
                          <a:ea typeface="Apple SD Gothic Neo"/>
                          <a:cs typeface="Calibri"/>
                        </a:rPr>
                        <a:t>19</a:t>
                      </a:r>
                    </a:p>
                  </a:txBody>
                  <a:tcPr marL="45720" marR="45720" anchor="ctr">
                    <a:solidFill>
                      <a:srgbClr val="FFFFFF"/>
                    </a:solidFill>
                  </a:tcPr>
                </a:tc>
              </a:tr>
              <a:tr h="457200">
                <a:tc>
                  <a:txBody>
                    <a:bodyPr/>
                    <a:lstStyle/>
                    <a:p>
                      <a:pPr algn="ctr"/>
                      <a:r>
                        <a:rPr sz="1100" b="1" i="0">
                          <a:solidFill>
                            <a:srgbClr val="FFFFFF"/>
                          </a:solidFill>
                          <a:latin typeface="Calibri"/>
                          <a:ea typeface="Apple SD Gothic Neo"/>
                          <a:cs typeface="Calibri"/>
                        </a:rPr>
                        <a:t>True: stress</a:t>
                      </a:r>
                    </a:p>
                  </a:txBody>
                  <a:tcPr marL="45720" marR="45720" anchor="ctr">
                    <a:solidFill>
                      <a:srgbClr val="1B2A33"/>
                    </a:solidFill>
                  </a:tcPr>
                </a:tc>
                <a:tc>
                  <a:txBody>
                    <a:bodyPr/>
                    <a:lstStyle/>
                    <a:p>
                      <a:pPr algn="ctr"/>
                      <a:r>
                        <a:rPr sz="1600" b="1" i="0">
                          <a:solidFill>
                            <a:srgbClr val="1B2A33"/>
                          </a:solidFill>
                          <a:latin typeface="Calibri"/>
                          <a:ea typeface="Apple SD Gothic Neo"/>
                          <a:cs typeface="Calibri"/>
                        </a:rPr>
                        <a:t>3</a:t>
                      </a:r>
                    </a:p>
                  </a:txBody>
                  <a:tcPr marL="45720" marR="45720" anchor="ctr">
                    <a:solidFill>
                      <a:srgbClr val="FFFFFF"/>
                    </a:solidFill>
                  </a:tcPr>
                </a:tc>
                <a:tc>
                  <a:txBody>
                    <a:bodyPr/>
                    <a:lstStyle/>
                    <a:p>
                      <a:pPr algn="ctr"/>
                      <a:r>
                        <a:rPr sz="1600" b="1" i="0">
                          <a:solidFill>
                            <a:srgbClr val="1B2A33"/>
                          </a:solidFill>
                          <a:latin typeface="Calibri"/>
                          <a:ea typeface="Apple SD Gothic Neo"/>
                          <a:cs typeface="Calibri"/>
                        </a:rPr>
                        <a:t>45</a:t>
                      </a:r>
                    </a:p>
                  </a:txBody>
                  <a:tcPr marL="45720" marR="45720" anchor="ctr">
                    <a:solidFill>
                      <a:srgbClr val="FFFFFF"/>
                    </a:solidFill>
                  </a:tcPr>
                </a:tc>
              </a:tr>
            </a:tbl>
          </a:graphicData>
        </a:graphic>
      </p:graphicFrame>
      <p:sp>
        <p:nvSpPr>
          <p:cNvPr id="7" name="TextBox 6"/>
          <p:cNvSpPr txBox="1"/>
          <p:nvPr/>
        </p:nvSpPr>
        <p:spPr>
          <a:xfrm>
            <a:off x="777240" y="3703320"/>
            <a:ext cx="3108960" cy="1005840"/>
          </a:xfrm>
          <a:prstGeom prst="rect">
            <a:avLst/>
          </a:prstGeom>
          <a:noFill/>
        </p:spPr>
        <p:txBody>
          <a:bodyPr wrap="square" anchor="t" lIns="0" rIns="0" tIns="0" bIns="0">
            <a:spAutoFit/>
          </a:bodyPr>
          <a:lstStyle/>
          <a:p>
            <a:pPr algn="l">
              <a:spcAft>
                <a:spcPts val="400"/>
              </a:spcAft>
            </a:pPr>
            <a:r>
              <a:rPr sz="1150" b="1" i="0">
                <a:solidFill>
                  <a:srgbClr val="1B2A33"/>
                </a:solidFill>
                <a:latin typeface="Calibri"/>
                <a:ea typeface="Apple SD Gothic Neo"/>
                <a:cs typeface="Calibri"/>
              </a:rPr>
              <a:t>Accuracy 78% · recall 94% · specificity 63%</a:t>
            </a:r>
          </a:p>
          <a:p>
            <a:pPr algn="l">
              <a:spcAft>
                <a:spcPts val="400"/>
              </a:spcAft>
            </a:pPr>
            <a:r>
              <a:rPr sz="1150" b="0" i="0">
                <a:solidFill>
                  <a:srgbClr val="1B2A33"/>
                </a:solidFill>
                <a:latin typeface="Calibri"/>
                <a:ea typeface="Apple SD Gothic Neo"/>
                <a:cs typeface="Calibri"/>
              </a:rPr>
              <a:t>Grounding 90% (factual support 1.91/2, evidence relevance 1.89/2)</a:t>
            </a:r>
          </a:p>
        </p:txBody>
      </p:sp>
      <p:sp>
        <p:nvSpPr>
          <p:cNvPr id="8" name="Rounded Rectangle 7"/>
          <p:cNvSpPr/>
          <p:nvPr/>
        </p:nvSpPr>
        <p:spPr>
          <a:xfrm>
            <a:off x="4297679" y="1554480"/>
            <a:ext cx="3520440" cy="3246120"/>
          </a:xfrm>
          <a:prstGeom prst="roundRect">
            <a:avLst>
              <a:gd name="adj" fmla="val 2253"/>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1691640"/>
            <a:ext cx="3017520" cy="365760"/>
          </a:xfrm>
          <a:prstGeom prst="rect">
            <a:avLst/>
          </a:prstGeom>
          <a:noFill/>
        </p:spPr>
        <p:txBody>
          <a:bodyPr wrap="square" anchor="t" lIns="0" rIns="0" tIns="0" bIns="0">
            <a:spAutoFit/>
          </a:bodyPr>
          <a:lstStyle/>
          <a:p>
            <a:pPr algn="l"/>
            <a:r>
              <a:rPr sz="1600" b="1" i="0">
                <a:solidFill>
                  <a:srgbClr val="D1495B"/>
                </a:solidFill>
                <a:latin typeface="Calibri"/>
                <a:ea typeface="Apple SD Gothic Neo"/>
                <a:cs typeface="Calibri"/>
              </a:rPr>
              <a:t>seed 43</a:t>
            </a:r>
          </a:p>
        </p:txBody>
      </p:sp>
      <p:graphicFrame>
        <p:nvGraphicFramePr>
          <p:cNvPr id="10" name="Table 9"/>
          <p:cNvGraphicFramePr>
            <a:graphicFrameLocks noGrp="1"/>
          </p:cNvGraphicFramePr>
          <p:nvPr/>
        </p:nvGraphicFramePr>
        <p:xfrm>
          <a:off x="4526279" y="2148840"/>
          <a:ext cx="3063240" cy="1371600"/>
        </p:xfrm>
        <a:graphic>
          <a:graphicData uri="http://schemas.openxmlformats.org/drawingml/2006/table">
            <a:tbl>
              <a:tblPr firstRow="1" bandRow="1">
                <a:tableStyleId>{5C22544A-7EE6-4342-B048-85BDC9FD1C3A}</a:tableStyleId>
              </a:tblPr>
              <a:tblGrid>
                <a:gridCol w="1234440"/>
                <a:gridCol w="914400"/>
                <a:gridCol w="914400"/>
              </a:tblGrid>
              <a:tr h="457200">
                <a:tc>
                  <a:txBody>
                    <a:bodyPr/>
                    <a:lstStyle/>
                    <a:p>
                      <a:pPr algn="ctr"/>
                      <a:r>
                        <a:rPr sz="1100" b="1" i="0">
                          <a:solidFill>
                            <a:srgbClr val="FFFFFF"/>
                          </a:solidFill>
                          <a:latin typeface="Calibri"/>
                          <a:ea typeface="Apple SD Gothic Neo"/>
                          <a:cs typeface="Calibri"/>
                        </a:rPr>
                        <a:t/>
                      </a:r>
                    </a:p>
                  </a:txBody>
                  <a:tcPr marL="45720" marR="45720" anchor="ctr">
                    <a:solidFill>
                      <a:srgbClr val="1B2A33"/>
                    </a:solidFill>
                  </a:tcPr>
                </a:tc>
                <a:tc>
                  <a:txBody>
                    <a:bodyPr/>
                    <a:lstStyle/>
                    <a:p>
                      <a:pPr algn="ctr"/>
                      <a:r>
                        <a:rPr sz="1100" b="1" i="0">
                          <a:solidFill>
                            <a:srgbClr val="FFFFFF"/>
                          </a:solidFill>
                          <a:latin typeface="Calibri"/>
                          <a:ea typeface="Apple SD Gothic Neo"/>
                          <a:cs typeface="Calibri"/>
                        </a:rPr>
                        <a:t>Pred: no</a:t>
                      </a:r>
                    </a:p>
                  </a:txBody>
                  <a:tcPr marL="45720" marR="45720" anchor="ctr">
                    <a:solidFill>
                      <a:srgbClr val="1B2A33"/>
                    </a:solidFill>
                  </a:tcPr>
                </a:tc>
                <a:tc>
                  <a:txBody>
                    <a:bodyPr/>
                    <a:lstStyle/>
                    <a:p>
                      <a:pPr algn="ctr"/>
                      <a:r>
                        <a:rPr sz="1100" b="1" i="0">
                          <a:solidFill>
                            <a:srgbClr val="FFFFFF"/>
                          </a:solidFill>
                          <a:latin typeface="Calibri"/>
                          <a:ea typeface="Apple SD Gothic Neo"/>
                          <a:cs typeface="Calibri"/>
                        </a:rPr>
                        <a:t>Pred: stress</a:t>
                      </a:r>
                    </a:p>
                  </a:txBody>
                  <a:tcPr marL="45720" marR="45720" anchor="ctr">
                    <a:solidFill>
                      <a:srgbClr val="1B2A33"/>
                    </a:solidFill>
                  </a:tcPr>
                </a:tc>
              </a:tr>
              <a:tr h="457200">
                <a:tc>
                  <a:txBody>
                    <a:bodyPr/>
                    <a:lstStyle/>
                    <a:p>
                      <a:pPr algn="ctr"/>
                      <a:r>
                        <a:rPr sz="1100" b="1" i="0">
                          <a:solidFill>
                            <a:srgbClr val="FFFFFF"/>
                          </a:solidFill>
                          <a:latin typeface="Calibri"/>
                          <a:ea typeface="Apple SD Gothic Neo"/>
                          <a:cs typeface="Calibri"/>
                        </a:rPr>
                        <a:t>True: no</a:t>
                      </a:r>
                    </a:p>
                  </a:txBody>
                  <a:tcPr marL="45720" marR="45720" anchor="ctr">
                    <a:solidFill>
                      <a:srgbClr val="1B2A33"/>
                    </a:solidFill>
                  </a:tcPr>
                </a:tc>
                <a:tc>
                  <a:txBody>
                    <a:bodyPr/>
                    <a:lstStyle/>
                    <a:p>
                      <a:pPr algn="ctr"/>
                      <a:r>
                        <a:rPr sz="1600" b="1" i="0">
                          <a:solidFill>
                            <a:srgbClr val="1B2A33"/>
                          </a:solidFill>
                          <a:latin typeface="Calibri"/>
                          <a:ea typeface="Apple SD Gothic Neo"/>
                          <a:cs typeface="Calibri"/>
                        </a:rPr>
                        <a:t>52</a:t>
                      </a:r>
                    </a:p>
                  </a:txBody>
                  <a:tcPr marL="45720" marR="45720" anchor="ctr">
                    <a:solidFill>
                      <a:srgbClr val="FFFFFF"/>
                    </a:solidFill>
                  </a:tcPr>
                </a:tc>
                <a:tc>
                  <a:txBody>
                    <a:bodyPr/>
                    <a:lstStyle/>
                    <a:p>
                      <a:pPr algn="ctr"/>
                      <a:r>
                        <a:rPr sz="1600" b="1" i="0">
                          <a:solidFill>
                            <a:srgbClr val="1B2A33"/>
                          </a:solidFill>
                          <a:latin typeface="Calibri"/>
                          <a:ea typeface="Apple SD Gothic Neo"/>
                          <a:cs typeface="Calibri"/>
                        </a:rPr>
                        <a:t>0</a:t>
                      </a:r>
                    </a:p>
                  </a:txBody>
                  <a:tcPr marL="45720" marR="45720" anchor="ctr">
                    <a:solidFill>
                      <a:srgbClr val="FFFFFF"/>
                    </a:solidFill>
                  </a:tcPr>
                </a:tc>
              </a:tr>
              <a:tr h="457200">
                <a:tc>
                  <a:txBody>
                    <a:bodyPr/>
                    <a:lstStyle/>
                    <a:p>
                      <a:pPr algn="ctr"/>
                      <a:r>
                        <a:rPr sz="1100" b="1" i="0">
                          <a:solidFill>
                            <a:srgbClr val="FFFFFF"/>
                          </a:solidFill>
                          <a:latin typeface="Calibri"/>
                          <a:ea typeface="Apple SD Gothic Neo"/>
                          <a:cs typeface="Calibri"/>
                        </a:rPr>
                        <a:t>True: stress</a:t>
                      </a:r>
                    </a:p>
                  </a:txBody>
                  <a:tcPr marL="45720" marR="45720" anchor="ctr">
                    <a:solidFill>
                      <a:srgbClr val="1B2A33"/>
                    </a:solidFill>
                  </a:tcPr>
                </a:tc>
                <a:tc>
                  <a:txBody>
                    <a:bodyPr/>
                    <a:lstStyle/>
                    <a:p>
                      <a:pPr algn="ctr"/>
                      <a:r>
                        <a:rPr sz="1600" b="1" i="0">
                          <a:solidFill>
                            <a:srgbClr val="D1495B"/>
                          </a:solidFill>
                          <a:latin typeface="Calibri"/>
                          <a:ea typeface="Apple SD Gothic Neo"/>
                          <a:cs typeface="Calibri"/>
                        </a:rPr>
                        <a:t>22</a:t>
                      </a:r>
                    </a:p>
                  </a:txBody>
                  <a:tcPr marL="45720" marR="45720" anchor="ctr">
                    <a:solidFill>
                      <a:srgbClr val="FFFFFF"/>
                    </a:solidFill>
                  </a:tcPr>
                </a:tc>
                <a:tc>
                  <a:txBody>
                    <a:bodyPr/>
                    <a:lstStyle/>
                    <a:p>
                      <a:pPr algn="ctr"/>
                      <a:r>
                        <a:rPr sz="1600" b="1" i="0">
                          <a:solidFill>
                            <a:srgbClr val="1B2A33"/>
                          </a:solidFill>
                          <a:latin typeface="Calibri"/>
                          <a:ea typeface="Apple SD Gothic Neo"/>
                          <a:cs typeface="Calibri"/>
                        </a:rPr>
                        <a:t>26</a:t>
                      </a:r>
                    </a:p>
                  </a:txBody>
                  <a:tcPr marL="45720" marR="45720" anchor="ctr">
                    <a:solidFill>
                      <a:srgbClr val="FFFFFF"/>
                    </a:solidFill>
                  </a:tcPr>
                </a:tc>
              </a:tr>
            </a:tbl>
          </a:graphicData>
        </a:graphic>
      </p:graphicFrame>
      <p:sp>
        <p:nvSpPr>
          <p:cNvPr id="11" name="TextBox 10"/>
          <p:cNvSpPr txBox="1"/>
          <p:nvPr/>
        </p:nvSpPr>
        <p:spPr>
          <a:xfrm>
            <a:off x="4526279" y="3703320"/>
            <a:ext cx="3108960" cy="1005840"/>
          </a:xfrm>
          <a:prstGeom prst="rect">
            <a:avLst/>
          </a:prstGeom>
          <a:noFill/>
        </p:spPr>
        <p:txBody>
          <a:bodyPr wrap="square" anchor="t" lIns="0" rIns="0" tIns="0" bIns="0">
            <a:spAutoFit/>
          </a:bodyPr>
          <a:lstStyle/>
          <a:p>
            <a:pPr algn="l">
              <a:spcAft>
                <a:spcPts val="400"/>
              </a:spcAft>
            </a:pPr>
            <a:r>
              <a:rPr sz="1150" b="1" i="0">
                <a:solidFill>
                  <a:srgbClr val="1B2A33"/>
                </a:solidFill>
                <a:latin typeface="Calibri"/>
                <a:ea typeface="Apple SD Gothic Neo"/>
                <a:cs typeface="Calibri"/>
              </a:rPr>
              <a:t>Accuracy 78% · recall 54% · specificity 100%</a:t>
            </a:r>
          </a:p>
          <a:p>
            <a:pPr algn="l">
              <a:spcAft>
                <a:spcPts val="400"/>
              </a:spcAft>
            </a:pPr>
            <a:r>
              <a:rPr sz="1150" b="0" i="0">
                <a:solidFill>
                  <a:srgbClr val="1B2A33"/>
                </a:solidFill>
                <a:latin typeface="Calibri"/>
                <a:ea typeface="Apple SD Gothic Neo"/>
                <a:cs typeface="Calibri"/>
              </a:rPr>
              <a:t>Grounding 54% (factual support 1.54/2, evidence relevance 1.52/2)</a:t>
            </a:r>
          </a:p>
        </p:txBody>
      </p:sp>
      <p:sp>
        <p:nvSpPr>
          <p:cNvPr id="12" name="Rounded Rectangle 11"/>
          <p:cNvSpPr/>
          <p:nvPr/>
        </p:nvSpPr>
        <p:spPr>
          <a:xfrm>
            <a:off x="8046719" y="1554480"/>
            <a:ext cx="3520440" cy="3246120"/>
          </a:xfrm>
          <a:prstGeom prst="roundRect">
            <a:avLst>
              <a:gd name="adj" fmla="val 2253"/>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91640"/>
            <a:ext cx="3017520" cy="365760"/>
          </a:xfrm>
          <a:prstGeom prst="rect">
            <a:avLst/>
          </a:prstGeom>
          <a:noFill/>
        </p:spPr>
        <p:txBody>
          <a:bodyPr wrap="square" anchor="t" lIns="0" rIns="0" tIns="0" bIns="0">
            <a:spAutoFit/>
          </a:bodyPr>
          <a:lstStyle/>
          <a:p>
            <a:pPr algn="l"/>
            <a:r>
              <a:rPr sz="1600" b="1" i="0">
                <a:solidFill>
                  <a:srgbClr val="1B2A33"/>
                </a:solidFill>
                <a:latin typeface="Calibri"/>
                <a:ea typeface="Apple SD Gothic Neo"/>
                <a:cs typeface="Calibri"/>
              </a:rPr>
              <a:t>seed 44</a:t>
            </a:r>
          </a:p>
        </p:txBody>
      </p:sp>
      <p:graphicFrame>
        <p:nvGraphicFramePr>
          <p:cNvPr id="14" name="Table 13"/>
          <p:cNvGraphicFramePr>
            <a:graphicFrameLocks noGrp="1"/>
          </p:cNvGraphicFramePr>
          <p:nvPr/>
        </p:nvGraphicFramePr>
        <p:xfrm>
          <a:off x="8275319" y="2148840"/>
          <a:ext cx="3063240" cy="1371600"/>
        </p:xfrm>
        <a:graphic>
          <a:graphicData uri="http://schemas.openxmlformats.org/drawingml/2006/table">
            <a:tbl>
              <a:tblPr firstRow="1" bandRow="1">
                <a:tableStyleId>{5C22544A-7EE6-4342-B048-85BDC9FD1C3A}</a:tableStyleId>
              </a:tblPr>
              <a:tblGrid>
                <a:gridCol w="1234440"/>
                <a:gridCol w="914400"/>
                <a:gridCol w="914400"/>
              </a:tblGrid>
              <a:tr h="457200">
                <a:tc>
                  <a:txBody>
                    <a:bodyPr/>
                    <a:lstStyle/>
                    <a:p>
                      <a:pPr algn="ctr"/>
                      <a:r>
                        <a:rPr sz="1100" b="1" i="0">
                          <a:solidFill>
                            <a:srgbClr val="FFFFFF"/>
                          </a:solidFill>
                          <a:latin typeface="Calibri"/>
                          <a:ea typeface="Apple SD Gothic Neo"/>
                          <a:cs typeface="Calibri"/>
                        </a:rPr>
                        <a:t/>
                      </a:r>
                    </a:p>
                  </a:txBody>
                  <a:tcPr marL="45720" marR="45720" anchor="ctr">
                    <a:solidFill>
                      <a:srgbClr val="1B2A33"/>
                    </a:solidFill>
                  </a:tcPr>
                </a:tc>
                <a:tc>
                  <a:txBody>
                    <a:bodyPr/>
                    <a:lstStyle/>
                    <a:p>
                      <a:pPr algn="ctr"/>
                      <a:r>
                        <a:rPr sz="1100" b="1" i="0">
                          <a:solidFill>
                            <a:srgbClr val="FFFFFF"/>
                          </a:solidFill>
                          <a:latin typeface="Calibri"/>
                          <a:ea typeface="Apple SD Gothic Neo"/>
                          <a:cs typeface="Calibri"/>
                        </a:rPr>
                        <a:t>Pred: no</a:t>
                      </a:r>
                    </a:p>
                  </a:txBody>
                  <a:tcPr marL="45720" marR="45720" anchor="ctr">
                    <a:solidFill>
                      <a:srgbClr val="1B2A33"/>
                    </a:solidFill>
                  </a:tcPr>
                </a:tc>
                <a:tc>
                  <a:txBody>
                    <a:bodyPr/>
                    <a:lstStyle/>
                    <a:p>
                      <a:pPr algn="ctr"/>
                      <a:r>
                        <a:rPr sz="1100" b="1" i="0">
                          <a:solidFill>
                            <a:srgbClr val="FFFFFF"/>
                          </a:solidFill>
                          <a:latin typeface="Calibri"/>
                          <a:ea typeface="Apple SD Gothic Neo"/>
                          <a:cs typeface="Calibri"/>
                        </a:rPr>
                        <a:t>Pred: stress</a:t>
                      </a:r>
                    </a:p>
                  </a:txBody>
                  <a:tcPr marL="45720" marR="45720" anchor="ctr">
                    <a:solidFill>
                      <a:srgbClr val="1B2A33"/>
                    </a:solidFill>
                  </a:tcPr>
                </a:tc>
              </a:tr>
              <a:tr h="457200">
                <a:tc>
                  <a:txBody>
                    <a:bodyPr/>
                    <a:lstStyle/>
                    <a:p>
                      <a:pPr algn="ctr"/>
                      <a:r>
                        <a:rPr sz="1100" b="1" i="0">
                          <a:solidFill>
                            <a:srgbClr val="FFFFFF"/>
                          </a:solidFill>
                          <a:latin typeface="Calibri"/>
                          <a:ea typeface="Apple SD Gothic Neo"/>
                          <a:cs typeface="Calibri"/>
                        </a:rPr>
                        <a:t>True: no</a:t>
                      </a:r>
                    </a:p>
                  </a:txBody>
                  <a:tcPr marL="45720" marR="45720" anchor="ctr">
                    <a:solidFill>
                      <a:srgbClr val="1B2A33"/>
                    </a:solidFill>
                  </a:tcPr>
                </a:tc>
                <a:tc>
                  <a:txBody>
                    <a:bodyPr/>
                    <a:lstStyle/>
                    <a:p>
                      <a:pPr algn="ctr"/>
                      <a:r>
                        <a:rPr sz="1600" b="1" i="0">
                          <a:solidFill>
                            <a:srgbClr val="1B2A33"/>
                          </a:solidFill>
                          <a:latin typeface="Calibri"/>
                          <a:ea typeface="Apple SD Gothic Neo"/>
                          <a:cs typeface="Calibri"/>
                        </a:rPr>
                        <a:t>49</a:t>
                      </a:r>
                    </a:p>
                  </a:txBody>
                  <a:tcPr marL="45720" marR="45720" anchor="ctr">
                    <a:solidFill>
                      <a:srgbClr val="FFFFFF"/>
                    </a:solidFill>
                  </a:tcPr>
                </a:tc>
                <a:tc>
                  <a:txBody>
                    <a:bodyPr/>
                    <a:lstStyle/>
                    <a:p>
                      <a:pPr algn="ctr"/>
                      <a:r>
                        <a:rPr sz="1600" b="1" i="0">
                          <a:solidFill>
                            <a:srgbClr val="1B2A33"/>
                          </a:solidFill>
                          <a:latin typeface="Calibri"/>
                          <a:ea typeface="Apple SD Gothic Neo"/>
                          <a:cs typeface="Calibri"/>
                        </a:rPr>
                        <a:t>3</a:t>
                      </a:r>
                    </a:p>
                  </a:txBody>
                  <a:tcPr marL="45720" marR="45720" anchor="ctr">
                    <a:solidFill>
                      <a:srgbClr val="FFFFFF"/>
                    </a:solidFill>
                  </a:tcPr>
                </a:tc>
              </a:tr>
              <a:tr h="457200">
                <a:tc>
                  <a:txBody>
                    <a:bodyPr/>
                    <a:lstStyle/>
                    <a:p>
                      <a:pPr algn="ctr"/>
                      <a:r>
                        <a:rPr sz="1100" b="1" i="0">
                          <a:solidFill>
                            <a:srgbClr val="FFFFFF"/>
                          </a:solidFill>
                          <a:latin typeface="Calibri"/>
                          <a:ea typeface="Apple SD Gothic Neo"/>
                          <a:cs typeface="Calibri"/>
                        </a:rPr>
                        <a:t>True: stress</a:t>
                      </a:r>
                    </a:p>
                  </a:txBody>
                  <a:tcPr marL="45720" marR="45720" anchor="ctr">
                    <a:solidFill>
                      <a:srgbClr val="1B2A33"/>
                    </a:solidFill>
                  </a:tcPr>
                </a:tc>
                <a:tc>
                  <a:txBody>
                    <a:bodyPr/>
                    <a:lstStyle/>
                    <a:p>
                      <a:pPr algn="ctr"/>
                      <a:r>
                        <a:rPr sz="1600" b="1" i="0">
                          <a:solidFill>
                            <a:srgbClr val="1B2A33"/>
                          </a:solidFill>
                          <a:latin typeface="Calibri"/>
                          <a:ea typeface="Apple SD Gothic Neo"/>
                          <a:cs typeface="Calibri"/>
                        </a:rPr>
                        <a:t>14</a:t>
                      </a:r>
                    </a:p>
                  </a:txBody>
                  <a:tcPr marL="45720" marR="45720" anchor="ctr">
                    <a:solidFill>
                      <a:srgbClr val="FFFFFF"/>
                    </a:solidFill>
                  </a:tcPr>
                </a:tc>
                <a:tc>
                  <a:txBody>
                    <a:bodyPr/>
                    <a:lstStyle/>
                    <a:p>
                      <a:pPr algn="ctr"/>
                      <a:r>
                        <a:rPr sz="1600" b="1" i="0">
                          <a:solidFill>
                            <a:srgbClr val="1B2A33"/>
                          </a:solidFill>
                          <a:latin typeface="Calibri"/>
                          <a:ea typeface="Apple SD Gothic Neo"/>
                          <a:cs typeface="Calibri"/>
                        </a:rPr>
                        <a:t>34</a:t>
                      </a:r>
                    </a:p>
                  </a:txBody>
                  <a:tcPr marL="45720" marR="45720" anchor="ctr">
                    <a:solidFill>
                      <a:srgbClr val="FFFFFF"/>
                    </a:solidFill>
                  </a:tcPr>
                </a:tc>
              </a:tr>
            </a:tbl>
          </a:graphicData>
        </a:graphic>
      </p:graphicFrame>
      <p:sp>
        <p:nvSpPr>
          <p:cNvPr id="15" name="TextBox 14"/>
          <p:cNvSpPr txBox="1"/>
          <p:nvPr/>
        </p:nvSpPr>
        <p:spPr>
          <a:xfrm>
            <a:off x="8275319" y="3703320"/>
            <a:ext cx="3108960" cy="1005840"/>
          </a:xfrm>
          <a:prstGeom prst="rect">
            <a:avLst/>
          </a:prstGeom>
          <a:noFill/>
        </p:spPr>
        <p:txBody>
          <a:bodyPr wrap="square" anchor="t" lIns="0" rIns="0" tIns="0" bIns="0">
            <a:spAutoFit/>
          </a:bodyPr>
          <a:lstStyle/>
          <a:p>
            <a:pPr algn="l">
              <a:spcAft>
                <a:spcPts val="400"/>
              </a:spcAft>
            </a:pPr>
            <a:r>
              <a:rPr sz="1150" b="1" i="0">
                <a:solidFill>
                  <a:srgbClr val="1B2A33"/>
                </a:solidFill>
                <a:latin typeface="Calibri"/>
                <a:ea typeface="Apple SD Gothic Neo"/>
                <a:cs typeface="Calibri"/>
              </a:rPr>
              <a:t>Accuracy 83% · recall 71% · specificity 94%</a:t>
            </a:r>
          </a:p>
          <a:p>
            <a:pPr algn="l">
              <a:spcAft>
                <a:spcPts val="400"/>
              </a:spcAft>
            </a:pPr>
            <a:r>
              <a:rPr sz="1150" b="0" i="0">
                <a:solidFill>
                  <a:srgbClr val="1B2A33"/>
                </a:solidFill>
                <a:latin typeface="Calibri"/>
                <a:ea typeface="Apple SD Gothic Neo"/>
                <a:cs typeface="Calibri"/>
              </a:rPr>
              <a:t>Grounding 84% (factual support 1.87/2, evidence relevance 1.83/2)</a:t>
            </a:r>
          </a:p>
        </p:txBody>
      </p:sp>
      <p:sp>
        <p:nvSpPr>
          <p:cNvPr id="16" name="Rounded Rectangle 15"/>
          <p:cNvSpPr/>
          <p:nvPr/>
        </p:nvSpPr>
        <p:spPr>
          <a:xfrm>
            <a:off x="548640" y="4983480"/>
            <a:ext cx="11109960" cy="1234440"/>
          </a:xfrm>
          <a:prstGeom prst="roundRect">
            <a:avLst>
              <a:gd name="adj" fmla="val 5925"/>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111496"/>
            <a:ext cx="1070762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18" name="TextBox 17"/>
          <p:cNvSpPr txBox="1"/>
          <p:nvPr/>
        </p:nvSpPr>
        <p:spPr>
          <a:xfrm>
            <a:off x="749808" y="5440680"/>
            <a:ext cx="10707624" cy="685800"/>
          </a:xfrm>
          <a:prstGeom prst="rect">
            <a:avLst/>
          </a:prstGeom>
          <a:noFill/>
        </p:spPr>
        <p:txBody>
          <a:bodyPr wrap="square" anchor="t" lIns="0" rIns="0" tIns="0" bIns="0">
            <a:spAutoFit/>
          </a:bodyPr>
          <a:lstStyle/>
          <a:p>
            <a:pPr algn="l"/>
            <a:r>
              <a:rPr sz="1250" b="0" i="0">
                <a:solidFill>
                  <a:srgbClr val="1B2A33"/>
                </a:solidFill>
                <a:latin typeface="Calibri"/>
                <a:ea typeface="Apple SD Gothic Neo"/>
                <a:cs typeface="Calibri"/>
              </a:rPr>
              <a:t>The seed-43 playbook learned to avoid calling stress: false positives dropped to zero, but 22 stressed posts were missed. Accuracy still looks fine at 78%, yet grounding collapsed to 54% (factual support and evidence relevance fell). When labeling tips to one side, the quality of explanations and quotes falls with it; the three-seed mean (76 ± 19) hides this.</a:t>
            </a:r>
          </a:p>
        </p:txBody>
      </p:sp>
      <p:sp>
        <p:nvSpPr>
          <p:cNvPr id="19" name="TextBox 18"/>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Cell values are numbers of posts. True “no” = 52 posts, true “stress” = 48 posts.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Result 5 · Grounding and accuracy move independently</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Horizontal = accuracy, vertical = Conformability (grounding), means over three seeds</a:t>
            </a:r>
          </a:p>
        </p:txBody>
      </p:sp>
      <p:graphicFrame>
        <p:nvGraphicFramePr>
          <p:cNvPr id="4" name="Chart 3"/>
          <p:cNvGraphicFramePr>
            <a:graphicFrameLocks noGrp="1"/>
          </p:cNvGraphicFramePr>
          <p:nvPr/>
        </p:nvGraphicFramePr>
        <p:xfrm>
          <a:off x="457200" y="1463040"/>
          <a:ext cx="7406640" cy="4754880"/>
        </p:xfrm>
        <a:graphic>
          <a:graphicData uri="http://schemas.openxmlformats.org/drawingml/2006/chart">
            <c:chart xmlns:c="http://schemas.openxmlformats.org/drawingml/2006/chart" r:id="rId2"/>
          </a:graphicData>
        </a:graphic>
      </p:graphicFrame>
      <p:sp>
        <p:nvSpPr>
          <p:cNvPr id="5" name="Rounded Rectangle 4"/>
          <p:cNvSpPr/>
          <p:nvPr/>
        </p:nvSpPr>
        <p:spPr>
          <a:xfrm>
            <a:off x="8183879" y="1554480"/>
            <a:ext cx="3474720" cy="4663440"/>
          </a:xfrm>
          <a:prstGeom prst="roundRect">
            <a:avLst>
              <a:gd name="adj" fmla="val 2105"/>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5048" y="1682495"/>
            <a:ext cx="307238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7" name="TextBox 6"/>
          <p:cNvSpPr txBox="1"/>
          <p:nvPr/>
        </p:nvSpPr>
        <p:spPr>
          <a:xfrm>
            <a:off x="8385048" y="2011680"/>
            <a:ext cx="3072384" cy="411480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Up and to the right is better, but the two axes do not rise together.</a:t>
            </a:r>
          </a:p>
          <a:p>
            <a:pPr algn="l"/>
            <a:r>
              <a:rPr sz="600" b="0" i="0">
                <a:solidFill>
                  <a:srgbClr val="1B2A33"/>
                </a:solidFill>
                <a:latin typeface="Calibri"/>
                <a:ea typeface="Apple SD Gothic Neo"/>
                <a:cs typeface="Calibri"/>
              </a:rPr>
              <a:t/>
            </a:r>
          </a:p>
          <a:p>
            <a:pPr algn="l"/>
            <a:r>
              <a:rPr sz="1200" b="0" i="0">
                <a:solidFill>
                  <a:srgbClr val="1B2A33"/>
                </a:solidFill>
                <a:latin typeface="Calibri"/>
                <a:ea typeface="Apple SD Gothic Neo"/>
                <a:cs typeface="Calibri"/>
              </a:rPr>
              <a:t>MIPROv2: best grounding (97.7%), middle accuracy (70.0%).</a:t>
            </a:r>
          </a:p>
          <a:p>
            <a:pPr algn="l"/>
            <a:r>
              <a:rPr sz="1200" b="0" i="0">
                <a:solidFill>
                  <a:srgbClr val="1B2A33"/>
                </a:solidFill>
                <a:latin typeface="Calibri"/>
                <a:ea typeface="Apple SD Gothic Neo"/>
                <a:cs typeface="Calibri"/>
              </a:rPr>
              <a:t>Offline ACE with GT: high accuracy (79.7%), lowest grounding (76%, driven by seed 43).</a:t>
            </a:r>
          </a:p>
          <a:p>
            <a:pPr algn="l"/>
            <a:r>
              <a:rPr sz="1200" b="0" i="0">
                <a:solidFill>
                  <a:srgbClr val="1B2A33"/>
                </a:solidFill>
                <a:latin typeface="Calibri"/>
                <a:ea typeface="Apple SD Gothic Neo"/>
                <a:cs typeface="Calibri"/>
              </a:rPr>
              <a:t>GEPA: high on both (78.3%, 92.3%).</a:t>
            </a:r>
          </a:p>
          <a:p>
            <a:pPr algn="l"/>
            <a:r>
              <a:rPr sz="600" b="0" i="0">
                <a:solidFill>
                  <a:srgbClr val="1B2A33"/>
                </a:solidFill>
                <a:latin typeface="Calibri"/>
                <a:ea typeface="Apple SD Gothic Neo"/>
                <a:cs typeface="Calibri"/>
              </a:rPr>
              <a:t/>
            </a:r>
          </a:p>
          <a:p>
            <a:pPr algn="l"/>
            <a:r>
              <a:rPr sz="1200" b="0" i="0">
                <a:solidFill>
                  <a:srgbClr val="1B2A33"/>
                </a:solidFill>
                <a:latin typeface="Calibri"/>
                <a:ea typeface="Apple SD Gothic Neo"/>
                <a:cs typeface="Calibri"/>
              </a:rPr>
              <a:t>Grounding differences come only from factual support and evidence relevance; attribution and no-unsupported-claims are at the maximum in nearly every run.</a:t>
            </a:r>
          </a:p>
          <a:p>
            <a:pPr algn="l"/>
            <a:r>
              <a:rPr sz="600" b="0" i="0">
                <a:solidFill>
                  <a:srgbClr val="1B2A33"/>
                </a:solidFill>
                <a:latin typeface="Calibri"/>
                <a:ea typeface="Apple SD Gothic Neo"/>
                <a:cs typeface="Calibri"/>
              </a:rPr>
              <a:t/>
            </a:r>
          </a:p>
          <a:p>
            <a:pPr algn="l"/>
            <a:r>
              <a:rPr sz="1200" b="1" i="0">
                <a:solidFill>
                  <a:srgbClr val="1B2A33"/>
                </a:solidFill>
                <a:latin typeface="Calibri"/>
                <a:ea typeface="Apple SD Gothic Neo"/>
                <a:cs typeface="Calibri"/>
              </a:rPr>
              <a:t>→ Report both accuracy and grounding.</a:t>
            </a:r>
          </a:p>
        </p:txBody>
      </p:sp>
      <p:sp>
        <p:nvSpPr>
          <p:cNvPr id="8" name="TextBox 7"/>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Conformability is scored by the same Qwen3-8B (provisional, no human calibration). The judge sees neither the method nor the true label.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How to read an ACE playbook: what accumulated (seed 42)</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A playbook is a list of strategy bullets the model writes and edits itself; each bullet carries helpful/harmful votes</a:t>
            </a:r>
          </a:p>
        </p:txBody>
      </p:sp>
      <p:sp>
        <p:nvSpPr>
          <p:cNvPr id="4" name="Rounded Rectangle 3"/>
          <p:cNvSpPr/>
          <p:nvPr/>
        </p:nvSpPr>
        <p:spPr>
          <a:xfrm>
            <a:off x="548640" y="1554480"/>
            <a:ext cx="2606040" cy="1463040"/>
          </a:xfrm>
          <a:prstGeom prst="roundRect">
            <a:avLst>
              <a:gd name="adj" fmla="val 5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64208"/>
            <a:ext cx="2194560" cy="274320"/>
          </a:xfrm>
          <a:prstGeom prst="rect">
            <a:avLst/>
          </a:prstGeom>
          <a:noFill/>
        </p:spPr>
        <p:txBody>
          <a:bodyPr wrap="square" anchor="t" lIns="0" rIns="0" tIns="0" bIns="0">
            <a:spAutoFit/>
          </a:bodyPr>
          <a:lstStyle/>
          <a:p>
            <a:pPr algn="l"/>
            <a:r>
              <a:rPr sz="1100" b="1" i="0">
                <a:solidFill>
                  <a:srgbClr val="5C6B73"/>
                </a:solidFill>
                <a:latin typeface="Calibri"/>
                <a:ea typeface="Apple SD Gothic Neo"/>
                <a:cs typeface="Calibri"/>
              </a:rPr>
              <a:t>OFFLINE · GT ✓</a:t>
            </a:r>
          </a:p>
        </p:txBody>
      </p:sp>
      <p:sp>
        <p:nvSpPr>
          <p:cNvPr id="6" name="TextBox 5"/>
          <p:cNvSpPr txBox="1"/>
          <p:nvPr/>
        </p:nvSpPr>
        <p:spPr>
          <a:xfrm>
            <a:off x="749808" y="1920240"/>
            <a:ext cx="2286000" cy="594360"/>
          </a:xfrm>
          <a:prstGeom prst="rect">
            <a:avLst/>
          </a:prstGeom>
          <a:noFill/>
        </p:spPr>
        <p:txBody>
          <a:bodyPr wrap="square" anchor="ctr" lIns="0" rIns="0" tIns="0" bIns="0">
            <a:spAutoFit/>
          </a:bodyPr>
          <a:lstStyle/>
          <a:p>
            <a:pPr algn="l"/>
            <a:r>
              <a:rPr sz="3600" b="1" i="0">
                <a:solidFill>
                  <a:srgbClr val="1B2A33"/>
                </a:solidFill>
                <a:latin typeface="Cambria"/>
                <a:ea typeface="Apple SD Gothic Neo"/>
                <a:cs typeface="Cambria"/>
              </a:rPr>
              <a:t>36</a:t>
            </a:r>
            <a:r>
              <a:rPr sz="1300" b="0" i="0">
                <a:solidFill>
                  <a:srgbClr val="5C6B73"/>
                </a:solidFill>
                <a:latin typeface="Calibri"/>
                <a:ea typeface="Apple SD Gothic Neo"/>
                <a:cs typeface="Calibri"/>
              </a:rPr>
              <a:t>  bullets</a:t>
            </a:r>
          </a:p>
        </p:txBody>
      </p:sp>
      <p:sp>
        <p:nvSpPr>
          <p:cNvPr id="7" name="TextBox 6"/>
          <p:cNvSpPr txBox="1"/>
          <p:nvPr/>
        </p:nvSpPr>
        <p:spPr>
          <a:xfrm>
            <a:off x="749808" y="2606040"/>
            <a:ext cx="2286000" cy="274320"/>
          </a:xfrm>
          <a:prstGeom prst="rect">
            <a:avLst/>
          </a:prstGeom>
          <a:noFill/>
        </p:spPr>
        <p:txBody>
          <a:bodyPr wrap="square" anchor="t" lIns="0" rIns="0" tIns="0" bIns="0">
            <a:spAutoFit/>
          </a:bodyPr>
          <a:lstStyle/>
          <a:p>
            <a:pPr algn="l"/>
            <a:r>
              <a:rPr sz="1100" b="0" i="0">
                <a:solidFill>
                  <a:srgbClr val="5C6B73"/>
                </a:solidFill>
                <a:latin typeface="Calibri"/>
                <a:ea typeface="Apple SD Gothic Neo"/>
                <a:cs typeface="Calibri"/>
              </a:rPr>
              <a:t>65 helpful votes · 1 flagged harmful</a:t>
            </a:r>
          </a:p>
        </p:txBody>
      </p:sp>
      <p:sp>
        <p:nvSpPr>
          <p:cNvPr id="8" name="Rounded Rectangle 7"/>
          <p:cNvSpPr/>
          <p:nvPr/>
        </p:nvSpPr>
        <p:spPr>
          <a:xfrm>
            <a:off x="3383280" y="1554480"/>
            <a:ext cx="2606040" cy="1463040"/>
          </a:xfrm>
          <a:prstGeom prst="roundRect">
            <a:avLst>
              <a:gd name="adj" fmla="val 5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84448" y="1664208"/>
            <a:ext cx="2194560" cy="274320"/>
          </a:xfrm>
          <a:prstGeom prst="rect">
            <a:avLst/>
          </a:prstGeom>
          <a:noFill/>
        </p:spPr>
        <p:txBody>
          <a:bodyPr wrap="square" anchor="t" lIns="0" rIns="0" tIns="0" bIns="0">
            <a:spAutoFit/>
          </a:bodyPr>
          <a:lstStyle/>
          <a:p>
            <a:pPr algn="l"/>
            <a:r>
              <a:rPr sz="1100" b="1" i="0">
                <a:solidFill>
                  <a:srgbClr val="5C6B73"/>
                </a:solidFill>
                <a:latin typeface="Calibri"/>
                <a:ea typeface="Apple SD Gothic Neo"/>
                <a:cs typeface="Calibri"/>
              </a:rPr>
              <a:t>OFFLINE · GT ✗</a:t>
            </a:r>
          </a:p>
        </p:txBody>
      </p:sp>
      <p:sp>
        <p:nvSpPr>
          <p:cNvPr id="10" name="TextBox 9"/>
          <p:cNvSpPr txBox="1"/>
          <p:nvPr/>
        </p:nvSpPr>
        <p:spPr>
          <a:xfrm>
            <a:off x="3584448" y="1920240"/>
            <a:ext cx="2286000" cy="594360"/>
          </a:xfrm>
          <a:prstGeom prst="rect">
            <a:avLst/>
          </a:prstGeom>
          <a:noFill/>
        </p:spPr>
        <p:txBody>
          <a:bodyPr wrap="square" anchor="ctr" lIns="0" rIns="0" tIns="0" bIns="0">
            <a:spAutoFit/>
          </a:bodyPr>
          <a:lstStyle/>
          <a:p>
            <a:pPr algn="l"/>
            <a:r>
              <a:rPr sz="3600" b="1" i="0">
                <a:solidFill>
                  <a:srgbClr val="1B2A33"/>
                </a:solidFill>
                <a:latin typeface="Cambria"/>
                <a:ea typeface="Apple SD Gothic Neo"/>
                <a:cs typeface="Cambria"/>
              </a:rPr>
              <a:t>63</a:t>
            </a:r>
            <a:r>
              <a:rPr sz="1300" b="0" i="0">
                <a:solidFill>
                  <a:srgbClr val="5C6B73"/>
                </a:solidFill>
                <a:latin typeface="Calibri"/>
                <a:ea typeface="Apple SD Gothic Neo"/>
                <a:cs typeface="Calibri"/>
              </a:rPr>
              <a:t>  bullets</a:t>
            </a:r>
          </a:p>
        </p:txBody>
      </p:sp>
      <p:sp>
        <p:nvSpPr>
          <p:cNvPr id="11" name="TextBox 10"/>
          <p:cNvSpPr txBox="1"/>
          <p:nvPr/>
        </p:nvSpPr>
        <p:spPr>
          <a:xfrm>
            <a:off x="3584448" y="2606040"/>
            <a:ext cx="2286000" cy="274320"/>
          </a:xfrm>
          <a:prstGeom prst="rect">
            <a:avLst/>
          </a:prstGeom>
          <a:noFill/>
        </p:spPr>
        <p:txBody>
          <a:bodyPr wrap="square" anchor="t" lIns="0" rIns="0" tIns="0" bIns="0">
            <a:spAutoFit/>
          </a:bodyPr>
          <a:lstStyle/>
          <a:p>
            <a:pPr algn="l"/>
            <a:r>
              <a:rPr sz="1100" b="0" i="0">
                <a:solidFill>
                  <a:srgbClr val="5C6B73"/>
                </a:solidFill>
                <a:latin typeface="Calibri"/>
                <a:ea typeface="Apple SD Gothic Neo"/>
                <a:cs typeface="Calibri"/>
              </a:rPr>
              <a:t>107 helpful votes · 2 flagged harmful</a:t>
            </a:r>
          </a:p>
        </p:txBody>
      </p:sp>
      <p:sp>
        <p:nvSpPr>
          <p:cNvPr id="12" name="Rounded Rectangle 11"/>
          <p:cNvSpPr/>
          <p:nvPr/>
        </p:nvSpPr>
        <p:spPr>
          <a:xfrm>
            <a:off x="6217920" y="1554480"/>
            <a:ext cx="2606040" cy="1463040"/>
          </a:xfrm>
          <a:prstGeom prst="roundRect">
            <a:avLst>
              <a:gd name="adj" fmla="val 5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664208"/>
            <a:ext cx="2194560" cy="274320"/>
          </a:xfrm>
          <a:prstGeom prst="rect">
            <a:avLst/>
          </a:prstGeom>
          <a:noFill/>
        </p:spPr>
        <p:txBody>
          <a:bodyPr wrap="square" anchor="t" lIns="0" rIns="0" tIns="0" bIns="0">
            <a:spAutoFit/>
          </a:bodyPr>
          <a:lstStyle/>
          <a:p>
            <a:pPr algn="l"/>
            <a:r>
              <a:rPr sz="1100" b="1" i="0">
                <a:solidFill>
                  <a:srgbClr val="5C6B73"/>
                </a:solidFill>
                <a:latin typeface="Calibri"/>
                <a:ea typeface="Apple SD Gothic Neo"/>
                <a:cs typeface="Calibri"/>
              </a:rPr>
              <a:t>ONLINE · GT ✓</a:t>
            </a:r>
          </a:p>
        </p:txBody>
      </p:sp>
      <p:sp>
        <p:nvSpPr>
          <p:cNvPr id="14" name="TextBox 13"/>
          <p:cNvSpPr txBox="1"/>
          <p:nvPr/>
        </p:nvSpPr>
        <p:spPr>
          <a:xfrm>
            <a:off x="6419088" y="1920240"/>
            <a:ext cx="2286000" cy="594360"/>
          </a:xfrm>
          <a:prstGeom prst="rect">
            <a:avLst/>
          </a:prstGeom>
          <a:noFill/>
        </p:spPr>
        <p:txBody>
          <a:bodyPr wrap="square" anchor="ctr" lIns="0" rIns="0" tIns="0" bIns="0">
            <a:spAutoFit/>
          </a:bodyPr>
          <a:lstStyle/>
          <a:p>
            <a:pPr algn="l"/>
            <a:r>
              <a:rPr sz="3600" b="1" i="0">
                <a:solidFill>
                  <a:srgbClr val="1B2A33"/>
                </a:solidFill>
                <a:latin typeface="Cambria"/>
                <a:ea typeface="Apple SD Gothic Neo"/>
                <a:cs typeface="Cambria"/>
              </a:rPr>
              <a:t>51</a:t>
            </a:r>
            <a:r>
              <a:rPr sz="1300" b="0" i="0">
                <a:solidFill>
                  <a:srgbClr val="5C6B73"/>
                </a:solidFill>
                <a:latin typeface="Calibri"/>
                <a:ea typeface="Apple SD Gothic Neo"/>
                <a:cs typeface="Calibri"/>
              </a:rPr>
              <a:t>  bullets</a:t>
            </a:r>
          </a:p>
        </p:txBody>
      </p:sp>
      <p:sp>
        <p:nvSpPr>
          <p:cNvPr id="15" name="TextBox 14"/>
          <p:cNvSpPr txBox="1"/>
          <p:nvPr/>
        </p:nvSpPr>
        <p:spPr>
          <a:xfrm>
            <a:off x="6419088" y="2606040"/>
            <a:ext cx="2286000" cy="274320"/>
          </a:xfrm>
          <a:prstGeom prst="rect">
            <a:avLst/>
          </a:prstGeom>
          <a:noFill/>
        </p:spPr>
        <p:txBody>
          <a:bodyPr wrap="square" anchor="t" lIns="0" rIns="0" tIns="0" bIns="0">
            <a:spAutoFit/>
          </a:bodyPr>
          <a:lstStyle/>
          <a:p>
            <a:pPr algn="l"/>
            <a:r>
              <a:rPr sz="1100" b="0" i="0">
                <a:solidFill>
                  <a:srgbClr val="5C6B73"/>
                </a:solidFill>
                <a:latin typeface="Calibri"/>
                <a:ea typeface="Apple SD Gothic Neo"/>
                <a:cs typeface="Calibri"/>
              </a:rPr>
              <a:t>68 helpful votes · 5 flagged harmful</a:t>
            </a:r>
          </a:p>
        </p:txBody>
      </p:sp>
      <p:sp>
        <p:nvSpPr>
          <p:cNvPr id="16" name="Rounded Rectangle 15"/>
          <p:cNvSpPr/>
          <p:nvPr/>
        </p:nvSpPr>
        <p:spPr>
          <a:xfrm>
            <a:off x="9052560" y="1554480"/>
            <a:ext cx="2606040" cy="1463040"/>
          </a:xfrm>
          <a:prstGeom prst="roundRect">
            <a:avLst>
              <a:gd name="adj" fmla="val 5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53728" y="1664208"/>
            <a:ext cx="2194560" cy="274320"/>
          </a:xfrm>
          <a:prstGeom prst="rect">
            <a:avLst/>
          </a:prstGeom>
          <a:noFill/>
        </p:spPr>
        <p:txBody>
          <a:bodyPr wrap="square" anchor="t" lIns="0" rIns="0" tIns="0" bIns="0">
            <a:spAutoFit/>
          </a:bodyPr>
          <a:lstStyle/>
          <a:p>
            <a:pPr algn="l"/>
            <a:r>
              <a:rPr sz="1100" b="1" i="0">
                <a:solidFill>
                  <a:srgbClr val="5C6B73"/>
                </a:solidFill>
                <a:latin typeface="Calibri"/>
                <a:ea typeface="Apple SD Gothic Neo"/>
                <a:cs typeface="Calibri"/>
              </a:rPr>
              <a:t>ONLINE · GT ✗</a:t>
            </a:r>
          </a:p>
        </p:txBody>
      </p:sp>
      <p:sp>
        <p:nvSpPr>
          <p:cNvPr id="18" name="TextBox 17"/>
          <p:cNvSpPr txBox="1"/>
          <p:nvPr/>
        </p:nvSpPr>
        <p:spPr>
          <a:xfrm>
            <a:off x="9253728" y="1920240"/>
            <a:ext cx="2286000" cy="594360"/>
          </a:xfrm>
          <a:prstGeom prst="rect">
            <a:avLst/>
          </a:prstGeom>
          <a:noFill/>
        </p:spPr>
        <p:txBody>
          <a:bodyPr wrap="square" anchor="ctr" lIns="0" rIns="0" tIns="0" bIns="0">
            <a:spAutoFit/>
          </a:bodyPr>
          <a:lstStyle/>
          <a:p>
            <a:pPr algn="l"/>
            <a:r>
              <a:rPr sz="3600" b="1" i="0">
                <a:solidFill>
                  <a:srgbClr val="1B2A33"/>
                </a:solidFill>
                <a:latin typeface="Cambria"/>
                <a:ea typeface="Apple SD Gothic Neo"/>
                <a:cs typeface="Cambria"/>
              </a:rPr>
              <a:t>50</a:t>
            </a:r>
            <a:r>
              <a:rPr sz="1300" b="0" i="0">
                <a:solidFill>
                  <a:srgbClr val="5C6B73"/>
                </a:solidFill>
                <a:latin typeface="Calibri"/>
                <a:ea typeface="Apple SD Gothic Neo"/>
                <a:cs typeface="Calibri"/>
              </a:rPr>
              <a:t>  bullets</a:t>
            </a:r>
          </a:p>
        </p:txBody>
      </p:sp>
      <p:sp>
        <p:nvSpPr>
          <p:cNvPr id="19" name="TextBox 18"/>
          <p:cNvSpPr txBox="1"/>
          <p:nvPr/>
        </p:nvSpPr>
        <p:spPr>
          <a:xfrm>
            <a:off x="9253728" y="2606040"/>
            <a:ext cx="2286000" cy="274320"/>
          </a:xfrm>
          <a:prstGeom prst="rect">
            <a:avLst/>
          </a:prstGeom>
          <a:noFill/>
        </p:spPr>
        <p:txBody>
          <a:bodyPr wrap="square" anchor="t" lIns="0" rIns="0" tIns="0" bIns="0">
            <a:spAutoFit/>
          </a:bodyPr>
          <a:lstStyle/>
          <a:p>
            <a:pPr algn="l"/>
            <a:r>
              <a:rPr sz="1100" b="0" i="0">
                <a:solidFill>
                  <a:srgbClr val="5C6B73"/>
                </a:solidFill>
                <a:latin typeface="Calibri"/>
                <a:ea typeface="Apple SD Gothic Neo"/>
                <a:cs typeface="Calibri"/>
              </a:rPr>
              <a:t>84 helpful votes · 0 flagged harmful</a:t>
            </a:r>
          </a:p>
        </p:txBody>
      </p:sp>
      <p:sp>
        <p:nvSpPr>
          <p:cNvPr id="20" name="Rounded Rectangle 19"/>
          <p:cNvSpPr/>
          <p:nvPr/>
        </p:nvSpPr>
        <p:spPr>
          <a:xfrm>
            <a:off x="548640" y="3246120"/>
            <a:ext cx="5440680" cy="2926080"/>
          </a:xfrm>
          <a:prstGeom prst="roundRect">
            <a:avLst>
              <a:gd name="adj" fmla="val 25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401568"/>
            <a:ext cx="493776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Anatomy of one bullet</a:t>
            </a:r>
          </a:p>
        </p:txBody>
      </p:sp>
      <p:sp>
        <p:nvSpPr>
          <p:cNvPr id="22" name="TextBox 21"/>
          <p:cNvSpPr txBox="1"/>
          <p:nvPr/>
        </p:nvSpPr>
        <p:spPr>
          <a:xfrm>
            <a:off x="822960" y="3840480"/>
            <a:ext cx="4937760" cy="320040"/>
          </a:xfrm>
          <a:prstGeom prst="rect">
            <a:avLst/>
          </a:prstGeom>
          <a:noFill/>
        </p:spPr>
        <p:txBody>
          <a:bodyPr wrap="square" anchor="t" lIns="0" rIns="0" tIns="0" bIns="0">
            <a:spAutoFit/>
          </a:bodyPr>
          <a:lstStyle/>
          <a:p>
            <a:pPr algn="l"/>
            <a:r>
              <a:rPr sz="1200" b="0" i="0">
                <a:solidFill>
                  <a:srgbClr val="1B2A33"/>
                </a:solidFill>
                <a:latin typeface="Courier New"/>
                <a:ea typeface="Apple SD Gothic Neo"/>
                <a:cs typeface="Courier New"/>
              </a:rPr>
              <a:t>[calc-00001] helpful=26 harmful=0 :: Stress Level = …</a:t>
            </a:r>
          </a:p>
        </p:txBody>
      </p:sp>
      <p:sp>
        <p:nvSpPr>
          <p:cNvPr id="23" name="TextBox 22"/>
          <p:cNvSpPr txBox="1"/>
          <p:nvPr/>
        </p:nvSpPr>
        <p:spPr>
          <a:xfrm>
            <a:off x="822960" y="4251960"/>
            <a:ext cx="4937760" cy="1828800"/>
          </a:xfrm>
          <a:prstGeom prst="rect">
            <a:avLst/>
          </a:prstGeom>
          <a:noFill/>
        </p:spPr>
        <p:txBody>
          <a:bodyPr wrap="square" anchor="t" lIns="0" rIns="0" tIns="0" bIns="0">
            <a:spAutoFit/>
          </a:bodyPr>
          <a:lstStyle/>
          <a:p>
            <a:pPr algn="l">
              <a:spcAft>
                <a:spcPts val="500"/>
              </a:spcAft>
            </a:pPr>
            <a:r>
              <a:rPr sz="1200" b="1" i="0">
                <a:solidFill>
                  <a:srgbClr val="1B2A33"/>
                </a:solidFill>
                <a:latin typeface="Calibri"/>
                <a:ea typeface="Apple SD Gothic Neo"/>
                <a:cs typeface="Calibri"/>
              </a:rPr>
              <a:t>ID</a:t>
            </a:r>
            <a:r>
              <a:rPr sz="1200" b="0" i="0">
                <a:solidFill>
                  <a:srgbClr val="1B2A33"/>
                </a:solidFill>
                <a:latin typeface="Calibri"/>
                <a:ea typeface="Apple SD Gothic Neo"/>
                <a:cs typeface="Calibri"/>
              </a:rPr>
              <a:t> — section code (calc = FORMULAS &amp; CALCULATIONS) plus a number. IDs never change.</a:t>
            </a:r>
          </a:p>
          <a:p>
            <a:pPr algn="l">
              <a:spcAft>
                <a:spcPts val="500"/>
              </a:spcAft>
            </a:pPr>
            <a:r>
              <a:rPr sz="1200" b="1" i="0">
                <a:solidFill>
                  <a:srgbClr val="1B2A33"/>
                </a:solidFill>
                <a:latin typeface="Calibri"/>
                <a:ea typeface="Apple SD Gothic Neo"/>
                <a:cs typeface="Calibri"/>
              </a:rPr>
              <a:t>helpful / harmful</a:t>
            </a:r>
            <a:r>
              <a:rPr sz="1200" b="0" i="0">
                <a:solidFill>
                  <a:srgbClr val="1B2A33"/>
                </a:solidFill>
                <a:latin typeface="Calibri"/>
                <a:ea typeface="Apple SD Gothic Neo"/>
                <a:cs typeface="Calibri"/>
              </a:rPr>
              <a:t> — +1 each time the Reflector judges the bullet helpful or harmful on an item.</a:t>
            </a:r>
          </a:p>
          <a:p>
            <a:pPr algn="l">
              <a:spcAft>
                <a:spcPts val="500"/>
              </a:spcAft>
            </a:pPr>
            <a:r>
              <a:rPr sz="1200" b="1" i="0">
                <a:solidFill>
                  <a:srgbClr val="1B2A33"/>
                </a:solidFill>
                <a:latin typeface="Calibri"/>
                <a:ea typeface="Apple SD Gothic Neo"/>
                <a:cs typeface="Calibri"/>
              </a:rPr>
              <a:t>Content</a:t>
            </a:r>
            <a:r>
              <a:rPr sz="1200" b="0" i="0">
                <a:solidFill>
                  <a:srgbClr val="1B2A33"/>
                </a:solidFill>
                <a:latin typeface="Calibri"/>
                <a:ea typeface="Apple SD Gothic Neo"/>
                <a:cs typeface="Calibri"/>
              </a:rPr>
              <a:t> — a strategy added by the Curator. Existing bullets are never deleted (ADD only).</a:t>
            </a:r>
          </a:p>
        </p:txBody>
      </p:sp>
      <p:sp>
        <p:nvSpPr>
          <p:cNvPr id="24" name="Rounded Rectangle 23"/>
          <p:cNvSpPr/>
          <p:nvPr/>
        </p:nvSpPr>
        <p:spPr>
          <a:xfrm>
            <a:off x="6355080" y="3246120"/>
            <a:ext cx="5303520" cy="2926080"/>
          </a:xfrm>
          <a:prstGeom prst="roundRect">
            <a:avLst>
              <a:gd name="adj" fmla="val 2500"/>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56248" y="3374136"/>
            <a:ext cx="4901183"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26" name="TextBox 25"/>
          <p:cNvSpPr txBox="1"/>
          <p:nvPr/>
        </p:nvSpPr>
        <p:spPr>
          <a:xfrm>
            <a:off x="6556248" y="3703320"/>
            <a:ext cx="4901183" cy="2377440"/>
          </a:xfrm>
          <a:prstGeom prst="rect">
            <a:avLst/>
          </a:prstGeom>
          <a:noFill/>
        </p:spPr>
        <p:txBody>
          <a:bodyPr wrap="square" anchor="t" lIns="0" rIns="0" tIns="0" bIns="0">
            <a:spAutoFit/>
          </a:bodyPr>
          <a:lstStyle/>
          <a:p>
            <a:pPr algn="l"/>
            <a:r>
              <a:rPr sz="1200" b="1" i="0">
                <a:solidFill>
                  <a:srgbClr val="1B2A33"/>
                </a:solidFill>
                <a:latin typeface="Calibri"/>
                <a:ea typeface="Apple SD Gothic Neo"/>
                <a:cs typeface="Calibri"/>
              </a:rPr>
              <a:t>198 of 200 bullets sit in one section, FORMULAS &amp; CALCULATIONS.</a:t>
            </a:r>
          </a:p>
          <a:p>
            <a:pPr algn="l"/>
            <a:r>
              <a:rPr sz="1200" b="0" i="0">
                <a:solidFill>
                  <a:srgbClr val="1B2A33"/>
                </a:solidFill>
                <a:latin typeface="Calibri"/>
                <a:ea typeface="Apple SD Gothic Neo"/>
                <a:cs typeface="Calibri"/>
              </a:rPr>
              <a:t>ACE’s default template comes from finance tasks, so its sections are named for formulas and calculations; Qwen wrote even its stress heuristics as “formulas”.</a:t>
            </a:r>
          </a:p>
          <a:p>
            <a:pPr algn="l"/>
            <a:r>
              <a:rPr sz="600" b="0" i="0">
                <a:solidFill>
                  <a:srgbClr val="1B2A33"/>
                </a:solidFill>
                <a:latin typeface="Calibri"/>
                <a:ea typeface="Apple SD Gothic Neo"/>
                <a:cs typeface="Calibri"/>
              </a:rPr>
              <a:t/>
            </a:r>
          </a:p>
          <a:p>
            <a:pPr algn="l"/>
            <a:r>
              <a:rPr sz="1200" b="1" i="0">
                <a:solidFill>
                  <a:srgbClr val="1B2A33"/>
                </a:solidFill>
                <a:latin typeface="Calibri"/>
                <a:ea typeface="Apple SD Gothic Neo"/>
                <a:cs typeface="Calibri"/>
              </a:rPr>
              <a:t>The same five-factor stress formula appears nine times (Offline GT ✓).</a:t>
            </a:r>
          </a:p>
          <a:p>
            <a:pPr algn="l"/>
            <a:r>
              <a:rPr sz="1200" b="0" i="0">
                <a:solidFill>
                  <a:srgbClr val="1B2A33"/>
                </a:solidFill>
                <a:latin typeface="Calibri"/>
                <a:ea typeface="Apple SD Gothic Neo"/>
                <a:cs typeface="Calibri"/>
              </a:rPr>
              <a:t>The “refine” half of ACE’s grow-and-refine (deduplication) is off in this configuration, so near-duplicates keep piling up.</a:t>
            </a:r>
          </a:p>
        </p:txBody>
      </p:sp>
      <p:sp>
        <p:nvSpPr>
          <p:cNvPr id="27" name="TextBox 26"/>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Offline playbooks are built from the 100 training posts and then frozen; online playbooks are the final state after updating through the 100 test posts.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Offline playbooks: with labels it learns rules, without labels it learns cues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Representative bullets (top helpful) from playbooks built on the 100 training posts, then frozen</a:t>
            </a:r>
          </a:p>
        </p:txBody>
      </p:sp>
      <p:sp>
        <p:nvSpPr>
          <p:cNvPr id="4" name="TextBox 3"/>
          <p:cNvSpPr txBox="1"/>
          <p:nvPr/>
        </p:nvSpPr>
        <p:spPr>
          <a:xfrm>
            <a:off x="548640" y="1463040"/>
            <a:ext cx="530352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GT ✓ · learns from labels  (accuracy 79.7%)</a:t>
            </a:r>
          </a:p>
        </p:txBody>
      </p:sp>
      <p:sp>
        <p:nvSpPr>
          <p:cNvPr id="5" name="Rounded Rectangle 4"/>
          <p:cNvSpPr/>
          <p:nvPr/>
        </p:nvSpPr>
        <p:spPr>
          <a:xfrm>
            <a:off x="548640" y="1920240"/>
            <a:ext cx="5303520" cy="1463040"/>
          </a:xfrm>
          <a:prstGeom prst="roundRect">
            <a:avLst>
              <a:gd name="adj" fmla="val 5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11680"/>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[calc-00001]</a:t>
            </a:r>
            <a:r>
              <a:rPr sz="1050" b="0" i="0">
                <a:solidFill>
                  <a:srgbClr val="5C6B73"/>
                </a:solidFill>
                <a:latin typeface="Calibri"/>
                <a:ea typeface="Apple SD Gothic Neo"/>
                <a:cs typeface="Calibri"/>
              </a:rPr>
              <a:t>   helpful 26 · harmful 0</a:t>
            </a:r>
          </a:p>
        </p:txBody>
      </p:sp>
      <p:sp>
        <p:nvSpPr>
          <p:cNvPr id="7" name="TextBox 6"/>
          <p:cNvSpPr txBox="1"/>
          <p:nvPr/>
        </p:nvSpPr>
        <p:spPr>
          <a:xfrm>
            <a:off x="731520" y="2304288"/>
            <a:ext cx="4937759" cy="100584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Stress Level Calculation: Stress Level = (Uncertainty Score + Seeking Advice Score + Decision Complexity Score) / 3. If the result is ≤ 1.5, classify as 0 (no stress); if ≥ 2.5, classify as 1 (stress).</a:t>
            </a:r>
          </a:p>
        </p:txBody>
      </p:sp>
      <p:sp>
        <p:nvSpPr>
          <p:cNvPr id="8" name="Rounded Rectangle 7"/>
          <p:cNvSpPr/>
          <p:nvPr/>
        </p:nvSpPr>
        <p:spPr>
          <a:xfrm>
            <a:off x="548640" y="3520440"/>
            <a:ext cx="5303520" cy="1463040"/>
          </a:xfrm>
          <a:prstGeom prst="roundRect">
            <a:avLst>
              <a:gd name="adj" fmla="val 5000"/>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11880"/>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[ctx-00002]</a:t>
            </a:r>
            <a:r>
              <a:rPr sz="1050" b="1" i="0">
                <a:solidFill>
                  <a:srgbClr val="D1495B"/>
                </a:solidFill>
                <a:latin typeface="Calibri"/>
                <a:ea typeface="Apple SD Gothic Neo"/>
                <a:cs typeface="Calibri"/>
              </a:rPr>
              <a:t>   helpful 8 · harmful 10  (flagged)</a:t>
            </a:r>
          </a:p>
        </p:txBody>
      </p:sp>
      <p:sp>
        <p:nvSpPr>
          <p:cNvPr id="10" name="TextBox 9"/>
          <p:cNvSpPr txBox="1"/>
          <p:nvPr/>
        </p:nvSpPr>
        <p:spPr>
          <a:xfrm>
            <a:off x="731520" y="3904488"/>
            <a:ext cx="4937759" cy="100584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Identify stress through emotional language and contextual cues, such as phrases like “…” or “…”, which indicate emotional distress and anxiety.</a:t>
            </a:r>
          </a:p>
        </p:txBody>
      </p:sp>
      <p:sp>
        <p:nvSpPr>
          <p:cNvPr id="11" name="TextBox 10"/>
          <p:cNvSpPr txBox="1"/>
          <p:nvPr/>
        </p:nvSpPr>
        <p:spPr>
          <a:xfrm>
            <a:off x="6355080" y="1463040"/>
            <a:ext cx="530352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GT ✗ · self-reflection only  (accuracy 76.0%)</a:t>
            </a:r>
          </a:p>
        </p:txBody>
      </p:sp>
      <p:sp>
        <p:nvSpPr>
          <p:cNvPr id="12" name="Rounded Rectangle 11"/>
          <p:cNvSpPr/>
          <p:nvPr/>
        </p:nvSpPr>
        <p:spPr>
          <a:xfrm>
            <a:off x="6355080" y="1920240"/>
            <a:ext cx="5303520" cy="1463040"/>
          </a:xfrm>
          <a:prstGeom prst="roundRect">
            <a:avLst>
              <a:gd name="adj" fmla="val 5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11680"/>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[calc-00001]</a:t>
            </a:r>
            <a:r>
              <a:rPr sz="1050" b="0" i="0">
                <a:solidFill>
                  <a:srgbClr val="5C6B73"/>
                </a:solidFill>
                <a:latin typeface="Calibri"/>
                <a:ea typeface="Apple SD Gothic Neo"/>
                <a:cs typeface="Calibri"/>
              </a:rPr>
              <a:t>   helpful 37 · harmful 0</a:t>
            </a:r>
          </a:p>
        </p:txBody>
      </p:sp>
      <p:sp>
        <p:nvSpPr>
          <p:cNvPr id="14" name="TextBox 13"/>
          <p:cNvSpPr txBox="1"/>
          <p:nvPr/>
        </p:nvSpPr>
        <p:spPr>
          <a:xfrm>
            <a:off x="6537960" y="2304288"/>
            <a:ext cx="4937759" cy="100584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Identify indirect signs of stress such as uncertainty, indecision, and seeking advice. These can be strong indicators of stress even if the author does not explicitly state it.</a:t>
            </a:r>
          </a:p>
        </p:txBody>
      </p:sp>
      <p:sp>
        <p:nvSpPr>
          <p:cNvPr id="15" name="Rounded Rectangle 14"/>
          <p:cNvSpPr/>
          <p:nvPr/>
        </p:nvSpPr>
        <p:spPr>
          <a:xfrm>
            <a:off x="6355080" y="3520440"/>
            <a:ext cx="5303520" cy="1463040"/>
          </a:xfrm>
          <a:prstGeom prst="roundRect">
            <a:avLst>
              <a:gd name="adj" fmla="val 5000"/>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611880"/>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[calc-00016]</a:t>
            </a:r>
            <a:r>
              <a:rPr sz="1050" b="0" i="0">
                <a:solidFill>
                  <a:srgbClr val="5C6B73"/>
                </a:solidFill>
                <a:latin typeface="Calibri"/>
                <a:ea typeface="Apple SD Gothic Neo"/>
                <a:cs typeface="Calibri"/>
              </a:rPr>
              <a:t>   helpful 20 · harmful 0</a:t>
            </a:r>
          </a:p>
        </p:txBody>
      </p:sp>
      <p:sp>
        <p:nvSpPr>
          <p:cNvPr id="17" name="TextBox 16"/>
          <p:cNvSpPr txBox="1"/>
          <p:nvPr/>
        </p:nvSpPr>
        <p:spPr>
          <a:xfrm>
            <a:off x="6537960" y="3904488"/>
            <a:ext cx="4937759" cy="100584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When the author explicitly expresses self-blame and self-hatred, prioritize these as the strongest indicators of stress, as they directly reflect emotional distress and align with the playbook's guidance to focus on the most …</a:t>
            </a:r>
          </a:p>
        </p:txBody>
      </p:sp>
      <p:sp>
        <p:nvSpPr>
          <p:cNvPr id="18" name="Rounded Rectangle 17"/>
          <p:cNvSpPr/>
          <p:nvPr/>
        </p:nvSpPr>
        <p:spPr>
          <a:xfrm>
            <a:off x="548640" y="5074920"/>
            <a:ext cx="11109960" cy="1188720"/>
          </a:xfrm>
          <a:prstGeom prst="roundRect">
            <a:avLst>
              <a:gd name="adj" fmla="val 6153"/>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202936"/>
            <a:ext cx="1070762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20" name="TextBox 19"/>
          <p:cNvSpPr txBox="1"/>
          <p:nvPr/>
        </p:nvSpPr>
        <p:spPr>
          <a:xfrm>
            <a:off x="749808" y="5532120"/>
            <a:ext cx="10707624" cy="64008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The GT ✓ playbook writes decision rules such as “add the scores; at or below 1.5 means no stress”, although the task never asked for a score. The GT ✗ playbook accumulates qualitative guidance such as “watch for indirect signs (uncertainty, seeking advice)”. Both beat Base, but the rule-based playbook can overshoot to one side, as seed 43 did.</a:t>
            </a:r>
          </a:p>
        </p:txBody>
      </p:sp>
      <p:sp>
        <p:nvSpPr>
          <p:cNvPr id="21" name="TextBox 20"/>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Seed 42 for every condition, fixed before viewing. Bullet text verbatim; multi-word post quotations replaced with “…”; long bullets truncated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Online playbooks: with labels, a “no stress” rule appears</a:t>
            </a:r>
          </a:p>
        </p:txBody>
      </p:sp>
      <p:sp>
        <p:nvSpPr>
          <p:cNvPr id="3" name="TextBox 2"/>
          <p:cNvSpPr txBox="1"/>
          <p:nvPr/>
        </p:nvSpPr>
        <p:spPr>
          <a:xfrm>
            <a:off x="548640" y="1005840"/>
            <a:ext cx="11094415" cy="365760"/>
          </a:xfrm>
          <a:prstGeom prst="rect">
            <a:avLst/>
          </a:prstGeom>
          <a:noFill/>
        </p:spPr>
        <p:txBody>
          <a:bodyPr wrap="square" anchor="t" lIns="0" rIns="0" tIns="0" bIns="0">
            <a:spAutoFit/>
          </a:bodyPr>
          <a:lstStyle/>
          <a:p>
            <a:pPr algn="l"/>
            <a:r>
              <a:rPr sz="1300" b="0" i="0">
                <a:solidFill>
                  <a:srgbClr val="5C6B73"/>
                </a:solidFill>
                <a:latin typeface="Calibri"/>
                <a:ea typeface="Apple SD Gothic Neo"/>
                <a:cs typeface="Calibri"/>
              </a:rPr>
              <a:t>Representative bullets from the final playbooks after updating through the 100 test posts</a:t>
            </a:r>
          </a:p>
        </p:txBody>
      </p:sp>
      <p:sp>
        <p:nvSpPr>
          <p:cNvPr id="4" name="TextBox 3"/>
          <p:cNvSpPr txBox="1"/>
          <p:nvPr/>
        </p:nvSpPr>
        <p:spPr>
          <a:xfrm>
            <a:off x="548640" y="1463040"/>
            <a:ext cx="530352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GT ✓ · label revealed after each prediction</a:t>
            </a:r>
            <a:r>
              <a:rPr sz="1200" b="0" i="0">
                <a:solidFill>
                  <a:srgbClr val="5C6B73"/>
                </a:solidFill>
                <a:latin typeface="Calibri"/>
                <a:ea typeface="Apple SD Gothic Neo"/>
                <a:cs typeface="Calibri"/>
              </a:rPr>
              <a:t>   specificity 76% · recall 84%</a:t>
            </a:r>
          </a:p>
        </p:txBody>
      </p:sp>
      <p:sp>
        <p:nvSpPr>
          <p:cNvPr id="5" name="Rounded Rectangle 4"/>
          <p:cNvSpPr/>
          <p:nvPr/>
        </p:nvSpPr>
        <p:spPr>
          <a:xfrm>
            <a:off x="548640" y="1874519"/>
            <a:ext cx="5303520" cy="969264"/>
          </a:xfrm>
          <a:prstGeom prst="roundRect">
            <a:avLst>
              <a:gd name="adj" fmla="val 7547"/>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[calc-00015]</a:t>
            </a:r>
            <a:r>
              <a:rPr sz="1050" b="1" i="0">
                <a:solidFill>
                  <a:srgbClr val="D1495B"/>
                </a:solidFill>
                <a:latin typeface="Calibri"/>
                <a:ea typeface="Apple SD Gothic Neo"/>
                <a:cs typeface="Calibri"/>
              </a:rPr>
              <a:t>   helpful 22 · harmful 3  (flagged)</a:t>
            </a:r>
          </a:p>
        </p:txBody>
      </p:sp>
      <p:sp>
        <p:nvSpPr>
          <p:cNvPr id="7" name="TextBox 6"/>
          <p:cNvSpPr txBox="1"/>
          <p:nvPr/>
        </p:nvSpPr>
        <p:spPr>
          <a:xfrm>
            <a:off x="731520" y="2258568"/>
            <a:ext cx="4937759" cy="512064"/>
          </a:xfrm>
          <a:prstGeom prst="rect">
            <a:avLst/>
          </a:prstGeom>
          <a:noFill/>
        </p:spPr>
        <p:txBody>
          <a:bodyPr wrap="square" anchor="t" lIns="0" rIns="0" tIns="0" bIns="0">
            <a:spAutoFit/>
          </a:bodyPr>
          <a:lstStyle/>
          <a:p>
            <a:pPr algn="l"/>
            <a:r>
              <a:rPr sz="1050" b="0" i="0">
                <a:solidFill>
                  <a:srgbClr val="1B2A33"/>
                </a:solidFill>
                <a:latin typeface="Calibri"/>
                <a:ea typeface="Apple SD Gothic Neo"/>
                <a:cs typeface="Calibri"/>
              </a:rPr>
              <a:t>Use a binary classification system where the presence of any explicit stress indicators, including events that 'blindsided' the author or indicate lack of preparedness, is sufficient to classify the text as 'stress'. This approach prioritizes the …</a:t>
            </a:r>
          </a:p>
        </p:txBody>
      </p:sp>
      <p:sp>
        <p:nvSpPr>
          <p:cNvPr id="8" name="Rounded Rectangle 7"/>
          <p:cNvSpPr/>
          <p:nvPr/>
        </p:nvSpPr>
        <p:spPr>
          <a:xfrm>
            <a:off x="548640" y="2916935"/>
            <a:ext cx="5303520" cy="969264"/>
          </a:xfrm>
          <a:prstGeom prst="roundRect">
            <a:avLst>
              <a:gd name="adj" fmla="val 7547"/>
            </a:avLst>
          </a:prstGeom>
          <a:solidFill>
            <a:srgbClr val="FBE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008375"/>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[calc-00019]</a:t>
            </a:r>
            <a:r>
              <a:rPr sz="1050" b="1" i="0">
                <a:solidFill>
                  <a:srgbClr val="D1495B"/>
                </a:solidFill>
                <a:latin typeface="Calibri"/>
                <a:ea typeface="Apple SD Gothic Neo"/>
                <a:cs typeface="Calibri"/>
              </a:rPr>
              <a:t>   helpful 8 · harmful 11  (flagged)</a:t>
            </a:r>
          </a:p>
        </p:txBody>
      </p:sp>
      <p:sp>
        <p:nvSpPr>
          <p:cNvPr id="10" name="TextBox 9"/>
          <p:cNvSpPr txBox="1"/>
          <p:nvPr/>
        </p:nvSpPr>
        <p:spPr>
          <a:xfrm>
            <a:off x="731520" y="3300983"/>
            <a:ext cx="4937759" cy="512064"/>
          </a:xfrm>
          <a:prstGeom prst="rect">
            <a:avLst/>
          </a:prstGeom>
          <a:noFill/>
        </p:spPr>
        <p:txBody>
          <a:bodyPr wrap="square" anchor="t" lIns="0" rIns="0" tIns="0" bIns="0">
            <a:spAutoFit/>
          </a:bodyPr>
          <a:lstStyle/>
          <a:p>
            <a:pPr algn="l"/>
            <a:r>
              <a:rPr sz="1050" b="0" i="0">
                <a:solidFill>
                  <a:srgbClr val="1B2A33"/>
                </a:solidFill>
                <a:latin typeface="Calibri"/>
                <a:ea typeface="Apple SD Gothic Neo"/>
                <a:cs typeface="Calibri"/>
              </a:rPr>
              <a:t>Use a binary classification system where the presence of any explicit stress indicators such as frustration, fatigue, anger, or sensory overload is sufficient to classify the text as 'stress'. The absence of these indicators, even if other emotional …</a:t>
            </a:r>
          </a:p>
        </p:txBody>
      </p:sp>
      <p:sp>
        <p:nvSpPr>
          <p:cNvPr id="11" name="Rounded Rectangle 10"/>
          <p:cNvSpPr/>
          <p:nvPr/>
        </p:nvSpPr>
        <p:spPr>
          <a:xfrm>
            <a:off x="548640" y="3959352"/>
            <a:ext cx="5303520" cy="969264"/>
          </a:xfrm>
          <a:prstGeom prst="roundRect">
            <a:avLst>
              <a:gd name="adj" fmla="val 754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050791"/>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[calc-00032]</a:t>
            </a:r>
            <a:r>
              <a:rPr sz="1050" b="0" i="0">
                <a:solidFill>
                  <a:srgbClr val="5C6B73"/>
                </a:solidFill>
                <a:latin typeface="Calibri"/>
                <a:ea typeface="Apple SD Gothic Neo"/>
                <a:cs typeface="Calibri"/>
              </a:rPr>
              <a:t>   helpful 6 · harmful 0</a:t>
            </a:r>
          </a:p>
        </p:txBody>
      </p:sp>
      <p:sp>
        <p:nvSpPr>
          <p:cNvPr id="13" name="TextBox 12"/>
          <p:cNvSpPr txBox="1"/>
          <p:nvPr/>
        </p:nvSpPr>
        <p:spPr>
          <a:xfrm>
            <a:off x="731520" y="4343400"/>
            <a:ext cx="4937759" cy="512064"/>
          </a:xfrm>
          <a:prstGeom prst="rect">
            <a:avLst/>
          </a:prstGeom>
          <a:noFill/>
        </p:spPr>
        <p:txBody>
          <a:bodyPr wrap="square" anchor="t" lIns="0" rIns="0" tIns="0" bIns="0">
            <a:spAutoFit/>
          </a:bodyPr>
          <a:lstStyle/>
          <a:p>
            <a:pPr algn="l"/>
            <a:r>
              <a:rPr sz="1050" b="0" i="0">
                <a:solidFill>
                  <a:srgbClr val="1B2A33"/>
                </a:solidFill>
                <a:latin typeface="Calibri"/>
                <a:ea typeface="Apple SD Gothic Neo"/>
                <a:cs typeface="Calibri"/>
              </a:rPr>
              <a:t>Use a simplified binary classification system where the absence of explicit stress indicators (e.g., frustration, anger, sensory overload) is sufficient to classify the text as 'no stress'. This approach avoids overcomplication and ensures alignment …</a:t>
            </a:r>
          </a:p>
        </p:txBody>
      </p:sp>
      <p:sp>
        <p:nvSpPr>
          <p:cNvPr id="14" name="TextBox 13"/>
          <p:cNvSpPr txBox="1"/>
          <p:nvPr/>
        </p:nvSpPr>
        <p:spPr>
          <a:xfrm>
            <a:off x="6355080" y="1463040"/>
            <a:ext cx="5303520" cy="365760"/>
          </a:xfrm>
          <a:prstGeom prst="rect">
            <a:avLst/>
          </a:prstGeom>
          <a:noFill/>
        </p:spPr>
        <p:txBody>
          <a:bodyPr wrap="square" anchor="t" lIns="0" rIns="0" tIns="0" bIns="0">
            <a:spAutoFit/>
          </a:bodyPr>
          <a:lstStyle/>
          <a:p>
            <a:pPr algn="l"/>
            <a:r>
              <a:rPr sz="1500" b="1" i="0">
                <a:solidFill>
                  <a:srgbClr val="1B2A33"/>
                </a:solidFill>
                <a:latin typeface="Calibri"/>
                <a:ea typeface="Apple SD Gothic Neo"/>
                <a:cs typeface="Calibri"/>
              </a:rPr>
              <a:t>GT ✗ · no labels</a:t>
            </a:r>
            <a:r>
              <a:rPr sz="1200" b="0" i="0">
                <a:solidFill>
                  <a:srgbClr val="5C6B73"/>
                </a:solidFill>
                <a:latin typeface="Calibri"/>
                <a:ea typeface="Apple SD Gothic Neo"/>
                <a:cs typeface="Calibri"/>
              </a:rPr>
              <a:t>   specificity 60% · recall 93%</a:t>
            </a:r>
          </a:p>
        </p:txBody>
      </p:sp>
      <p:sp>
        <p:nvSpPr>
          <p:cNvPr id="15" name="Rounded Rectangle 14"/>
          <p:cNvSpPr/>
          <p:nvPr/>
        </p:nvSpPr>
        <p:spPr>
          <a:xfrm>
            <a:off x="6355080" y="1874519"/>
            <a:ext cx="5303520" cy="969264"/>
          </a:xfrm>
          <a:prstGeom prst="roundRect">
            <a:avLst>
              <a:gd name="adj" fmla="val 754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965960"/>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[calc-00019]</a:t>
            </a:r>
            <a:r>
              <a:rPr sz="1050" b="0" i="0">
                <a:solidFill>
                  <a:srgbClr val="5C6B73"/>
                </a:solidFill>
                <a:latin typeface="Calibri"/>
                <a:ea typeface="Apple SD Gothic Neo"/>
                <a:cs typeface="Calibri"/>
              </a:rPr>
              <a:t>   helpful 25 · harmful 0</a:t>
            </a:r>
          </a:p>
        </p:txBody>
      </p:sp>
      <p:sp>
        <p:nvSpPr>
          <p:cNvPr id="17" name="TextBox 16"/>
          <p:cNvSpPr txBox="1"/>
          <p:nvPr/>
        </p:nvSpPr>
        <p:spPr>
          <a:xfrm>
            <a:off x="6537960" y="2258568"/>
            <a:ext cx="4937759" cy="512064"/>
          </a:xfrm>
          <a:prstGeom prst="rect">
            <a:avLst/>
          </a:prstGeom>
          <a:noFill/>
        </p:spPr>
        <p:txBody>
          <a:bodyPr wrap="square" anchor="t" lIns="0" rIns="0" tIns="0" bIns="0">
            <a:spAutoFit/>
          </a:bodyPr>
          <a:lstStyle/>
          <a:p>
            <a:pPr algn="l"/>
            <a:r>
              <a:rPr sz="1050" b="0" i="0">
                <a:solidFill>
                  <a:srgbClr val="1B2A33"/>
                </a:solidFill>
                <a:latin typeface="Calibri"/>
                <a:ea typeface="Apple SD Gothic Neo"/>
                <a:cs typeface="Calibri"/>
              </a:rPr>
              <a:t>Ensure that the final label always matches the reasoning and that the evidence supports the label. If multiple stress indicators are present, classify as 'stress' (label 1) regardless of the author's denial or minimization.</a:t>
            </a:r>
          </a:p>
        </p:txBody>
      </p:sp>
      <p:sp>
        <p:nvSpPr>
          <p:cNvPr id="18" name="Rounded Rectangle 17"/>
          <p:cNvSpPr/>
          <p:nvPr/>
        </p:nvSpPr>
        <p:spPr>
          <a:xfrm>
            <a:off x="6355080" y="2916935"/>
            <a:ext cx="5303520" cy="969264"/>
          </a:xfrm>
          <a:prstGeom prst="roundRect">
            <a:avLst>
              <a:gd name="adj" fmla="val 754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3008375"/>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[ctx-00001]</a:t>
            </a:r>
            <a:r>
              <a:rPr sz="1050" b="0" i="0">
                <a:solidFill>
                  <a:srgbClr val="5C6B73"/>
                </a:solidFill>
                <a:latin typeface="Calibri"/>
                <a:ea typeface="Apple SD Gothic Neo"/>
                <a:cs typeface="Calibri"/>
              </a:rPr>
              <a:t>   helpful 15 · harmful 0</a:t>
            </a:r>
          </a:p>
        </p:txBody>
      </p:sp>
      <p:sp>
        <p:nvSpPr>
          <p:cNvPr id="20" name="TextBox 19"/>
          <p:cNvSpPr txBox="1"/>
          <p:nvPr/>
        </p:nvSpPr>
        <p:spPr>
          <a:xfrm>
            <a:off x="6537960" y="3300983"/>
            <a:ext cx="4937759" cy="512064"/>
          </a:xfrm>
          <a:prstGeom prst="rect">
            <a:avLst/>
          </a:prstGeom>
          <a:noFill/>
        </p:spPr>
        <p:txBody>
          <a:bodyPr wrap="square" anchor="t" lIns="0" rIns="0" tIns="0" bIns="0">
            <a:spAutoFit/>
          </a:bodyPr>
          <a:lstStyle/>
          <a:p>
            <a:pPr algn="l"/>
            <a:r>
              <a:rPr sz="1050" b="0" i="0">
                <a:solidFill>
                  <a:srgbClr val="1B2A33"/>
                </a:solidFill>
                <a:latin typeface="Calibri"/>
                <a:ea typeface="Apple SD Gothic Neo"/>
                <a:cs typeface="Calibri"/>
              </a:rPr>
              <a:t>Always reference playbook bullets when available to ensure that the reasoning is aligned with the expected framework and to improve the accuracy of the answer.</a:t>
            </a:r>
          </a:p>
        </p:txBody>
      </p:sp>
      <p:sp>
        <p:nvSpPr>
          <p:cNvPr id="21" name="Rounded Rectangle 20"/>
          <p:cNvSpPr/>
          <p:nvPr/>
        </p:nvSpPr>
        <p:spPr>
          <a:xfrm>
            <a:off x="6355080" y="3959352"/>
            <a:ext cx="5303520" cy="969264"/>
          </a:xfrm>
          <a:prstGeom prst="roundRect">
            <a:avLst>
              <a:gd name="adj" fmla="val 7547"/>
            </a:avLst>
          </a:prstGeom>
          <a:solidFill>
            <a:srgbClr val="F1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4050791"/>
            <a:ext cx="4937759" cy="256032"/>
          </a:xfrm>
          <a:prstGeom prst="rect">
            <a:avLst/>
          </a:prstGeom>
          <a:noFill/>
        </p:spPr>
        <p:txBody>
          <a:bodyPr wrap="square" anchor="t" lIns="0" rIns="0" tIns="0" bIns="0">
            <a:spAutoFit/>
          </a:bodyPr>
          <a:lstStyle/>
          <a:p>
            <a:pPr algn="l"/>
            <a:r>
              <a:rPr sz="1050" b="1" i="0">
                <a:solidFill>
                  <a:srgbClr val="1B2A33"/>
                </a:solidFill>
                <a:latin typeface="Courier New"/>
                <a:ea typeface="Apple SD Gothic Neo"/>
                <a:cs typeface="Courier New"/>
              </a:rPr>
              <a:t>[calc-00014]</a:t>
            </a:r>
            <a:r>
              <a:rPr sz="1050" b="0" i="0">
                <a:solidFill>
                  <a:srgbClr val="5C6B73"/>
                </a:solidFill>
                <a:latin typeface="Calibri"/>
                <a:ea typeface="Apple SD Gothic Neo"/>
                <a:cs typeface="Calibri"/>
              </a:rPr>
              <a:t>   helpful 9 · harmful 0</a:t>
            </a:r>
          </a:p>
        </p:txBody>
      </p:sp>
      <p:sp>
        <p:nvSpPr>
          <p:cNvPr id="23" name="TextBox 22"/>
          <p:cNvSpPr txBox="1"/>
          <p:nvPr/>
        </p:nvSpPr>
        <p:spPr>
          <a:xfrm>
            <a:off x="6537960" y="4343400"/>
            <a:ext cx="4937759" cy="512064"/>
          </a:xfrm>
          <a:prstGeom prst="rect">
            <a:avLst/>
          </a:prstGeom>
          <a:noFill/>
        </p:spPr>
        <p:txBody>
          <a:bodyPr wrap="square" anchor="t" lIns="0" rIns="0" tIns="0" bIns="0">
            <a:spAutoFit/>
          </a:bodyPr>
          <a:lstStyle/>
          <a:p>
            <a:pPr algn="l"/>
            <a:r>
              <a:rPr sz="1050" b="0" i="0">
                <a:solidFill>
                  <a:srgbClr val="1B2A33"/>
                </a:solidFill>
                <a:latin typeface="Calibri"/>
                <a:ea typeface="Apple SD Gothic Neo"/>
                <a:cs typeface="Calibri"/>
              </a:rPr>
              <a:t>Prioritize the presence of multiple stress indicators over any denial or minimization by the author. If multiple stress indicators are present, classify as 'stress' (label 1) regardless of the author's denial.</a:t>
            </a:r>
          </a:p>
        </p:txBody>
      </p:sp>
      <p:sp>
        <p:nvSpPr>
          <p:cNvPr id="24" name="Rounded Rectangle 23"/>
          <p:cNvSpPr/>
          <p:nvPr/>
        </p:nvSpPr>
        <p:spPr>
          <a:xfrm>
            <a:off x="548640" y="5074920"/>
            <a:ext cx="11109960" cy="1188720"/>
          </a:xfrm>
          <a:prstGeom prst="roundRect">
            <a:avLst>
              <a:gd name="adj" fmla="val 6153"/>
            </a:avLst>
          </a:prstGeom>
          <a:solidFill>
            <a:srgbClr val="E3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202936"/>
            <a:ext cx="10707624" cy="274320"/>
          </a:xfrm>
          <a:prstGeom prst="rect">
            <a:avLst/>
          </a:prstGeom>
          <a:noFill/>
        </p:spPr>
        <p:txBody>
          <a:bodyPr wrap="square" anchor="t" lIns="0" rIns="0" tIns="0" bIns="0">
            <a:spAutoFit/>
          </a:bodyPr>
          <a:lstStyle/>
          <a:p>
            <a:pPr algn="l"/>
            <a:r>
              <a:rPr sz="1200" b="1" i="0">
                <a:solidFill>
                  <a:srgbClr val="2A7F86"/>
                </a:solidFill>
                <a:latin typeface="Calibri"/>
                <a:ea typeface="Apple SD Gothic Neo"/>
                <a:cs typeface="Calibri"/>
              </a:rPr>
              <a:t>What this means</a:t>
            </a:r>
          </a:p>
        </p:txBody>
      </p:sp>
      <p:sp>
        <p:nvSpPr>
          <p:cNvPr id="26" name="TextBox 25"/>
          <p:cNvSpPr txBox="1"/>
          <p:nvPr/>
        </p:nvSpPr>
        <p:spPr>
          <a:xfrm>
            <a:off x="749808" y="5532120"/>
            <a:ext cx="10707624" cy="640080"/>
          </a:xfrm>
          <a:prstGeom prst="rect">
            <a:avLst/>
          </a:prstGeom>
          <a:noFill/>
        </p:spPr>
        <p:txBody>
          <a:bodyPr wrap="square" anchor="t" lIns="0" rIns="0" tIns="0" bIns="0">
            <a:spAutoFit/>
          </a:bodyPr>
          <a:lstStyle/>
          <a:p>
            <a:pPr algn="l"/>
            <a:r>
              <a:rPr sz="1200" b="0" i="0">
                <a:solidFill>
                  <a:srgbClr val="1B2A33"/>
                </a:solidFill>
                <a:latin typeface="Calibri"/>
                <a:ea typeface="Apple SD Gothic Neo"/>
                <a:cs typeface="Calibri"/>
              </a:rPr>
              <a:t>Alongside its stress rules, the GT ✓ playbook adds “no explicit indicators means no stress” (calc-00032), and its broad stress rule (calc-00019) collected more harmful than helpful votes (11 vs 8): label feedback penalised over-calling. The GT ✗ playbook leans on “call stress even if the author denies it”. Specificity points the same way: 76% vs 60% (a correlation; causality is not yet tested).</a:t>
            </a:r>
          </a:p>
        </p:txBody>
      </p:sp>
      <p:sp>
        <p:nvSpPr>
          <p:cNvPr id="27" name="TextBox 26"/>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Pink cards = bullets with at least one harmful vote. Seed 42 for every condition, fixed before viewing. Bullet text verbatim; multi-word post quotations replaced with “…”; long bullets truncated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t" lIns="0" rIns="0" tIns="0" bIns="0">
            <a:spAutoFit/>
          </a:bodyPr>
          <a:lstStyle/>
          <a:p>
            <a:pPr algn="l"/>
            <a:r>
              <a:rPr sz="2600" b="1" i="0">
                <a:solidFill>
                  <a:srgbClr val="1B2A33"/>
                </a:solidFill>
                <a:latin typeface="Cambria"/>
                <a:ea typeface="Apple SD Gothic Neo"/>
                <a:cs typeface="Cambria"/>
              </a:rPr>
              <a:t>Takeaways and questions for discussion</a:t>
            </a:r>
          </a:p>
        </p:txBody>
      </p:sp>
      <p:sp>
        <p:nvSpPr>
          <p:cNvPr id="3" name="TextBox 2"/>
          <p:cNvSpPr txBox="1"/>
          <p:nvPr/>
        </p:nvSpPr>
        <p:spPr>
          <a:xfrm>
            <a:off x="548640" y="1280160"/>
            <a:ext cx="5486400" cy="411480"/>
          </a:xfrm>
          <a:prstGeom prst="rect">
            <a:avLst/>
          </a:prstGeom>
          <a:noFill/>
        </p:spPr>
        <p:txBody>
          <a:bodyPr wrap="square" anchor="t" lIns="0" rIns="0" tIns="0" bIns="0">
            <a:spAutoFit/>
          </a:bodyPr>
          <a:lstStyle/>
          <a:p>
            <a:pPr algn="l"/>
            <a:r>
              <a:rPr sz="1800" b="1" i="0">
                <a:solidFill>
                  <a:srgbClr val="1B2A33"/>
                </a:solidFill>
                <a:latin typeface="Cambria"/>
                <a:ea typeface="Apple SD Gothic Neo"/>
                <a:cs typeface="Cambria"/>
              </a:rPr>
              <a:t>Takeaways</a:t>
            </a:r>
          </a:p>
        </p:txBody>
      </p:sp>
      <p:sp>
        <p:nvSpPr>
          <p:cNvPr id="4" name="Oval 3"/>
          <p:cNvSpPr/>
          <p:nvPr/>
        </p:nvSpPr>
        <p:spPr>
          <a:xfrm>
            <a:off x="548640" y="1847088"/>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47088"/>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1</a:t>
            </a:r>
          </a:p>
        </p:txBody>
      </p:sp>
      <p:sp>
        <p:nvSpPr>
          <p:cNvPr id="6" name="TextBox 5"/>
          <p:cNvSpPr txBox="1"/>
          <p:nvPr/>
        </p:nvSpPr>
        <p:spPr>
          <a:xfrm>
            <a:off x="1005840" y="1828800"/>
            <a:ext cx="502920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ACE’s gain comes mostly from learning to label non-stressed posts as non-stressed (specificity 46% → 59–86%).</a:t>
            </a:r>
          </a:p>
        </p:txBody>
      </p:sp>
      <p:sp>
        <p:nvSpPr>
          <p:cNvPr id="7" name="Oval 6"/>
          <p:cNvSpPr/>
          <p:nvPr/>
        </p:nvSpPr>
        <p:spPr>
          <a:xfrm>
            <a:off x="548640" y="2715768"/>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15768"/>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2</a:t>
            </a:r>
          </a:p>
        </p:txBody>
      </p:sp>
      <p:sp>
        <p:nvSpPr>
          <p:cNvPr id="9" name="TextBox 8"/>
          <p:cNvSpPr txBox="1"/>
          <p:nvPr/>
        </p:nvSpPr>
        <p:spPr>
          <a:xfrm>
            <a:off x="1005840" y="2697480"/>
            <a:ext cx="502920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Rule-like playbooks (GT ✓) are powerful but can overshoot (seed 43: zero false positives, 22 missed stressed posts).</a:t>
            </a:r>
          </a:p>
        </p:txBody>
      </p:sp>
      <p:sp>
        <p:nvSpPr>
          <p:cNvPr id="10" name="Oval 9"/>
          <p:cNvSpPr/>
          <p:nvPr/>
        </p:nvSpPr>
        <p:spPr>
          <a:xfrm>
            <a:off x="548640" y="3584448"/>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584448"/>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3</a:t>
            </a:r>
          </a:p>
        </p:txBody>
      </p:sp>
      <p:sp>
        <p:nvSpPr>
          <p:cNvPr id="12" name="TextBox 11"/>
          <p:cNvSpPr txBox="1"/>
          <p:nvPr/>
        </p:nvSpPr>
        <p:spPr>
          <a:xfrm>
            <a:off x="1005840" y="3566160"/>
            <a:ext cx="502920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Grounding is separate from accuracy, and it collapsed together with the skewed labeling in that run.</a:t>
            </a:r>
          </a:p>
        </p:txBody>
      </p:sp>
      <p:sp>
        <p:nvSpPr>
          <p:cNvPr id="13" name="Oval 12"/>
          <p:cNvSpPr/>
          <p:nvPr/>
        </p:nvSpPr>
        <p:spPr>
          <a:xfrm>
            <a:off x="548640" y="4453127"/>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453127"/>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4</a:t>
            </a:r>
          </a:p>
        </p:txBody>
      </p:sp>
      <p:sp>
        <p:nvSpPr>
          <p:cNvPr id="15" name="TextBox 14"/>
          <p:cNvSpPr txBox="1"/>
          <p:nvPr/>
        </p:nvSpPr>
        <p:spPr>
          <a:xfrm>
            <a:off x="1005840" y="4434840"/>
            <a:ext cx="502920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Playbook structure is not what the paper envisions: one section absorbs everything and one formula repeats nine times.</a:t>
            </a:r>
          </a:p>
        </p:txBody>
      </p:sp>
      <p:sp>
        <p:nvSpPr>
          <p:cNvPr id="16" name="Oval 15"/>
          <p:cNvSpPr/>
          <p:nvPr/>
        </p:nvSpPr>
        <p:spPr>
          <a:xfrm>
            <a:off x="548640" y="5321807"/>
            <a:ext cx="310896" cy="310896"/>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5321807"/>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5</a:t>
            </a:r>
          </a:p>
        </p:txBody>
      </p:sp>
      <p:sp>
        <p:nvSpPr>
          <p:cNvPr id="18" name="TextBox 17"/>
          <p:cNvSpPr txBox="1"/>
          <p:nvPr/>
        </p:nvSpPr>
        <p:spPr>
          <a:xfrm>
            <a:off x="1005840" y="5303520"/>
            <a:ext cx="502920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A strong prompt optimizer comes close: GEPA gains +9.7 with grounding 92%, so ACE’s edge over GEPA is at most 1.7 points here.</a:t>
            </a:r>
          </a:p>
        </p:txBody>
      </p:sp>
      <p:sp>
        <p:nvSpPr>
          <p:cNvPr id="19" name="TextBox 18"/>
          <p:cNvSpPr txBox="1"/>
          <p:nvPr/>
        </p:nvSpPr>
        <p:spPr>
          <a:xfrm>
            <a:off x="6355080" y="1280160"/>
            <a:ext cx="5303520" cy="411480"/>
          </a:xfrm>
          <a:prstGeom prst="rect">
            <a:avLst/>
          </a:prstGeom>
          <a:noFill/>
        </p:spPr>
        <p:txBody>
          <a:bodyPr wrap="square" anchor="t" lIns="0" rIns="0" tIns="0" bIns="0">
            <a:spAutoFit/>
          </a:bodyPr>
          <a:lstStyle/>
          <a:p>
            <a:pPr algn="l"/>
            <a:r>
              <a:rPr sz="1800" b="1" i="0">
                <a:solidFill>
                  <a:srgbClr val="1B2A33"/>
                </a:solidFill>
                <a:latin typeface="Cambria"/>
                <a:ea typeface="Apple SD Gothic Neo"/>
                <a:cs typeface="Cambria"/>
              </a:rPr>
              <a:t>Questions</a:t>
            </a:r>
          </a:p>
        </p:txBody>
      </p:sp>
      <p:sp>
        <p:nvSpPr>
          <p:cNvPr id="20" name="Oval 19"/>
          <p:cNvSpPr/>
          <p:nvPr/>
        </p:nvSpPr>
        <p:spPr>
          <a:xfrm>
            <a:off x="6355080" y="1847088"/>
            <a:ext cx="310896" cy="310896"/>
          </a:xfrm>
          <a:prstGeom prst="ellipse">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847088"/>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1</a:t>
            </a:r>
          </a:p>
        </p:txBody>
      </p:sp>
      <p:sp>
        <p:nvSpPr>
          <p:cNvPr id="22" name="TextBox 21"/>
          <p:cNvSpPr txBox="1"/>
          <p:nvPr/>
        </p:nvSpPr>
        <p:spPr>
          <a:xfrm>
            <a:off x="6812280" y="1828800"/>
            <a:ext cx="484632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Which bullets in the seed-43 playbook pushed towards “no stress”?</a:t>
            </a:r>
          </a:p>
        </p:txBody>
      </p:sp>
      <p:sp>
        <p:nvSpPr>
          <p:cNvPr id="23" name="Oval 22"/>
          <p:cNvSpPr/>
          <p:nvPr/>
        </p:nvSpPr>
        <p:spPr>
          <a:xfrm>
            <a:off x="6355080" y="2715768"/>
            <a:ext cx="310896" cy="310896"/>
          </a:xfrm>
          <a:prstGeom prst="ellipse">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2715768"/>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2</a:t>
            </a:r>
          </a:p>
        </p:txBody>
      </p:sp>
      <p:sp>
        <p:nvSpPr>
          <p:cNvPr id="25" name="TextBox 24"/>
          <p:cNvSpPr txBox="1"/>
          <p:nvPr/>
        </p:nvSpPr>
        <p:spPr>
          <a:xfrm>
            <a:off x="6812280" y="2697480"/>
            <a:ext cx="484632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Does enabling the refine (deduplication) step reduce the skew and repetition?</a:t>
            </a:r>
          </a:p>
        </p:txBody>
      </p:sp>
      <p:sp>
        <p:nvSpPr>
          <p:cNvPr id="26" name="Oval 25"/>
          <p:cNvSpPr/>
          <p:nvPr/>
        </p:nvSpPr>
        <p:spPr>
          <a:xfrm>
            <a:off x="6355080" y="3584448"/>
            <a:ext cx="310896" cy="310896"/>
          </a:xfrm>
          <a:prstGeom prst="ellipse">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584448"/>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3</a:t>
            </a:r>
          </a:p>
        </p:txBody>
      </p:sp>
      <p:sp>
        <p:nvSpPr>
          <p:cNvPr id="28" name="TextBox 27"/>
          <p:cNvSpPr txBox="1"/>
          <p:nvPr/>
        </p:nvSpPr>
        <p:spPr>
          <a:xfrm>
            <a:off x="6812280" y="3566160"/>
            <a:ext cx="484632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Does the grounding ranking hold with a judge from a different model family?</a:t>
            </a:r>
          </a:p>
        </p:txBody>
      </p:sp>
      <p:sp>
        <p:nvSpPr>
          <p:cNvPr id="29" name="Oval 28"/>
          <p:cNvSpPr/>
          <p:nvPr/>
        </p:nvSpPr>
        <p:spPr>
          <a:xfrm>
            <a:off x="6355080" y="4453127"/>
            <a:ext cx="310896" cy="310896"/>
          </a:xfrm>
          <a:prstGeom prst="ellipse">
            <a:avLst/>
          </a:prstGeom>
          <a:solidFill>
            <a:srgbClr val="7D8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4453127"/>
            <a:ext cx="310896" cy="310896"/>
          </a:xfrm>
          <a:prstGeom prst="rect">
            <a:avLst/>
          </a:prstGeom>
          <a:noFill/>
        </p:spPr>
        <p:txBody>
          <a:bodyPr wrap="square" anchor="ctr" lIns="0" rIns="0" tIns="0" bIns="0">
            <a:spAutoFit/>
          </a:bodyPr>
          <a:lstStyle/>
          <a:p>
            <a:pPr algn="ctr"/>
            <a:r>
              <a:rPr sz="1100" b="1" i="0">
                <a:solidFill>
                  <a:srgbClr val="FFFFFF"/>
                </a:solidFill>
                <a:latin typeface="Calibri"/>
                <a:ea typeface="Apple SD Gothic Neo"/>
                <a:cs typeface="Calibri"/>
              </a:rPr>
              <a:t>4</a:t>
            </a:r>
          </a:p>
        </p:txBody>
      </p:sp>
      <p:sp>
        <p:nvSpPr>
          <p:cNvPr id="31" name="TextBox 30"/>
          <p:cNvSpPr txBox="1"/>
          <p:nvPr/>
        </p:nvSpPr>
        <p:spPr>
          <a:xfrm>
            <a:off x="6812280" y="4434840"/>
            <a:ext cx="4846320" cy="777240"/>
          </a:xfrm>
          <a:prstGeom prst="rect">
            <a:avLst/>
          </a:prstGeom>
          <a:noFill/>
        </p:spPr>
        <p:txBody>
          <a:bodyPr wrap="square" anchor="t" lIns="0" rIns="0" tIns="0" bIns="0">
            <a:spAutoFit/>
          </a:bodyPr>
          <a:lstStyle/>
          <a:p>
            <a:pPr algn="l"/>
            <a:r>
              <a:rPr sz="1300" b="0" i="0">
                <a:solidFill>
                  <a:srgbClr val="1B2A33"/>
                </a:solidFill>
                <a:latin typeface="Calibri"/>
                <a:ea typeface="Apple SD Gothic Neo"/>
                <a:cs typeface="Calibri"/>
              </a:rPr>
              <a:t>AppWorld shows the same one-section pileup. Is that ACE’s general failure mode on small models?</a:t>
            </a:r>
          </a:p>
        </p:txBody>
      </p:sp>
      <p:sp>
        <p:nvSpPr>
          <p:cNvPr id="32" name="TextBox 31"/>
          <p:cNvSpPr txBox="1"/>
          <p:nvPr/>
        </p:nvSpPr>
        <p:spPr>
          <a:xfrm>
            <a:off x="548640" y="6355080"/>
            <a:ext cx="11094415" cy="365760"/>
          </a:xfrm>
          <a:prstGeom prst="rect">
            <a:avLst/>
          </a:prstGeom>
          <a:noFill/>
        </p:spPr>
        <p:txBody>
          <a:bodyPr wrap="square" anchor="t" lIns="0" rIns="0" tIns="0" bIns="0">
            <a:spAutoFit/>
          </a:bodyPr>
          <a:lstStyle/>
          <a:p>
            <a:pPr algn="l"/>
            <a:r>
              <a:rPr sz="1000" b="0" i="0">
                <a:solidFill>
                  <a:srgbClr val="5C6B73"/>
                </a:solidFill>
                <a:latin typeface="Calibri"/>
                <a:ea typeface="Apple SD Gothic Neo"/>
                <a:cs typeface="Calibri"/>
              </a:rPr>
              <a:t>Internal working results, not manuscript evidence. All values from the v5 server panel (seeds 42, 43, 44; 100 test posts).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